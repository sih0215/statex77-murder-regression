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37"/>
  </p:notesMasterIdLst>
  <p:handoutMasterIdLst>
    <p:handoutMasterId r:id="rId38"/>
  </p:handoutMasterIdLst>
  <p:sldIdLst>
    <p:sldId id="256" r:id="rId5"/>
    <p:sldId id="316" r:id="rId6"/>
    <p:sldId id="312" r:id="rId7"/>
    <p:sldId id="284" r:id="rId8"/>
    <p:sldId id="285" r:id="rId9"/>
    <p:sldId id="286" r:id="rId10"/>
    <p:sldId id="288" r:id="rId11"/>
    <p:sldId id="313" r:id="rId12"/>
    <p:sldId id="290" r:id="rId13"/>
    <p:sldId id="291" r:id="rId14"/>
    <p:sldId id="292" r:id="rId15"/>
    <p:sldId id="296" r:id="rId16"/>
    <p:sldId id="297" r:id="rId17"/>
    <p:sldId id="299" r:id="rId18"/>
    <p:sldId id="300" r:id="rId19"/>
    <p:sldId id="295" r:id="rId20"/>
    <p:sldId id="301" r:id="rId21"/>
    <p:sldId id="302" r:id="rId22"/>
    <p:sldId id="314" r:id="rId23"/>
    <p:sldId id="293" r:id="rId24"/>
    <p:sldId id="294" r:id="rId25"/>
    <p:sldId id="271" r:id="rId26"/>
    <p:sldId id="283" r:id="rId27"/>
    <p:sldId id="319" r:id="rId28"/>
    <p:sldId id="317" r:id="rId29"/>
    <p:sldId id="303" r:id="rId30"/>
    <p:sldId id="310" r:id="rId31"/>
    <p:sldId id="307" r:id="rId32"/>
    <p:sldId id="304" r:id="rId33"/>
    <p:sldId id="308" r:id="rId34"/>
    <p:sldId id="305" r:id="rId35"/>
    <p:sldId id="306" r:id="rId36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75E278A-FF0E-49A4-B170-79828D63BBAD}">
          <p14:sldIdLst>
            <p14:sldId id="256"/>
            <p14:sldId id="316"/>
            <p14:sldId id="312"/>
            <p14:sldId id="284"/>
            <p14:sldId id="285"/>
            <p14:sldId id="286"/>
            <p14:sldId id="288"/>
            <p14:sldId id="313"/>
            <p14:sldId id="290"/>
            <p14:sldId id="291"/>
            <p14:sldId id="292"/>
            <p14:sldId id="296"/>
            <p14:sldId id="297"/>
            <p14:sldId id="299"/>
            <p14:sldId id="300"/>
            <p14:sldId id="295"/>
            <p14:sldId id="301"/>
            <p14:sldId id="302"/>
            <p14:sldId id="314"/>
            <p14:sldId id="293"/>
            <p14:sldId id="294"/>
            <p14:sldId id="271"/>
            <p14:sldId id="283"/>
            <p14:sldId id="319"/>
            <p14:sldId id="317"/>
            <p14:sldId id="303"/>
            <p14:sldId id="310"/>
            <p14:sldId id="307"/>
            <p14:sldId id="304"/>
            <p14:sldId id="308"/>
            <p14:sldId id="305"/>
            <p14:sldId id="3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DD462F"/>
    <a:srgbClr val="FF7979"/>
    <a:srgbClr val="FFEFEF"/>
    <a:srgbClr val="D24726"/>
    <a:srgbClr val="F5F5F5"/>
    <a:srgbClr val="FF9B45"/>
    <a:srgbClr val="F8CFB6"/>
    <a:srgbClr val="404040"/>
    <a:srgbClr val="F8CA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3412" autoAdjust="0"/>
  </p:normalViewPr>
  <p:slideViewPr>
    <p:cSldViewPr snapToGrid="0">
      <p:cViewPr varScale="1">
        <p:scale>
          <a:sx n="103" d="100"/>
          <a:sy n="103" d="100"/>
        </p:scale>
        <p:origin x="840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commentAuthors" Target="commentAuthor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6615A47-BAB8-40E2-A1ED-9E90A072AC00}" type="datetime1">
              <a:rPr lang="ko-KR" altLang="en-US" smtClean="0">
                <a:latin typeface="+mj-ea"/>
                <a:ea typeface="+mj-ea"/>
              </a:rPr>
              <a:t>2021-10-16</a:t>
            </a:fld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+mj-ea"/>
                <a:ea typeface="+mj-ea"/>
              </a:rPr>
              <a:t>‹#›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DC06A2C1-A9EB-4898-A387-106DFED4BED0}" type="datetime1">
              <a:rPr lang="ko-KR" altLang="en-US" smtClean="0"/>
              <a:pPr/>
              <a:t>2021-10-16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DF61EA0F-A667-4B49-8422-0062BC55E249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8513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8705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(</a:t>
            </a:r>
            <a:r>
              <a:rPr lang="ko-KR" altLang="en-US"/>
              <a:t>목적</a:t>
            </a:r>
            <a:r>
              <a:rPr lang="en-US" altLang="ko-KR"/>
              <a:t>) </a:t>
            </a:r>
            <a:r>
              <a:rPr lang="ko-KR" altLang="en-US"/>
              <a:t>목표변수인 </a:t>
            </a:r>
            <a:r>
              <a:rPr lang="en-US" altLang="ko-KR"/>
              <a:t>Y</a:t>
            </a:r>
            <a:r>
              <a:rPr lang="ko-KR" altLang="en-US"/>
              <a:t>변수를 예측하기 위해 가장 중요한 </a:t>
            </a:r>
            <a:r>
              <a:rPr lang="en-US" altLang="ko-KR"/>
              <a:t>X</a:t>
            </a:r>
            <a:r>
              <a:rPr lang="ko-KR" altLang="en-US"/>
              <a:t>변수가 무엇인지 직관적으로 파악을 하기 위해서</a:t>
            </a:r>
            <a:r>
              <a:rPr lang="en-US" altLang="ko-KR"/>
              <a:t>.</a:t>
            </a:r>
          </a:p>
          <a:p>
            <a:r>
              <a:rPr lang="ko-KR" altLang="en-US"/>
              <a:t>즉</a:t>
            </a:r>
            <a:r>
              <a:rPr lang="en-US" altLang="ko-KR"/>
              <a:t>, Y</a:t>
            </a:r>
            <a:r>
              <a:rPr lang="ko-KR" altLang="en-US"/>
              <a:t>를 가장 잘 설명하는 설명력이 높을 수 있는 </a:t>
            </a:r>
            <a:r>
              <a:rPr lang="en-US" altLang="ko-KR"/>
              <a:t>Y</a:t>
            </a:r>
            <a:r>
              <a:rPr lang="ko-KR" altLang="en-US"/>
              <a:t>와 상관관계가 높은 </a:t>
            </a:r>
            <a:r>
              <a:rPr lang="en-US" altLang="ko-KR"/>
              <a:t>X</a:t>
            </a:r>
            <a:r>
              <a:rPr lang="ko-KR" altLang="en-US"/>
              <a:t>변수가 무엇인지 파악하기 위함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5346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78099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noProof="0">
                <a:latin typeface="+mj-ea"/>
                <a:ea typeface="+mj-ea"/>
              </a:rPr>
              <a:t>수정결정계수 </a:t>
            </a:r>
            <a:r>
              <a:rPr lang="en-US" altLang="ko-KR" noProof="0">
                <a:latin typeface="+mj-ea"/>
                <a:ea typeface="+mj-ea"/>
              </a:rPr>
              <a:t>(adjusted coefficient of determination) </a:t>
            </a:r>
            <a:r>
              <a:rPr lang="ko-KR" altLang="en-US" noProof="0">
                <a:latin typeface="+mj-ea"/>
                <a:ea typeface="+mj-ea"/>
              </a:rPr>
              <a:t>란 결정계수는</a:t>
            </a:r>
            <a:r>
              <a:rPr lang="en-US" altLang="ko-KR" noProof="0">
                <a:latin typeface="+mj-ea"/>
                <a:ea typeface="+mj-ea"/>
              </a:rPr>
              <a:t>p = coefficients(</a:t>
            </a:r>
            <a:r>
              <a:rPr lang="ko-KR" altLang="en-US" noProof="0">
                <a:latin typeface="+mj-ea"/>
                <a:ea typeface="+mj-ea"/>
              </a:rPr>
              <a:t>회귀계수</a:t>
            </a:r>
            <a:r>
              <a:rPr lang="en-US" altLang="ko-KR" noProof="0">
                <a:latin typeface="+mj-ea"/>
                <a:ea typeface="+mj-ea"/>
              </a:rPr>
              <a:t>) </a:t>
            </a:r>
            <a:r>
              <a:rPr lang="ko-KR" altLang="en-US" noProof="0">
                <a:latin typeface="+mj-ea"/>
                <a:ea typeface="+mj-ea"/>
              </a:rPr>
              <a:t>개수가 많아질수록 그 값이 커지게 된다</a:t>
            </a:r>
            <a:r>
              <a:rPr lang="en-US" altLang="ko-KR" noProof="0">
                <a:latin typeface="+mj-ea"/>
                <a:ea typeface="+mj-ea"/>
              </a:rPr>
              <a:t>. </a:t>
            </a:r>
            <a:r>
              <a:rPr lang="ko-KR" altLang="en-US" noProof="0">
                <a:latin typeface="+mj-ea"/>
                <a:ea typeface="+mj-ea"/>
              </a:rPr>
              <a:t>따라서 종속변수의 변동을 별로 설명해 주지 못하는 변수가 모형에 추가된다고 하더라도 결정계수값이 커질 수 있다</a:t>
            </a:r>
            <a:r>
              <a:rPr lang="en-US" altLang="ko-KR" noProof="0">
                <a:latin typeface="+mj-ea"/>
                <a:ea typeface="+mj-ea"/>
              </a:rPr>
              <a:t>.</a:t>
            </a:r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77600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41859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90882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17123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84653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3510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70089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36205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24266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69806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5365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>
            <a:cxnSpLocks/>
          </p:cNvCxnSpPr>
          <p:nvPr userDrawn="1"/>
        </p:nvCxnSpPr>
        <p:spPr>
          <a:xfrm>
            <a:off x="429006" y="1181100"/>
            <a:ext cx="11333988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11127319" cy="640080"/>
          </a:xfrm>
        </p:spPr>
        <p:txBody>
          <a:bodyPr rtlCol="0" anchor="b" anchorCtr="0">
            <a:normAutofit/>
          </a:bodyPr>
          <a:lstStyle>
            <a:lvl1pPr>
              <a:defRPr lang="ko-KR" altLang="en-US" sz="2800" b="1" kern="1200" noProof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두 번째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세 번째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네 번째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0171BE5-8702-4582-95DF-167095C65DBD}" type="datetime1">
              <a:rPr lang="ko-KR" altLang="en-US" smtClean="0"/>
              <a:t>2021-10-16</a:t>
            </a:fld>
            <a:endParaRPr lang="ko-KR" altLang="en-US" dirty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두 번째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세 번째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네 번째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43431A0-8AC8-4DAD-82AD-B3FD6A07F7EC}" type="datetime1">
              <a:rPr lang="ko-KR" altLang="en-US" smtClean="0"/>
              <a:t>2021-10-16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algn="ctr"/>
            <a:r>
              <a:rPr lang="ko-KR" altLang="en-US" sz="4800">
                <a:solidFill>
                  <a:schemeClr val="bg1"/>
                </a:solidFill>
              </a:rPr>
              <a:t>머신러닝을 활용한 다중회귀분석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3" name="부제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3337066"/>
          </a:xfrm>
        </p:spPr>
        <p:txBody>
          <a:bodyPr rtlCol="0">
            <a:noAutofit/>
          </a:bodyPr>
          <a:lstStyle/>
          <a:p>
            <a:pPr marL="0" indent="0" algn="ctr" rtl="0">
              <a:buNone/>
            </a:pPr>
            <a:r>
              <a:rPr lang="ko-KR" altLang="en-US" sz="2400">
                <a:solidFill>
                  <a:schemeClr val="bg1"/>
                </a:solidFill>
              </a:rPr>
              <a:t>미국 </a:t>
            </a:r>
            <a:r>
              <a:rPr lang="en-US" altLang="ko-KR" sz="2400">
                <a:solidFill>
                  <a:schemeClr val="bg1"/>
                </a:solidFill>
              </a:rPr>
              <a:t>50</a:t>
            </a:r>
            <a:r>
              <a:rPr lang="ko-KR" altLang="en-US" sz="2400">
                <a:solidFill>
                  <a:schemeClr val="bg1"/>
                </a:solidFill>
              </a:rPr>
              <a:t>개주 살인율 예측</a:t>
            </a:r>
            <a:endParaRPr lang="en-US" altLang="ko-KR" sz="2400">
              <a:solidFill>
                <a:schemeClr val="bg1"/>
              </a:solidFill>
            </a:endParaRPr>
          </a:p>
          <a:p>
            <a:pPr marL="0" indent="0" algn="ctr" rtl="0">
              <a:buNone/>
            </a:pPr>
            <a:r>
              <a:rPr lang="en-US" altLang="ko-KR" sz="2400">
                <a:solidFill>
                  <a:schemeClr val="bg1"/>
                </a:solidFill>
              </a:rPr>
              <a:t>2021.10.18</a:t>
            </a:r>
          </a:p>
          <a:p>
            <a:pPr marL="0" indent="0" algn="ctr" rtl="0">
              <a:buNone/>
            </a:pPr>
            <a:endParaRPr lang="en-US" altLang="ko-KR" sz="2400">
              <a:solidFill>
                <a:schemeClr val="bg1"/>
              </a:solidFill>
            </a:endParaRPr>
          </a:p>
          <a:p>
            <a:pPr marL="0" indent="0" algn="ctr" rtl="0">
              <a:buNone/>
            </a:pPr>
            <a:r>
              <a:rPr lang="ko-KR" altLang="en-US" sz="2400">
                <a:solidFill>
                  <a:schemeClr val="bg1"/>
                </a:solidFill>
              </a:rPr>
              <a:t>김시현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77476" y="686258"/>
            <a:ext cx="11837048" cy="440105"/>
          </a:xfrm>
        </p:spPr>
        <p:txBody>
          <a:bodyPr rtlCol="0">
            <a:normAutofit fontScale="90000"/>
          </a:bodyPr>
          <a:lstStyle/>
          <a:p>
            <a:r>
              <a:rPr lang="en-US" altLang="ko-KR" sz="2000" b="1">
                <a:cs typeface="Segoe UI Light" panose="020B0502040204020203" pitchFamily="34" charset="0"/>
              </a:rPr>
              <a:t>1. </a:t>
            </a:r>
            <a:r>
              <a:rPr lang="ko-KR" altLang="en-US" sz="2000" b="1">
                <a:cs typeface="Segoe UI Light" panose="020B0502040204020203" pitchFamily="34" charset="0"/>
              </a:rPr>
              <a:t>탐색적 데이터 분석                   </a:t>
            </a:r>
            <a:r>
              <a:rPr lang="en-US" altLang="ko-KR" sz="2000" b="1">
                <a:cs typeface="Segoe UI Light" panose="020B0502040204020203" pitchFamily="34" charset="0"/>
              </a:rPr>
              <a:t>2. </a:t>
            </a:r>
            <a:r>
              <a:rPr lang="ko-KR" altLang="en-US" sz="2000" b="1">
                <a:cs typeface="Segoe UI Light" panose="020B0502040204020203" pitchFamily="34" charset="0"/>
              </a:rPr>
              <a:t>다중회귀분석 모델링 순서                 </a:t>
            </a:r>
            <a:r>
              <a:rPr lang="en-US" altLang="ko-KR" sz="2000">
                <a:cs typeface="Segoe UI Light" panose="020B0502040204020203" pitchFamily="34" charset="0"/>
              </a:rPr>
              <a:t>3. </a:t>
            </a:r>
            <a:r>
              <a:rPr lang="ko-KR" altLang="en-US" sz="20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오차항에 관한 </a:t>
            </a:r>
            <a:r>
              <a:rPr lang="en-US" altLang="ko-KR" sz="20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4</a:t>
            </a:r>
            <a:r>
              <a:rPr lang="ko-KR" altLang="en-US" sz="20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가지 가정 검증</a:t>
            </a:r>
            <a:endParaRPr lang="ko-KR" altLang="en-US" sz="2000" b="1" dirty="0">
              <a:cs typeface="Segoe UI Light" panose="020B0502040204020203" pitchFamily="34" charset="0"/>
            </a:endParaRPr>
          </a:p>
        </p:txBody>
      </p: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2F42CB79-6F1A-4794-AAED-D7CE105D6CCB}"/>
              </a:ext>
            </a:extLst>
          </p:cNvPr>
          <p:cNvGrpSpPr/>
          <p:nvPr/>
        </p:nvGrpSpPr>
        <p:grpSpPr>
          <a:xfrm>
            <a:off x="266555" y="1386617"/>
            <a:ext cx="3616724" cy="5330793"/>
            <a:chOff x="266555" y="1386617"/>
            <a:chExt cx="3616724" cy="5330793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34EB147B-B36F-4C78-A849-4E49D3CC09FC}"/>
                </a:ext>
              </a:extLst>
            </p:cNvPr>
            <p:cNvGrpSpPr/>
            <p:nvPr/>
          </p:nvGrpSpPr>
          <p:grpSpPr>
            <a:xfrm>
              <a:off x="266555" y="5824858"/>
              <a:ext cx="2376000" cy="892552"/>
              <a:chOff x="339798" y="5786432"/>
              <a:chExt cx="2376000" cy="892552"/>
            </a:xfrm>
          </p:grpSpPr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BDC67CB3-F937-4EB0-A931-F0531BE4CA86}"/>
                  </a:ext>
                </a:extLst>
              </p:cNvPr>
              <p:cNvGrpSpPr/>
              <p:nvPr/>
            </p:nvGrpSpPr>
            <p:grpSpPr>
              <a:xfrm>
                <a:off x="339798" y="6013335"/>
                <a:ext cx="484428" cy="438747"/>
                <a:chOff x="493337" y="1831975"/>
                <a:chExt cx="484428" cy="438747"/>
              </a:xfrm>
            </p:grpSpPr>
            <p:sp>
              <p:nvSpPr>
                <p:cNvPr id="31" name="타원 30">
                  <a:extLst>
                    <a:ext uri="{FF2B5EF4-FFF2-40B4-BE49-F238E27FC236}">
                      <a16:creationId xmlns:a16="http://schemas.microsoft.com/office/drawing/2014/main" id="{7C472609-FC03-4AD9-9BB1-D69AEAE2828E}"/>
                    </a:ext>
                  </a:extLst>
                </p:cNvPr>
                <p:cNvSpPr/>
                <p:nvPr/>
              </p:nvSpPr>
              <p:spPr>
                <a:xfrm>
                  <a:off x="516178" y="1831975"/>
                  <a:ext cx="438747" cy="438747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/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224305F-B682-4D40-9B0C-2994DF10A296}"/>
                    </a:ext>
                  </a:extLst>
                </p:cNvPr>
                <p:cNvSpPr txBox="1"/>
                <p:nvPr/>
              </p:nvSpPr>
              <p:spPr>
                <a:xfrm>
                  <a:off x="493337" y="1866682"/>
                  <a:ext cx="4844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>
                      <a:solidFill>
                        <a:schemeClr val="bg1"/>
                      </a:solidFill>
                    </a:rPr>
                    <a:t>1.3</a:t>
                  </a:r>
                  <a:endParaRPr lang="ko-KR" alt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CC85F1A-0C79-4F53-B218-1D36C1E2E039}"/>
                  </a:ext>
                </a:extLst>
              </p:cNvPr>
              <p:cNvSpPr txBox="1"/>
              <p:nvPr/>
            </p:nvSpPr>
            <p:spPr>
              <a:xfrm>
                <a:off x="828743" y="5786432"/>
                <a:ext cx="1887055" cy="892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b="1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Y</a:t>
                </a:r>
                <a:r>
                  <a:rPr lang="ko-KR" altLang="en-US" sz="1600" b="1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종속변수분석</a:t>
                </a:r>
                <a:br>
                  <a:rPr lang="en-US" altLang="ko-KR" sz="1600" b="1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</a:br>
                <a:r>
                  <a:rPr lang="en-US" altLang="ko-KR" sz="12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Y</a:t>
                </a:r>
                <a:r>
                  <a:rPr lang="ko-KR" altLang="en-US" sz="12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변수 탐색적 분석 </a:t>
                </a:r>
                <a:r>
                  <a:rPr lang="en-US" altLang="ko-KR" sz="12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: </a:t>
                </a:r>
              </a:p>
              <a:p>
                <a:r>
                  <a:rPr lang="ko-KR" altLang="en-US" sz="12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살인율 평균 </a:t>
                </a:r>
                <a:r>
                  <a:rPr lang="en-US" altLang="ko-KR" sz="12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7.38% </a:t>
                </a:r>
                <a:r>
                  <a:rPr lang="ko-KR" altLang="en-US" sz="12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등 </a:t>
                </a:r>
                <a:endParaRPr lang="en-US" altLang="ko-KR" sz="1200"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endParaRPr>
              </a:p>
              <a:p>
                <a:r>
                  <a:rPr lang="ko-KR" altLang="en-US" sz="12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요약통계량 및 분포 분석</a:t>
                </a:r>
              </a:p>
            </p:txBody>
          </p:sp>
        </p:grp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2657FD7F-FB2E-439D-9A16-6D49A79E5408}"/>
                </a:ext>
              </a:extLst>
            </p:cNvPr>
            <p:cNvGrpSpPr/>
            <p:nvPr/>
          </p:nvGrpSpPr>
          <p:grpSpPr>
            <a:xfrm>
              <a:off x="266555" y="1386617"/>
              <a:ext cx="3616724" cy="846386"/>
              <a:chOff x="339798" y="1555779"/>
              <a:chExt cx="3616724" cy="846386"/>
            </a:xfrm>
          </p:grpSpPr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30B06436-94CA-499F-9E59-CBA64FEC68FB}"/>
                  </a:ext>
                </a:extLst>
              </p:cNvPr>
              <p:cNvGrpSpPr/>
              <p:nvPr/>
            </p:nvGrpSpPr>
            <p:grpSpPr>
              <a:xfrm>
                <a:off x="339798" y="1759599"/>
                <a:ext cx="484428" cy="438747"/>
                <a:chOff x="493337" y="1831975"/>
                <a:chExt cx="484428" cy="438747"/>
              </a:xfrm>
            </p:grpSpPr>
            <p:sp>
              <p:nvSpPr>
                <p:cNvPr id="84" name="타원 83">
                  <a:extLst>
                    <a:ext uri="{FF2B5EF4-FFF2-40B4-BE49-F238E27FC236}">
                      <a16:creationId xmlns:a16="http://schemas.microsoft.com/office/drawing/2014/main" id="{F95CD613-4E9C-4EC0-9821-0E52ADECB52A}"/>
                    </a:ext>
                  </a:extLst>
                </p:cNvPr>
                <p:cNvSpPr/>
                <p:nvPr/>
              </p:nvSpPr>
              <p:spPr>
                <a:xfrm>
                  <a:off x="516178" y="1831975"/>
                  <a:ext cx="438747" cy="438747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/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5CE91D46-654E-440E-8D74-E3F3F748F6D7}"/>
                    </a:ext>
                  </a:extLst>
                </p:cNvPr>
                <p:cNvSpPr txBox="1"/>
                <p:nvPr/>
              </p:nvSpPr>
              <p:spPr>
                <a:xfrm>
                  <a:off x="493337" y="1866682"/>
                  <a:ext cx="4844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>
                      <a:solidFill>
                        <a:schemeClr val="bg1"/>
                      </a:solidFill>
                    </a:rPr>
                    <a:t>1.1</a:t>
                  </a:r>
                  <a:endParaRPr lang="ko-KR" alt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BD7C68A9-21A9-48E3-8496-482C8E7F3612}"/>
                  </a:ext>
                </a:extLst>
              </p:cNvPr>
              <p:cNvSpPr txBox="1"/>
              <p:nvPr/>
            </p:nvSpPr>
            <p:spPr>
              <a:xfrm>
                <a:off x="828743" y="1555779"/>
                <a:ext cx="3127779" cy="846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600" b="1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시각화</a:t>
                </a:r>
                <a:br>
                  <a:rPr lang="en-US" altLang="ko-KR" sz="1600" b="1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</a:b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Y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변수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(Murder(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미국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50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개주 살인율 </a:t>
                </a:r>
                <a:b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</a:b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예측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)) 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예측에 유효한 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X 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설명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(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원인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)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변수 파악 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:  </a:t>
                </a:r>
                <a:b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</a:b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X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유효변수의 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Y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간 상관관계검증 활용방안</a:t>
                </a:r>
                <a:endParaRPr lang="ko-KR" altLang="en-US" sz="1600" b="1"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endParaRPr>
              </a:p>
            </p:txBody>
          </p:sp>
        </p:grp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55B8599F-2F93-4942-8FD5-706F0EA0C6A0}"/>
                </a:ext>
              </a:extLst>
            </p:cNvPr>
            <p:cNvGrpSpPr/>
            <p:nvPr/>
          </p:nvGrpSpPr>
          <p:grpSpPr>
            <a:xfrm>
              <a:off x="266555" y="3605737"/>
              <a:ext cx="3479842" cy="846386"/>
              <a:chOff x="339798" y="3671106"/>
              <a:chExt cx="3479842" cy="846386"/>
            </a:xfrm>
          </p:grpSpPr>
          <p:grpSp>
            <p:nvGrpSpPr>
              <p:cNvPr id="87" name="그룹 86">
                <a:extLst>
                  <a:ext uri="{FF2B5EF4-FFF2-40B4-BE49-F238E27FC236}">
                    <a16:creationId xmlns:a16="http://schemas.microsoft.com/office/drawing/2014/main" id="{DBA6992B-6D07-4805-936E-A641719B6F00}"/>
                  </a:ext>
                </a:extLst>
              </p:cNvPr>
              <p:cNvGrpSpPr/>
              <p:nvPr/>
            </p:nvGrpSpPr>
            <p:grpSpPr>
              <a:xfrm>
                <a:off x="339798" y="3874926"/>
                <a:ext cx="484428" cy="438747"/>
                <a:chOff x="493337" y="1831975"/>
                <a:chExt cx="484428" cy="438747"/>
              </a:xfrm>
            </p:grpSpPr>
            <p:sp>
              <p:nvSpPr>
                <p:cNvPr id="89" name="타원 88">
                  <a:extLst>
                    <a:ext uri="{FF2B5EF4-FFF2-40B4-BE49-F238E27FC236}">
                      <a16:creationId xmlns:a16="http://schemas.microsoft.com/office/drawing/2014/main" id="{FDE91BC5-A9D7-47AE-BC50-017970778FC3}"/>
                    </a:ext>
                  </a:extLst>
                </p:cNvPr>
                <p:cNvSpPr/>
                <p:nvPr/>
              </p:nvSpPr>
              <p:spPr>
                <a:xfrm>
                  <a:off x="516178" y="1831975"/>
                  <a:ext cx="438747" cy="438747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/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E24AEB87-6FE2-40F9-B14E-F9ED8936F061}"/>
                    </a:ext>
                  </a:extLst>
                </p:cNvPr>
                <p:cNvSpPr txBox="1"/>
                <p:nvPr/>
              </p:nvSpPr>
              <p:spPr>
                <a:xfrm>
                  <a:off x="493337" y="1866682"/>
                  <a:ext cx="4844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>
                      <a:solidFill>
                        <a:schemeClr val="bg1"/>
                      </a:solidFill>
                    </a:rPr>
                    <a:t>1.2</a:t>
                  </a:r>
                  <a:endParaRPr lang="ko-KR" alt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57CDBCF-8A06-40DC-A36E-83B71EA96765}"/>
                  </a:ext>
                </a:extLst>
              </p:cNvPr>
              <p:cNvSpPr txBox="1"/>
              <p:nvPr/>
            </p:nvSpPr>
            <p:spPr>
              <a:xfrm>
                <a:off x="828743" y="3671106"/>
                <a:ext cx="2990897" cy="846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b="1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상관관계분석</a:t>
                </a:r>
                <a:br>
                  <a:rPr lang="en-US" altLang="ko-KR" sz="1200" b="1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</a:b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Y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변수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(Murder(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미국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50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개주 살인율 </a:t>
                </a:r>
                <a:b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</a:b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예측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)) 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예측에 유효한 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X 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설명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(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원인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)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변수 파악 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:  </a:t>
                </a:r>
                <a:b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</a:b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X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유효변수의 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Y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간 상관관계검증 활용방안</a:t>
                </a:r>
                <a:endParaRPr lang="ko-KR" altLang="en-US" sz="1200"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endParaRPr>
              </a:p>
            </p:txBody>
          </p:sp>
        </p:grp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86530DF-F6F5-43C4-9793-A9382AFBFC44}"/>
              </a:ext>
            </a:extLst>
          </p:cNvPr>
          <p:cNvGrpSpPr/>
          <p:nvPr/>
        </p:nvGrpSpPr>
        <p:grpSpPr>
          <a:xfrm>
            <a:off x="0" y="-17527"/>
            <a:ext cx="2798618" cy="499454"/>
            <a:chOff x="0" y="-17527"/>
            <a:chExt cx="1985818" cy="499454"/>
          </a:xfrm>
        </p:grpSpPr>
        <p:sp>
          <p:nvSpPr>
            <p:cNvPr id="48" name="사각형: 둥근 한쪽 모서리 47">
              <a:extLst>
                <a:ext uri="{FF2B5EF4-FFF2-40B4-BE49-F238E27FC236}">
                  <a16:creationId xmlns:a16="http://schemas.microsoft.com/office/drawing/2014/main" id="{29E9CC8A-DF03-47D6-9854-04353B928A0D}"/>
                </a:ext>
              </a:extLst>
            </p:cNvPr>
            <p:cNvSpPr/>
            <p:nvPr/>
          </p:nvSpPr>
          <p:spPr>
            <a:xfrm rot="10800000" flipH="1">
              <a:off x="0" y="-1"/>
              <a:ext cx="1985818" cy="481928"/>
            </a:xfrm>
            <a:prstGeom prst="round1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0B2B052-6800-49F8-AECC-F55D59FDFCF6}"/>
                </a:ext>
              </a:extLst>
            </p:cNvPr>
            <p:cNvSpPr txBox="1"/>
            <p:nvPr/>
          </p:nvSpPr>
          <p:spPr>
            <a:xfrm>
              <a:off x="851351" y="-17527"/>
              <a:ext cx="10757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</a:rPr>
                <a:t>Contents</a:t>
              </a:r>
              <a:endParaRPr lang="ko-KR" altLang="en-US" sz="24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a:endParaRPr>
            </a:p>
          </p:txBody>
        </p:sp>
      </p:grpSp>
      <p:sp>
        <p:nvSpPr>
          <p:cNvPr id="21" name="내용 개체 틀 17"/>
          <p:cNvSpPr txBox="1">
            <a:spLocks/>
          </p:cNvSpPr>
          <p:nvPr/>
        </p:nvSpPr>
        <p:spPr>
          <a:xfrm>
            <a:off x="4492770" y="1386617"/>
            <a:ext cx="2815035" cy="4534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ko-KR" altLang="en-US" sz="13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완전모형</a:t>
            </a:r>
            <a:r>
              <a:rPr lang="en-US" altLang="ko-KR" sz="13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(</a:t>
            </a:r>
            <a:r>
              <a:rPr lang="ko-KR" altLang="en-US" sz="13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모든</a:t>
            </a:r>
            <a:r>
              <a:rPr lang="en-US" altLang="ko-KR" sz="13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x</a:t>
            </a:r>
            <a:r>
              <a:rPr lang="ko-KR" altLang="en-US" sz="13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변수 투입</a:t>
            </a:r>
            <a:r>
              <a:rPr lang="en-US" altLang="ko-KR" sz="13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)</a:t>
            </a:r>
            <a:r>
              <a:rPr lang="ko-KR" altLang="en-US" sz="13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으로 </a:t>
            </a:r>
            <a:br>
              <a:rPr lang="en-US" altLang="ko-KR" sz="13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</a:br>
            <a:r>
              <a:rPr lang="en-US" altLang="ko-KR" sz="13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1</a:t>
            </a:r>
            <a:r>
              <a:rPr lang="ko-KR" altLang="en-US" sz="13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차 선형모형식 산출</a:t>
            </a:r>
            <a:endParaRPr lang="ko-KR" altLang="en-US" sz="13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/>
            </a:endParaRP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1CAF7FF9-660E-4287-82B1-5D7A583ADBEC}"/>
              </a:ext>
            </a:extLst>
          </p:cNvPr>
          <p:cNvGrpSpPr/>
          <p:nvPr/>
        </p:nvGrpSpPr>
        <p:grpSpPr>
          <a:xfrm>
            <a:off x="3949475" y="1393985"/>
            <a:ext cx="484428" cy="438747"/>
            <a:chOff x="3949475" y="1766642"/>
            <a:chExt cx="484428" cy="438747"/>
          </a:xfrm>
        </p:grpSpPr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8D5D4736-EF5B-4105-AF73-DE3EF144994C}"/>
                </a:ext>
              </a:extLst>
            </p:cNvPr>
            <p:cNvSpPr/>
            <p:nvPr/>
          </p:nvSpPr>
          <p:spPr>
            <a:xfrm>
              <a:off x="3972316" y="1766642"/>
              <a:ext cx="438747" cy="43874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C35FAC9-10B8-4DB7-94D8-58D13F09AFD4}"/>
                </a:ext>
              </a:extLst>
            </p:cNvPr>
            <p:cNvSpPr txBox="1"/>
            <p:nvPr/>
          </p:nvSpPr>
          <p:spPr>
            <a:xfrm>
              <a:off x="3949475" y="1801349"/>
              <a:ext cx="4844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solidFill>
                    <a:schemeClr val="bg1"/>
                  </a:solidFill>
                </a:rPr>
                <a:t>2.1</a:t>
              </a:r>
              <a:endParaRPr lang="ko-KR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66" name="내용 개체 틀 17">
            <a:extLst>
              <a:ext uri="{FF2B5EF4-FFF2-40B4-BE49-F238E27FC236}">
                <a16:creationId xmlns:a16="http://schemas.microsoft.com/office/drawing/2014/main" id="{AB205E41-8DA1-47D7-B55E-5381544160D5}"/>
              </a:ext>
            </a:extLst>
          </p:cNvPr>
          <p:cNvSpPr txBox="1">
            <a:spLocks/>
          </p:cNvSpPr>
          <p:nvPr/>
        </p:nvSpPr>
        <p:spPr>
          <a:xfrm>
            <a:off x="4530893" y="2061263"/>
            <a:ext cx="3593238" cy="12665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n-US" altLang="ko-KR" sz="13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X</a:t>
            </a:r>
            <a:r>
              <a:rPr lang="ko-KR" altLang="en-US" sz="13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변수들간의 </a:t>
            </a:r>
            <a:r>
              <a:rPr lang="ko-KR" altLang="en-US" sz="1300" b="1" u="sng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다중공선성</a:t>
            </a:r>
            <a:r>
              <a:rPr lang="ko-KR" altLang="en-US" sz="13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 이슈 해결 </a:t>
            </a:r>
            <a:br>
              <a:rPr lang="en-US" altLang="ko-KR" sz="13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</a:br>
            <a:r>
              <a:rPr lang="en-US" altLang="ko-KR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(</a:t>
            </a:r>
            <a:r>
              <a:rPr lang="ko-KR" altLang="en-US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목적</a:t>
            </a:r>
            <a:r>
              <a:rPr lang="en-US" altLang="ko-KR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) </a:t>
            </a:r>
            <a:r>
              <a:rPr lang="ko-KR" altLang="en-US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예측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/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추정 모형식 </a:t>
            </a:r>
            <a:r>
              <a:rPr lang="ko-KR" altLang="en-US" sz="105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회귀계수값의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 신뢰도 </a:t>
            </a:r>
            <a:r>
              <a:rPr lang="ko-KR" altLang="en-US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하락 방지</a:t>
            </a:r>
            <a:br>
              <a:rPr lang="en-US" altLang="ko-KR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</a:br>
            <a:r>
              <a:rPr lang="en-US" altLang="ko-KR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(1) car:vif(</a:t>
            </a:r>
            <a:r>
              <a:rPr lang="ko-KR" altLang="en-US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모형식명</a:t>
            </a:r>
            <a:r>
              <a:rPr lang="en-US" altLang="ko-KR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)&gt;10</a:t>
            </a:r>
            <a:r>
              <a:rPr lang="ko-KR" altLang="en-US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인 변수 제거</a:t>
            </a:r>
            <a:r>
              <a:rPr lang="en-US" altLang="ko-KR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, </a:t>
            </a:r>
            <a:r>
              <a:rPr lang="ko-KR" altLang="en-US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잔여후보변수들이</a:t>
            </a:r>
            <a:br>
              <a:rPr lang="en-US" altLang="ko-KR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</a:br>
            <a:r>
              <a:rPr lang="en-US" altLang="ko-KR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    car:vif(</a:t>
            </a:r>
            <a:r>
              <a:rPr lang="ko-KR" altLang="en-US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모형식명</a:t>
            </a:r>
            <a:r>
              <a:rPr lang="en-US" altLang="ko-KR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)&lt;10</a:t>
            </a:r>
            <a:r>
              <a:rPr lang="ko-KR" altLang="en-US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이 될 때까지 변수 제거 </a:t>
            </a:r>
            <a:br>
              <a:rPr lang="en-US" altLang="ko-KR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</a:br>
            <a:r>
              <a:rPr lang="en-US" altLang="ko-KR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(2) </a:t>
            </a:r>
            <a:r>
              <a:rPr lang="ko-KR" altLang="en-US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최종후보모형</a:t>
            </a:r>
            <a:r>
              <a:rPr lang="en-US" altLang="ko-KR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/</a:t>
            </a:r>
            <a:r>
              <a:rPr lang="ko-KR" altLang="en-US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채택변수가 됨</a:t>
            </a:r>
            <a:endParaRPr lang="en-US" altLang="ko-KR" sz="1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/>
            </a:endParaRPr>
          </a:p>
        </p:txBody>
      </p: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FE6FD0DE-2401-492E-A2CB-B715B0AE1F09}"/>
              </a:ext>
            </a:extLst>
          </p:cNvPr>
          <p:cNvGrpSpPr/>
          <p:nvPr/>
        </p:nvGrpSpPr>
        <p:grpSpPr>
          <a:xfrm>
            <a:off x="3949475" y="2475161"/>
            <a:ext cx="484428" cy="438747"/>
            <a:chOff x="3949475" y="1766642"/>
            <a:chExt cx="484428" cy="438747"/>
          </a:xfrm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650638A1-6FC6-47A8-9039-D927CA410E87}"/>
                </a:ext>
              </a:extLst>
            </p:cNvPr>
            <p:cNvSpPr/>
            <p:nvPr/>
          </p:nvSpPr>
          <p:spPr>
            <a:xfrm>
              <a:off x="3972316" y="1766642"/>
              <a:ext cx="438747" cy="43874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8B4A58B3-5BD3-4796-B6F5-D4B2562A9818}"/>
                </a:ext>
              </a:extLst>
            </p:cNvPr>
            <p:cNvSpPr txBox="1"/>
            <p:nvPr/>
          </p:nvSpPr>
          <p:spPr>
            <a:xfrm>
              <a:off x="3949475" y="1801349"/>
              <a:ext cx="4844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solidFill>
                    <a:schemeClr val="bg1"/>
                  </a:solidFill>
                </a:rPr>
                <a:t>2.2</a:t>
              </a:r>
              <a:endParaRPr lang="ko-KR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74" name="내용 개체 틀 17">
            <a:extLst>
              <a:ext uri="{FF2B5EF4-FFF2-40B4-BE49-F238E27FC236}">
                <a16:creationId xmlns:a16="http://schemas.microsoft.com/office/drawing/2014/main" id="{376453AC-B87E-4223-9FEF-F4018F4A0655}"/>
              </a:ext>
            </a:extLst>
          </p:cNvPr>
          <p:cNvSpPr txBox="1">
            <a:spLocks/>
          </p:cNvSpPr>
          <p:nvPr/>
        </p:nvSpPr>
        <p:spPr>
          <a:xfrm>
            <a:off x="4530893" y="3548969"/>
            <a:ext cx="3742485" cy="4534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ko-KR" altLang="en-US" sz="13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변수선택법 적용을 통한 </a:t>
            </a:r>
            <a:br>
              <a:rPr lang="en-US" altLang="ko-KR" sz="13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</a:br>
            <a:r>
              <a:rPr lang="ko-KR" altLang="en-US" sz="13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불필요한 </a:t>
            </a:r>
            <a:r>
              <a:rPr lang="en-US" altLang="ko-KR" sz="13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X</a:t>
            </a:r>
            <a:r>
              <a:rPr lang="ko-KR" altLang="en-US" sz="13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변수 제거 </a:t>
            </a:r>
            <a:r>
              <a:rPr lang="en-US" altLang="ko-KR" sz="13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: </a:t>
            </a:r>
            <a:r>
              <a:rPr lang="en-US" altLang="ko-KR" sz="13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step(</a:t>
            </a:r>
            <a:r>
              <a:rPr lang="ko-KR" altLang="en-US" sz="13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모형식명</a:t>
            </a:r>
            <a:r>
              <a:rPr lang="en-US" altLang="ko-KR" sz="13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)</a:t>
            </a:r>
            <a:endParaRPr lang="ko-KR" altLang="en-US" sz="13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B7A66D93-C958-49FA-8A67-D878A3A51090}"/>
              </a:ext>
            </a:extLst>
          </p:cNvPr>
          <p:cNvGrpSpPr/>
          <p:nvPr/>
        </p:nvGrpSpPr>
        <p:grpSpPr>
          <a:xfrm>
            <a:off x="3949475" y="3556337"/>
            <a:ext cx="484428" cy="438747"/>
            <a:chOff x="3949475" y="1766642"/>
            <a:chExt cx="484428" cy="438747"/>
          </a:xfrm>
        </p:grpSpPr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48382935-34E3-4E22-83BE-B81DAE117A9C}"/>
                </a:ext>
              </a:extLst>
            </p:cNvPr>
            <p:cNvSpPr/>
            <p:nvPr/>
          </p:nvSpPr>
          <p:spPr>
            <a:xfrm>
              <a:off x="3972316" y="1766642"/>
              <a:ext cx="438747" cy="43874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F718DA65-EC30-4C5B-A442-9BF4A4A9D91A}"/>
                </a:ext>
              </a:extLst>
            </p:cNvPr>
            <p:cNvSpPr txBox="1"/>
            <p:nvPr/>
          </p:nvSpPr>
          <p:spPr>
            <a:xfrm>
              <a:off x="3949475" y="1801349"/>
              <a:ext cx="4844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solidFill>
                    <a:schemeClr val="bg1"/>
                  </a:solidFill>
                </a:rPr>
                <a:t>2.3</a:t>
              </a:r>
              <a:endParaRPr lang="ko-KR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78" name="내용 개체 틀 17">
            <a:extLst>
              <a:ext uri="{FF2B5EF4-FFF2-40B4-BE49-F238E27FC236}">
                <a16:creationId xmlns:a16="http://schemas.microsoft.com/office/drawing/2014/main" id="{1780E162-766C-4C2F-9169-11C03D368C58}"/>
              </a:ext>
            </a:extLst>
          </p:cNvPr>
          <p:cNvSpPr txBox="1">
            <a:spLocks/>
          </p:cNvSpPr>
          <p:nvPr/>
        </p:nvSpPr>
        <p:spPr>
          <a:xfrm>
            <a:off x="4530893" y="4223615"/>
            <a:ext cx="3742485" cy="11739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n-US" altLang="ko-KR" sz="13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2</a:t>
            </a:r>
            <a:r>
              <a:rPr lang="ko-KR" altLang="en-US" sz="13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차다중공선성 체크</a:t>
            </a:r>
            <a:br>
              <a:rPr lang="en-US" altLang="ko-KR" sz="13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</a:br>
            <a:r>
              <a:rPr lang="en-US" altLang="ko-KR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(</a:t>
            </a:r>
            <a:r>
              <a:rPr lang="ko-KR" altLang="en-US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이후 수정모형 변경 후</a:t>
            </a:r>
            <a:r>
              <a:rPr lang="en-US" altLang="ko-KR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, </a:t>
            </a:r>
            <a:r>
              <a:rPr lang="ko-KR" altLang="en-US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다중공선성 제거 시 까지 반복실행</a:t>
            </a:r>
            <a:r>
              <a:rPr lang="en-US" altLang="ko-KR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)</a:t>
            </a:r>
            <a:br>
              <a:rPr lang="en-US" altLang="ko-KR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</a:br>
            <a:r>
              <a:rPr lang="en-US" altLang="ko-KR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(1) car:vif(</a:t>
            </a:r>
            <a:r>
              <a:rPr lang="ko-KR" altLang="en-US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모형식명</a:t>
            </a:r>
            <a:r>
              <a:rPr lang="en-US" altLang="ko-KR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)&gt;10</a:t>
            </a:r>
            <a:r>
              <a:rPr lang="ko-KR" altLang="en-US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인 변수 제거</a:t>
            </a:r>
            <a:r>
              <a:rPr lang="en-US" altLang="ko-KR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, </a:t>
            </a:r>
            <a:r>
              <a:rPr lang="ko-KR" altLang="en-US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잔여후보변수들이</a:t>
            </a:r>
            <a:br>
              <a:rPr lang="en-US" altLang="ko-KR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</a:br>
            <a:r>
              <a:rPr lang="en-US" altLang="ko-KR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    car:vif(</a:t>
            </a:r>
            <a:r>
              <a:rPr lang="ko-KR" altLang="en-US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모형식명</a:t>
            </a:r>
            <a:r>
              <a:rPr lang="en-US" altLang="ko-KR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)&lt;10</a:t>
            </a:r>
            <a:r>
              <a:rPr lang="ko-KR" altLang="en-US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이 될 때까지 변수 제거 </a:t>
            </a:r>
            <a:br>
              <a:rPr lang="en-US" altLang="ko-KR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</a:br>
            <a:r>
              <a:rPr lang="en-US" altLang="ko-KR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(2) </a:t>
            </a:r>
            <a:r>
              <a:rPr lang="ko-KR" altLang="en-US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최종후보모형</a:t>
            </a:r>
            <a:r>
              <a:rPr lang="en-US" altLang="ko-KR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/</a:t>
            </a:r>
            <a:r>
              <a:rPr lang="ko-KR" altLang="en-US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채택변수가 됨</a:t>
            </a:r>
            <a:endParaRPr lang="en-US" altLang="ko-KR" sz="105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Semibold" panose="020B0702040204020203" pitchFamily="34" charset="0"/>
            </a:endParaRPr>
          </a:p>
        </p:txBody>
      </p: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493EEF06-6AF4-4008-A16D-392797BB0184}"/>
              </a:ext>
            </a:extLst>
          </p:cNvPr>
          <p:cNvGrpSpPr/>
          <p:nvPr/>
        </p:nvGrpSpPr>
        <p:grpSpPr>
          <a:xfrm>
            <a:off x="3949475" y="4591229"/>
            <a:ext cx="484428" cy="438747"/>
            <a:chOff x="3949475" y="1766642"/>
            <a:chExt cx="484428" cy="438747"/>
          </a:xfrm>
        </p:grpSpPr>
        <p:sp>
          <p:nvSpPr>
            <p:cNvPr id="138" name="타원 137">
              <a:extLst>
                <a:ext uri="{FF2B5EF4-FFF2-40B4-BE49-F238E27FC236}">
                  <a16:creationId xmlns:a16="http://schemas.microsoft.com/office/drawing/2014/main" id="{00300FA8-1C9D-4B27-8C7D-E010E5199FE2}"/>
                </a:ext>
              </a:extLst>
            </p:cNvPr>
            <p:cNvSpPr/>
            <p:nvPr/>
          </p:nvSpPr>
          <p:spPr>
            <a:xfrm>
              <a:off x="3972316" y="1766642"/>
              <a:ext cx="438747" cy="43874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C0D19811-64F1-45B6-B791-386C73E634E0}"/>
                </a:ext>
              </a:extLst>
            </p:cNvPr>
            <p:cNvSpPr txBox="1"/>
            <p:nvPr/>
          </p:nvSpPr>
          <p:spPr>
            <a:xfrm>
              <a:off x="3949475" y="1801349"/>
              <a:ext cx="4844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solidFill>
                    <a:schemeClr val="bg1"/>
                  </a:solidFill>
                </a:rPr>
                <a:t>2.4</a:t>
              </a:r>
              <a:endParaRPr lang="ko-KR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82" name="내용 개체 틀 17">
            <a:extLst>
              <a:ext uri="{FF2B5EF4-FFF2-40B4-BE49-F238E27FC236}">
                <a16:creationId xmlns:a16="http://schemas.microsoft.com/office/drawing/2014/main" id="{BC79A694-F7CF-4DAB-A5EF-62C8D6FA9BB3}"/>
              </a:ext>
            </a:extLst>
          </p:cNvPr>
          <p:cNvSpPr txBox="1">
            <a:spLocks/>
          </p:cNvSpPr>
          <p:nvPr/>
        </p:nvSpPr>
        <p:spPr>
          <a:xfrm>
            <a:off x="4530893" y="5702611"/>
            <a:ext cx="2776912" cy="2710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ko-KR" altLang="en-US" sz="13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이상치 제거 전 최종후보모형 결정</a:t>
            </a:r>
            <a:endParaRPr lang="ko-KR" altLang="en-US" sz="13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E52DD070-E4FD-43BC-A009-36F311DCBD67}"/>
              </a:ext>
            </a:extLst>
          </p:cNvPr>
          <p:cNvGrpSpPr/>
          <p:nvPr/>
        </p:nvGrpSpPr>
        <p:grpSpPr>
          <a:xfrm>
            <a:off x="3949475" y="5618754"/>
            <a:ext cx="484428" cy="438747"/>
            <a:chOff x="3949475" y="1766642"/>
            <a:chExt cx="484428" cy="438747"/>
          </a:xfrm>
        </p:grpSpPr>
        <p:sp>
          <p:nvSpPr>
            <p:cNvPr id="141" name="타원 140">
              <a:extLst>
                <a:ext uri="{FF2B5EF4-FFF2-40B4-BE49-F238E27FC236}">
                  <a16:creationId xmlns:a16="http://schemas.microsoft.com/office/drawing/2014/main" id="{E3DEC054-A6FF-4B43-AA58-C32666541B90}"/>
                </a:ext>
              </a:extLst>
            </p:cNvPr>
            <p:cNvSpPr/>
            <p:nvPr/>
          </p:nvSpPr>
          <p:spPr>
            <a:xfrm>
              <a:off x="3972316" y="1766642"/>
              <a:ext cx="438747" cy="43874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E4494572-5111-4D44-9FD5-EBC5145CC5C2}"/>
                </a:ext>
              </a:extLst>
            </p:cNvPr>
            <p:cNvSpPr txBox="1"/>
            <p:nvPr/>
          </p:nvSpPr>
          <p:spPr>
            <a:xfrm>
              <a:off x="3949475" y="1801349"/>
              <a:ext cx="4844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solidFill>
                    <a:schemeClr val="bg1"/>
                  </a:solidFill>
                </a:rPr>
                <a:t>2.5</a:t>
              </a:r>
              <a:endParaRPr lang="ko-KR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71" name="내용 개체 틀 17">
            <a:extLst>
              <a:ext uri="{FF2B5EF4-FFF2-40B4-BE49-F238E27FC236}">
                <a16:creationId xmlns:a16="http://schemas.microsoft.com/office/drawing/2014/main" id="{95C28F07-7455-426B-8AC0-2F3ACE642DD0}"/>
              </a:ext>
            </a:extLst>
          </p:cNvPr>
          <p:cNvSpPr txBox="1">
            <a:spLocks/>
          </p:cNvSpPr>
          <p:nvPr/>
        </p:nvSpPr>
        <p:spPr>
          <a:xfrm>
            <a:off x="4530893" y="6362520"/>
            <a:ext cx="2488743" cy="2710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ko-KR" altLang="en-US" sz="13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이상치 제거 후 최종모형 결정</a:t>
            </a:r>
            <a:endParaRPr lang="ko-KR" altLang="en-US" sz="13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/>
            </a:endParaRPr>
          </a:p>
        </p:txBody>
      </p: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187109AC-F210-42D8-8159-A6A1D2CAAD6A}"/>
              </a:ext>
            </a:extLst>
          </p:cNvPr>
          <p:cNvGrpSpPr/>
          <p:nvPr/>
        </p:nvGrpSpPr>
        <p:grpSpPr>
          <a:xfrm>
            <a:off x="3949475" y="6278663"/>
            <a:ext cx="484428" cy="438747"/>
            <a:chOff x="3949475" y="1766642"/>
            <a:chExt cx="484428" cy="438747"/>
          </a:xfrm>
        </p:grpSpPr>
        <p:sp>
          <p:nvSpPr>
            <p:cNvPr id="173" name="타원 172">
              <a:extLst>
                <a:ext uri="{FF2B5EF4-FFF2-40B4-BE49-F238E27FC236}">
                  <a16:creationId xmlns:a16="http://schemas.microsoft.com/office/drawing/2014/main" id="{149D0388-87F1-44C3-93B0-60F474B0B151}"/>
                </a:ext>
              </a:extLst>
            </p:cNvPr>
            <p:cNvSpPr/>
            <p:nvPr/>
          </p:nvSpPr>
          <p:spPr>
            <a:xfrm>
              <a:off x="3972316" y="1766642"/>
              <a:ext cx="438747" cy="43874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97F07B3D-CDB8-43DE-BBA7-3661EC7A44EC}"/>
                </a:ext>
              </a:extLst>
            </p:cNvPr>
            <p:cNvSpPr txBox="1"/>
            <p:nvPr/>
          </p:nvSpPr>
          <p:spPr>
            <a:xfrm>
              <a:off x="3949475" y="1801349"/>
              <a:ext cx="4844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solidFill>
                    <a:schemeClr val="bg1"/>
                  </a:solidFill>
                </a:rPr>
                <a:t>2.6</a:t>
              </a:r>
              <a:endParaRPr lang="ko-KR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79F0A123-F6E8-4433-9BE9-D465E9D0E82D}"/>
              </a:ext>
            </a:extLst>
          </p:cNvPr>
          <p:cNvGrpSpPr/>
          <p:nvPr/>
        </p:nvGrpSpPr>
        <p:grpSpPr>
          <a:xfrm>
            <a:off x="8382930" y="1386617"/>
            <a:ext cx="2573693" cy="438747"/>
            <a:chOff x="8382930" y="1386617"/>
            <a:chExt cx="2573693" cy="438747"/>
          </a:xfrm>
        </p:grpSpPr>
        <p:sp>
          <p:nvSpPr>
            <p:cNvPr id="81" name="내용 개체 틀 17">
              <a:extLst>
                <a:ext uri="{FF2B5EF4-FFF2-40B4-BE49-F238E27FC236}">
                  <a16:creationId xmlns:a16="http://schemas.microsoft.com/office/drawing/2014/main" id="{9B8DF9FB-451D-4A5E-94D2-04DF6DE8952C}"/>
                </a:ext>
              </a:extLst>
            </p:cNvPr>
            <p:cNvSpPr txBox="1">
              <a:spLocks/>
            </p:cNvSpPr>
            <p:nvPr/>
          </p:nvSpPr>
          <p:spPr>
            <a:xfrm>
              <a:off x="8980280" y="1465230"/>
              <a:ext cx="1976343" cy="28152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오차 독립성 가정</a:t>
              </a:r>
              <a:endParaRPr lang="ko-KR" altLang="en-US" sz="13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BC0306F2-DB83-424F-AAE0-5B565AA2B213}"/>
                </a:ext>
              </a:extLst>
            </p:cNvPr>
            <p:cNvGrpSpPr/>
            <p:nvPr/>
          </p:nvGrpSpPr>
          <p:grpSpPr>
            <a:xfrm>
              <a:off x="8382930" y="1386617"/>
              <a:ext cx="484428" cy="438747"/>
              <a:chOff x="493337" y="1831975"/>
              <a:chExt cx="484428" cy="438747"/>
            </a:xfrm>
          </p:grpSpPr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A7BE2E7F-2913-4165-9678-23D2217C9AD8}"/>
                  </a:ext>
                </a:extLst>
              </p:cNvPr>
              <p:cNvSpPr/>
              <p:nvPr/>
            </p:nvSpPr>
            <p:spPr>
              <a:xfrm>
                <a:off x="516178" y="1831975"/>
                <a:ext cx="438747" cy="438747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FD3301BE-8C32-4B8D-89C7-E609906429DE}"/>
                  </a:ext>
                </a:extLst>
              </p:cNvPr>
              <p:cNvSpPr txBox="1"/>
              <p:nvPr/>
            </p:nvSpPr>
            <p:spPr>
              <a:xfrm>
                <a:off x="493337" y="1866682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3.1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8AACA087-E921-4766-9EBE-49EB9DBF6FCA}"/>
              </a:ext>
            </a:extLst>
          </p:cNvPr>
          <p:cNvGrpSpPr/>
          <p:nvPr/>
        </p:nvGrpSpPr>
        <p:grpSpPr>
          <a:xfrm>
            <a:off x="8382930" y="2157861"/>
            <a:ext cx="3223208" cy="438747"/>
            <a:chOff x="8382930" y="3017299"/>
            <a:chExt cx="3223208" cy="438747"/>
          </a:xfrm>
        </p:grpSpPr>
        <p:sp>
          <p:nvSpPr>
            <p:cNvPr id="96" name="내용 개체 틀 17">
              <a:extLst>
                <a:ext uri="{FF2B5EF4-FFF2-40B4-BE49-F238E27FC236}">
                  <a16:creationId xmlns:a16="http://schemas.microsoft.com/office/drawing/2014/main" id="{EF08279D-CC7B-4AAE-9A12-2A60DAA017D3}"/>
                </a:ext>
              </a:extLst>
            </p:cNvPr>
            <p:cNvSpPr txBox="1">
              <a:spLocks/>
            </p:cNvSpPr>
            <p:nvPr/>
          </p:nvSpPr>
          <p:spPr>
            <a:xfrm>
              <a:off x="8980281" y="3095912"/>
              <a:ext cx="2625857" cy="28152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오차 간 자기상관관계가 없을 것</a:t>
              </a:r>
              <a:endParaRPr lang="ko-KR" altLang="en-US" sz="13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23B79E18-4048-4746-AF06-24CB6BC7AA30}"/>
                </a:ext>
              </a:extLst>
            </p:cNvPr>
            <p:cNvGrpSpPr/>
            <p:nvPr/>
          </p:nvGrpSpPr>
          <p:grpSpPr>
            <a:xfrm>
              <a:off x="8382930" y="3017299"/>
              <a:ext cx="484428" cy="438747"/>
              <a:chOff x="493337" y="1831975"/>
              <a:chExt cx="484428" cy="438747"/>
            </a:xfrm>
          </p:grpSpPr>
          <p:sp>
            <p:nvSpPr>
              <p:cNvPr id="98" name="타원 97">
                <a:extLst>
                  <a:ext uri="{FF2B5EF4-FFF2-40B4-BE49-F238E27FC236}">
                    <a16:creationId xmlns:a16="http://schemas.microsoft.com/office/drawing/2014/main" id="{D393D081-AA6A-4F5D-818E-98C088C33BEE}"/>
                  </a:ext>
                </a:extLst>
              </p:cNvPr>
              <p:cNvSpPr/>
              <p:nvPr/>
            </p:nvSpPr>
            <p:spPr>
              <a:xfrm>
                <a:off x="516178" y="1831975"/>
                <a:ext cx="438747" cy="438747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1B184D8-70CC-4B9E-ACB9-EA56B4EB2DF7}"/>
                  </a:ext>
                </a:extLst>
              </p:cNvPr>
              <p:cNvSpPr txBox="1"/>
              <p:nvPr/>
            </p:nvSpPr>
            <p:spPr>
              <a:xfrm>
                <a:off x="493337" y="1866682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3.2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30A4BC6F-6671-4B69-83C1-30C096AEE519}"/>
              </a:ext>
            </a:extLst>
          </p:cNvPr>
          <p:cNvGrpSpPr/>
          <p:nvPr/>
        </p:nvGrpSpPr>
        <p:grpSpPr>
          <a:xfrm>
            <a:off x="8382930" y="2929105"/>
            <a:ext cx="2701680" cy="438747"/>
            <a:chOff x="8382930" y="4647981"/>
            <a:chExt cx="2701680" cy="438747"/>
          </a:xfrm>
        </p:grpSpPr>
        <p:sp>
          <p:nvSpPr>
            <p:cNvPr id="106" name="내용 개체 틀 17">
              <a:extLst>
                <a:ext uri="{FF2B5EF4-FFF2-40B4-BE49-F238E27FC236}">
                  <a16:creationId xmlns:a16="http://schemas.microsoft.com/office/drawing/2014/main" id="{EF8FCD92-EB5D-4490-A15C-E269F554625D}"/>
                </a:ext>
              </a:extLst>
            </p:cNvPr>
            <p:cNvSpPr txBox="1">
              <a:spLocks/>
            </p:cNvSpPr>
            <p:nvPr/>
          </p:nvSpPr>
          <p:spPr>
            <a:xfrm>
              <a:off x="8980280" y="4726594"/>
              <a:ext cx="2104330" cy="28152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오차 등분산성 가정</a:t>
              </a:r>
              <a:endParaRPr lang="ko-KR" altLang="en-US" sz="13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FAFA58C5-FB14-40A1-9444-FDCED926B8AD}"/>
                </a:ext>
              </a:extLst>
            </p:cNvPr>
            <p:cNvGrpSpPr/>
            <p:nvPr/>
          </p:nvGrpSpPr>
          <p:grpSpPr>
            <a:xfrm>
              <a:off x="8382930" y="4647981"/>
              <a:ext cx="484428" cy="438747"/>
              <a:chOff x="8382930" y="4595703"/>
              <a:chExt cx="484428" cy="438747"/>
            </a:xfrm>
          </p:grpSpPr>
          <p:sp>
            <p:nvSpPr>
              <p:cNvPr id="109" name="타원 108">
                <a:extLst>
                  <a:ext uri="{FF2B5EF4-FFF2-40B4-BE49-F238E27FC236}">
                    <a16:creationId xmlns:a16="http://schemas.microsoft.com/office/drawing/2014/main" id="{91B8D382-F2DC-4191-B88F-7AE2073AD644}"/>
                  </a:ext>
                </a:extLst>
              </p:cNvPr>
              <p:cNvSpPr/>
              <p:nvPr/>
            </p:nvSpPr>
            <p:spPr>
              <a:xfrm>
                <a:off x="8405771" y="4595703"/>
                <a:ext cx="438747" cy="438747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009C021C-D23C-4704-92FA-35A7EF270784}"/>
                  </a:ext>
                </a:extLst>
              </p:cNvPr>
              <p:cNvSpPr txBox="1"/>
              <p:nvPr/>
            </p:nvSpPr>
            <p:spPr>
              <a:xfrm>
                <a:off x="8382930" y="4630410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3.3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CE389EAC-DF4E-49F8-8323-C489EE83B7CE}"/>
              </a:ext>
            </a:extLst>
          </p:cNvPr>
          <p:cNvGrpSpPr/>
          <p:nvPr/>
        </p:nvGrpSpPr>
        <p:grpSpPr>
          <a:xfrm>
            <a:off x="8382930" y="3700350"/>
            <a:ext cx="2872331" cy="438747"/>
            <a:chOff x="8382930" y="6278663"/>
            <a:chExt cx="2872331" cy="438747"/>
          </a:xfrm>
        </p:grpSpPr>
        <p:sp>
          <p:nvSpPr>
            <p:cNvPr id="113" name="내용 개체 틀 17">
              <a:extLst>
                <a:ext uri="{FF2B5EF4-FFF2-40B4-BE49-F238E27FC236}">
                  <a16:creationId xmlns:a16="http://schemas.microsoft.com/office/drawing/2014/main" id="{AEB0ADD0-771E-4AD1-BE7F-8995A8277FD4}"/>
                </a:ext>
              </a:extLst>
            </p:cNvPr>
            <p:cNvSpPr txBox="1">
              <a:spLocks/>
            </p:cNvSpPr>
            <p:nvPr/>
          </p:nvSpPr>
          <p:spPr>
            <a:xfrm>
              <a:off x="8980281" y="6357276"/>
              <a:ext cx="2274980" cy="28152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오차 정규성 검증</a:t>
              </a:r>
              <a:endParaRPr lang="ko-KR" altLang="en-US" sz="13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9E013083-43E6-427F-861A-B02569E523BE}"/>
                </a:ext>
              </a:extLst>
            </p:cNvPr>
            <p:cNvGrpSpPr/>
            <p:nvPr/>
          </p:nvGrpSpPr>
          <p:grpSpPr>
            <a:xfrm>
              <a:off x="8382930" y="6278663"/>
              <a:ext cx="484428" cy="438747"/>
              <a:chOff x="8382930" y="5988957"/>
              <a:chExt cx="484428" cy="438747"/>
            </a:xfrm>
          </p:grpSpPr>
          <p:sp>
            <p:nvSpPr>
              <p:cNvPr id="116" name="타원 115">
                <a:extLst>
                  <a:ext uri="{FF2B5EF4-FFF2-40B4-BE49-F238E27FC236}">
                    <a16:creationId xmlns:a16="http://schemas.microsoft.com/office/drawing/2014/main" id="{B8D9CD3F-7779-4264-9B79-38CDF1C1A116}"/>
                  </a:ext>
                </a:extLst>
              </p:cNvPr>
              <p:cNvSpPr/>
              <p:nvPr/>
            </p:nvSpPr>
            <p:spPr>
              <a:xfrm>
                <a:off x="8405771" y="5988957"/>
                <a:ext cx="438747" cy="438747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6A383F17-9392-4E21-A4A7-F6899E881A30}"/>
                  </a:ext>
                </a:extLst>
              </p:cNvPr>
              <p:cNvSpPr txBox="1"/>
              <p:nvPr/>
            </p:nvSpPr>
            <p:spPr>
              <a:xfrm>
                <a:off x="8382930" y="6023664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3.4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20" name="제목 3">
            <a:extLst>
              <a:ext uri="{FF2B5EF4-FFF2-40B4-BE49-F238E27FC236}">
                <a16:creationId xmlns:a16="http://schemas.microsoft.com/office/drawing/2014/main" id="{2F1803D4-F98C-4EF6-9CA2-92A7D4C87FE3}"/>
              </a:ext>
            </a:extLst>
          </p:cNvPr>
          <p:cNvSpPr txBox="1">
            <a:spLocks/>
          </p:cNvSpPr>
          <p:nvPr/>
        </p:nvSpPr>
        <p:spPr>
          <a:xfrm>
            <a:off x="8022433" y="4995407"/>
            <a:ext cx="4169567" cy="44010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97500"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800" b="1" kern="1200" noProof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altLang="ko-KR" sz="2000"/>
              <a:t>4. </a:t>
            </a:r>
            <a:r>
              <a:rPr lang="ko-KR" altLang="en-US" sz="2000">
                <a:cs typeface="Segoe UI" panose="020B0502040204020203" pitchFamily="34" charset="0"/>
              </a:rPr>
              <a:t>최종모형식 및 예측값 산출</a:t>
            </a:r>
            <a:endParaRPr lang="ko-KR" altLang="en-US" sz="200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AAFF641-F65A-4294-88E2-E7785D4D0112}"/>
              </a:ext>
            </a:extLst>
          </p:cNvPr>
          <p:cNvGrpSpPr/>
          <p:nvPr/>
        </p:nvGrpSpPr>
        <p:grpSpPr>
          <a:xfrm>
            <a:off x="8382930" y="5625840"/>
            <a:ext cx="3230464" cy="613516"/>
            <a:chOff x="8472009" y="5625840"/>
            <a:chExt cx="3230464" cy="613516"/>
          </a:xfrm>
        </p:grpSpPr>
        <p:sp>
          <p:nvSpPr>
            <p:cNvPr id="121" name="내용 개체 틀 17">
              <a:extLst>
                <a:ext uri="{FF2B5EF4-FFF2-40B4-BE49-F238E27FC236}">
                  <a16:creationId xmlns:a16="http://schemas.microsoft.com/office/drawing/2014/main" id="{DFE49F13-C87C-4CE1-B72B-D4931306F1E4}"/>
                </a:ext>
              </a:extLst>
            </p:cNvPr>
            <p:cNvSpPr txBox="1">
              <a:spLocks/>
            </p:cNvSpPr>
            <p:nvPr/>
          </p:nvSpPr>
          <p:spPr>
            <a:xfrm>
              <a:off x="9069359" y="5625840"/>
              <a:ext cx="2633114" cy="6135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예측값 산출 및 </a:t>
              </a:r>
              <a: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Gap* </a:t>
              </a: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차이 분석</a:t>
              </a:r>
              <a:b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en-US" altLang="ko-KR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(*Gap = Y_</a:t>
              </a:r>
              <a:r>
                <a:rPr lang="ko-KR" altLang="en-US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실제값 </a:t>
              </a:r>
              <a:r>
                <a:rPr lang="en-US" altLang="ko-KR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– Y^_</a:t>
              </a:r>
              <a:r>
                <a:rPr lang="ko-KR" altLang="en-US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예측값</a:t>
              </a:r>
              <a:r>
                <a:rPr lang="en-US" altLang="ko-KR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)</a:t>
              </a:r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40A0D0FD-8C8A-4FDC-A7F1-DC61869B8728}"/>
                </a:ext>
              </a:extLst>
            </p:cNvPr>
            <p:cNvSpPr/>
            <p:nvPr/>
          </p:nvSpPr>
          <p:spPr>
            <a:xfrm>
              <a:off x="8494850" y="5713225"/>
              <a:ext cx="438747" cy="438747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CA87A528-0C63-443C-8784-97A3F7B62967}"/>
                </a:ext>
              </a:extLst>
            </p:cNvPr>
            <p:cNvSpPr txBox="1"/>
            <p:nvPr/>
          </p:nvSpPr>
          <p:spPr>
            <a:xfrm>
              <a:off x="8472009" y="5747932"/>
              <a:ext cx="4844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solidFill>
                    <a:schemeClr val="bg1"/>
                  </a:solidFill>
                </a:rPr>
                <a:t>4.1</a:t>
              </a:r>
              <a:endParaRPr lang="ko-KR" alt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175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77476" y="686258"/>
            <a:ext cx="11837048" cy="440105"/>
          </a:xfrm>
        </p:spPr>
        <p:txBody>
          <a:bodyPr rtlCol="0">
            <a:normAutofit fontScale="90000"/>
          </a:bodyPr>
          <a:lstStyle/>
          <a:p>
            <a:r>
              <a:rPr lang="en-US" altLang="ko-KR" sz="2000" b="1">
                <a:cs typeface="Segoe UI Light" panose="020B0502040204020203" pitchFamily="34" charset="0"/>
              </a:rPr>
              <a:t>1. </a:t>
            </a:r>
            <a:r>
              <a:rPr lang="ko-KR" altLang="en-US" sz="2000" b="1">
                <a:cs typeface="Segoe UI Light" panose="020B0502040204020203" pitchFamily="34" charset="0"/>
              </a:rPr>
              <a:t>탐색적 데이터 분석                   </a:t>
            </a:r>
            <a:r>
              <a:rPr lang="en-US" altLang="ko-KR" sz="2000" b="1">
                <a:cs typeface="Segoe UI Light" panose="020B0502040204020203" pitchFamily="34" charset="0"/>
              </a:rPr>
              <a:t>2. </a:t>
            </a:r>
            <a:r>
              <a:rPr lang="ko-KR" altLang="en-US" sz="2000" b="1">
                <a:cs typeface="Segoe UI Light" panose="020B0502040204020203" pitchFamily="34" charset="0"/>
              </a:rPr>
              <a:t>다중회귀분석 모델링 순서                 </a:t>
            </a:r>
            <a:r>
              <a:rPr lang="en-US" altLang="ko-KR" sz="2000">
                <a:cs typeface="Segoe UI Light" panose="020B0502040204020203" pitchFamily="34" charset="0"/>
              </a:rPr>
              <a:t>3. </a:t>
            </a:r>
            <a:r>
              <a:rPr lang="ko-KR" altLang="en-US" sz="20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오차항에 관한 </a:t>
            </a:r>
            <a:r>
              <a:rPr lang="en-US" altLang="ko-KR" sz="20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4</a:t>
            </a:r>
            <a:r>
              <a:rPr lang="ko-KR" altLang="en-US" sz="20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가지 가정 검증</a:t>
            </a:r>
            <a:endParaRPr lang="ko-KR" altLang="en-US" sz="2000" b="1" dirty="0">
              <a:cs typeface="Segoe UI Light" panose="020B0502040204020203" pitchFamily="34" charset="0"/>
            </a:endParaRPr>
          </a:p>
        </p:txBody>
      </p: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2F42CB79-6F1A-4794-AAED-D7CE105D6CCB}"/>
              </a:ext>
            </a:extLst>
          </p:cNvPr>
          <p:cNvGrpSpPr/>
          <p:nvPr/>
        </p:nvGrpSpPr>
        <p:grpSpPr>
          <a:xfrm>
            <a:off x="266555" y="1386617"/>
            <a:ext cx="3616724" cy="5330793"/>
            <a:chOff x="266555" y="1386617"/>
            <a:chExt cx="3616724" cy="5330793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34EB147B-B36F-4C78-A849-4E49D3CC09FC}"/>
                </a:ext>
              </a:extLst>
            </p:cNvPr>
            <p:cNvGrpSpPr/>
            <p:nvPr/>
          </p:nvGrpSpPr>
          <p:grpSpPr>
            <a:xfrm>
              <a:off x="266555" y="5824858"/>
              <a:ext cx="2376000" cy="892552"/>
              <a:chOff x="339798" y="5786432"/>
              <a:chExt cx="2376000" cy="892552"/>
            </a:xfrm>
          </p:grpSpPr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BDC67CB3-F937-4EB0-A931-F0531BE4CA86}"/>
                  </a:ext>
                </a:extLst>
              </p:cNvPr>
              <p:cNvGrpSpPr/>
              <p:nvPr/>
            </p:nvGrpSpPr>
            <p:grpSpPr>
              <a:xfrm>
                <a:off x="339798" y="6013335"/>
                <a:ext cx="484428" cy="438747"/>
                <a:chOff x="493337" y="1831975"/>
                <a:chExt cx="484428" cy="438747"/>
              </a:xfrm>
            </p:grpSpPr>
            <p:sp>
              <p:nvSpPr>
                <p:cNvPr id="31" name="타원 30">
                  <a:extLst>
                    <a:ext uri="{FF2B5EF4-FFF2-40B4-BE49-F238E27FC236}">
                      <a16:creationId xmlns:a16="http://schemas.microsoft.com/office/drawing/2014/main" id="{7C472609-FC03-4AD9-9BB1-D69AEAE2828E}"/>
                    </a:ext>
                  </a:extLst>
                </p:cNvPr>
                <p:cNvSpPr/>
                <p:nvPr/>
              </p:nvSpPr>
              <p:spPr>
                <a:xfrm>
                  <a:off x="516178" y="1831975"/>
                  <a:ext cx="438747" cy="438747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/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224305F-B682-4D40-9B0C-2994DF10A296}"/>
                    </a:ext>
                  </a:extLst>
                </p:cNvPr>
                <p:cNvSpPr txBox="1"/>
                <p:nvPr/>
              </p:nvSpPr>
              <p:spPr>
                <a:xfrm>
                  <a:off x="493337" y="1866682"/>
                  <a:ext cx="4844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>
                      <a:solidFill>
                        <a:schemeClr val="bg1"/>
                      </a:solidFill>
                    </a:rPr>
                    <a:t>1.3</a:t>
                  </a:r>
                  <a:endParaRPr lang="ko-KR" alt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CC85F1A-0C79-4F53-B218-1D36C1E2E039}"/>
                  </a:ext>
                </a:extLst>
              </p:cNvPr>
              <p:cNvSpPr txBox="1"/>
              <p:nvPr/>
            </p:nvSpPr>
            <p:spPr>
              <a:xfrm>
                <a:off x="828743" y="5786432"/>
                <a:ext cx="1887055" cy="892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b="1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Y</a:t>
                </a:r>
                <a:r>
                  <a:rPr lang="ko-KR" altLang="en-US" sz="1600" b="1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종속변수분석</a:t>
                </a:r>
                <a:br>
                  <a:rPr lang="en-US" altLang="ko-KR" sz="1600" b="1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</a:br>
                <a:r>
                  <a:rPr lang="en-US" altLang="ko-KR" sz="12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Y</a:t>
                </a:r>
                <a:r>
                  <a:rPr lang="ko-KR" altLang="en-US" sz="12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변수 탐색적 분석 </a:t>
                </a:r>
                <a:r>
                  <a:rPr lang="en-US" altLang="ko-KR" sz="12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: </a:t>
                </a:r>
              </a:p>
              <a:p>
                <a:r>
                  <a:rPr lang="ko-KR" altLang="en-US" sz="12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살인율 평균 </a:t>
                </a:r>
                <a:r>
                  <a:rPr lang="en-US" altLang="ko-KR" sz="12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7.38% </a:t>
                </a:r>
                <a:r>
                  <a:rPr lang="ko-KR" altLang="en-US" sz="12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등 </a:t>
                </a:r>
                <a:endParaRPr lang="en-US" altLang="ko-KR" sz="1200"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endParaRPr>
              </a:p>
              <a:p>
                <a:r>
                  <a:rPr lang="ko-KR" altLang="en-US" sz="12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요약통계량 및 분포 분석</a:t>
                </a:r>
              </a:p>
            </p:txBody>
          </p:sp>
        </p:grp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2657FD7F-FB2E-439D-9A16-6D49A79E5408}"/>
                </a:ext>
              </a:extLst>
            </p:cNvPr>
            <p:cNvGrpSpPr/>
            <p:nvPr/>
          </p:nvGrpSpPr>
          <p:grpSpPr>
            <a:xfrm>
              <a:off x="266555" y="1386617"/>
              <a:ext cx="3616724" cy="846386"/>
              <a:chOff x="339798" y="1555779"/>
              <a:chExt cx="3616724" cy="846386"/>
            </a:xfrm>
          </p:grpSpPr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30B06436-94CA-499F-9E59-CBA64FEC68FB}"/>
                  </a:ext>
                </a:extLst>
              </p:cNvPr>
              <p:cNvGrpSpPr/>
              <p:nvPr/>
            </p:nvGrpSpPr>
            <p:grpSpPr>
              <a:xfrm>
                <a:off x="339798" y="1759599"/>
                <a:ext cx="484428" cy="438747"/>
                <a:chOff x="493337" y="1831975"/>
                <a:chExt cx="484428" cy="438747"/>
              </a:xfrm>
            </p:grpSpPr>
            <p:sp>
              <p:nvSpPr>
                <p:cNvPr id="84" name="타원 83">
                  <a:extLst>
                    <a:ext uri="{FF2B5EF4-FFF2-40B4-BE49-F238E27FC236}">
                      <a16:creationId xmlns:a16="http://schemas.microsoft.com/office/drawing/2014/main" id="{F95CD613-4E9C-4EC0-9821-0E52ADECB52A}"/>
                    </a:ext>
                  </a:extLst>
                </p:cNvPr>
                <p:cNvSpPr/>
                <p:nvPr/>
              </p:nvSpPr>
              <p:spPr>
                <a:xfrm>
                  <a:off x="516178" y="1831975"/>
                  <a:ext cx="438747" cy="438747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/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5CE91D46-654E-440E-8D74-E3F3F748F6D7}"/>
                    </a:ext>
                  </a:extLst>
                </p:cNvPr>
                <p:cNvSpPr txBox="1"/>
                <p:nvPr/>
              </p:nvSpPr>
              <p:spPr>
                <a:xfrm>
                  <a:off x="493337" y="1866682"/>
                  <a:ext cx="4844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>
                      <a:solidFill>
                        <a:schemeClr val="bg1"/>
                      </a:solidFill>
                    </a:rPr>
                    <a:t>1.1</a:t>
                  </a:r>
                  <a:endParaRPr lang="ko-KR" alt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BD7C68A9-21A9-48E3-8496-482C8E7F3612}"/>
                  </a:ext>
                </a:extLst>
              </p:cNvPr>
              <p:cNvSpPr txBox="1"/>
              <p:nvPr/>
            </p:nvSpPr>
            <p:spPr>
              <a:xfrm>
                <a:off x="828743" y="1555779"/>
                <a:ext cx="3127779" cy="846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600" b="1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시각화</a:t>
                </a:r>
                <a:br>
                  <a:rPr lang="en-US" altLang="ko-KR" sz="1600" b="1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</a:b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Y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변수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(Murder(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미국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50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개주 살인율 </a:t>
                </a:r>
                <a:b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</a:b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예측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)) 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예측에 유효한 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X 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설명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(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원인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)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변수 파악 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:  </a:t>
                </a:r>
                <a:b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</a:b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X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유효변수의 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Y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간 상관관계검증 활용방안</a:t>
                </a:r>
                <a:endParaRPr lang="ko-KR" altLang="en-US" sz="1600" b="1"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endParaRPr>
              </a:p>
            </p:txBody>
          </p:sp>
        </p:grp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55B8599F-2F93-4942-8FD5-706F0EA0C6A0}"/>
                </a:ext>
              </a:extLst>
            </p:cNvPr>
            <p:cNvGrpSpPr/>
            <p:nvPr/>
          </p:nvGrpSpPr>
          <p:grpSpPr>
            <a:xfrm>
              <a:off x="266555" y="3605737"/>
              <a:ext cx="3479842" cy="846386"/>
              <a:chOff x="339798" y="3671106"/>
              <a:chExt cx="3479842" cy="846386"/>
            </a:xfrm>
          </p:grpSpPr>
          <p:grpSp>
            <p:nvGrpSpPr>
              <p:cNvPr id="87" name="그룹 86">
                <a:extLst>
                  <a:ext uri="{FF2B5EF4-FFF2-40B4-BE49-F238E27FC236}">
                    <a16:creationId xmlns:a16="http://schemas.microsoft.com/office/drawing/2014/main" id="{DBA6992B-6D07-4805-936E-A641719B6F00}"/>
                  </a:ext>
                </a:extLst>
              </p:cNvPr>
              <p:cNvGrpSpPr/>
              <p:nvPr/>
            </p:nvGrpSpPr>
            <p:grpSpPr>
              <a:xfrm>
                <a:off x="339798" y="3874926"/>
                <a:ext cx="484428" cy="438747"/>
                <a:chOff x="493337" y="1831975"/>
                <a:chExt cx="484428" cy="438747"/>
              </a:xfrm>
            </p:grpSpPr>
            <p:sp>
              <p:nvSpPr>
                <p:cNvPr id="89" name="타원 88">
                  <a:extLst>
                    <a:ext uri="{FF2B5EF4-FFF2-40B4-BE49-F238E27FC236}">
                      <a16:creationId xmlns:a16="http://schemas.microsoft.com/office/drawing/2014/main" id="{FDE91BC5-A9D7-47AE-BC50-017970778FC3}"/>
                    </a:ext>
                  </a:extLst>
                </p:cNvPr>
                <p:cNvSpPr/>
                <p:nvPr/>
              </p:nvSpPr>
              <p:spPr>
                <a:xfrm>
                  <a:off x="516178" y="1831975"/>
                  <a:ext cx="438747" cy="438747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/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E24AEB87-6FE2-40F9-B14E-F9ED8936F061}"/>
                    </a:ext>
                  </a:extLst>
                </p:cNvPr>
                <p:cNvSpPr txBox="1"/>
                <p:nvPr/>
              </p:nvSpPr>
              <p:spPr>
                <a:xfrm>
                  <a:off x="493337" y="1866682"/>
                  <a:ext cx="4844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>
                      <a:solidFill>
                        <a:schemeClr val="bg1"/>
                      </a:solidFill>
                    </a:rPr>
                    <a:t>1.2</a:t>
                  </a:r>
                  <a:endParaRPr lang="ko-KR" alt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57CDBCF-8A06-40DC-A36E-83B71EA96765}"/>
                  </a:ext>
                </a:extLst>
              </p:cNvPr>
              <p:cNvSpPr txBox="1"/>
              <p:nvPr/>
            </p:nvSpPr>
            <p:spPr>
              <a:xfrm>
                <a:off x="828743" y="3671106"/>
                <a:ext cx="2990897" cy="846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b="1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상관관계분석</a:t>
                </a:r>
                <a:br>
                  <a:rPr lang="en-US" altLang="ko-KR" sz="1200" b="1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</a:b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Y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변수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(Murder(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미국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50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개주 살인율 </a:t>
                </a:r>
                <a:b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</a:b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예측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)) 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예측에 유효한 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X 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설명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(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원인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)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변수 파악 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:  </a:t>
                </a:r>
                <a:b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</a:b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X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유효변수의 </a:t>
                </a:r>
                <a:r>
                  <a:rPr lang="en-US" altLang="ko-KR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Y</a:t>
                </a:r>
                <a:r>
                  <a:rPr lang="ko-KR" altLang="en-US" sz="1100"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간 상관관계검증 활용방안</a:t>
                </a:r>
                <a:endParaRPr lang="ko-KR" altLang="en-US" sz="1200"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endParaRPr>
              </a:p>
            </p:txBody>
          </p:sp>
        </p:grp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86530DF-F6F5-43C4-9793-A9382AFBFC44}"/>
              </a:ext>
            </a:extLst>
          </p:cNvPr>
          <p:cNvGrpSpPr/>
          <p:nvPr/>
        </p:nvGrpSpPr>
        <p:grpSpPr>
          <a:xfrm>
            <a:off x="0" y="-17527"/>
            <a:ext cx="2798618" cy="499454"/>
            <a:chOff x="0" y="-17527"/>
            <a:chExt cx="1985818" cy="499454"/>
          </a:xfrm>
        </p:grpSpPr>
        <p:sp>
          <p:nvSpPr>
            <p:cNvPr id="48" name="사각형: 둥근 한쪽 모서리 47">
              <a:extLst>
                <a:ext uri="{FF2B5EF4-FFF2-40B4-BE49-F238E27FC236}">
                  <a16:creationId xmlns:a16="http://schemas.microsoft.com/office/drawing/2014/main" id="{29E9CC8A-DF03-47D6-9854-04353B928A0D}"/>
                </a:ext>
              </a:extLst>
            </p:cNvPr>
            <p:cNvSpPr/>
            <p:nvPr/>
          </p:nvSpPr>
          <p:spPr>
            <a:xfrm rot="10800000" flipH="1">
              <a:off x="0" y="-1"/>
              <a:ext cx="1985818" cy="481928"/>
            </a:xfrm>
            <a:prstGeom prst="round1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0B2B052-6800-49F8-AECC-F55D59FDFCF6}"/>
                </a:ext>
              </a:extLst>
            </p:cNvPr>
            <p:cNvSpPr txBox="1"/>
            <p:nvPr/>
          </p:nvSpPr>
          <p:spPr>
            <a:xfrm>
              <a:off x="851351" y="-17527"/>
              <a:ext cx="10757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</a:rPr>
                <a:t>Contents</a:t>
              </a:r>
              <a:endParaRPr lang="ko-KR" altLang="en-US" sz="24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DF9351F6-20B7-413C-9134-61F568033D81}"/>
              </a:ext>
            </a:extLst>
          </p:cNvPr>
          <p:cNvGrpSpPr/>
          <p:nvPr/>
        </p:nvGrpSpPr>
        <p:grpSpPr>
          <a:xfrm>
            <a:off x="3949475" y="1386617"/>
            <a:ext cx="4323903" cy="5330793"/>
            <a:chOff x="3949475" y="1386617"/>
            <a:chExt cx="4323903" cy="5330793"/>
          </a:xfrm>
        </p:grpSpPr>
        <p:sp>
          <p:nvSpPr>
            <p:cNvPr id="21" name="내용 개체 틀 17"/>
            <p:cNvSpPr txBox="1">
              <a:spLocks/>
            </p:cNvSpPr>
            <p:nvPr/>
          </p:nvSpPr>
          <p:spPr>
            <a:xfrm>
              <a:off x="4492770" y="1386617"/>
              <a:ext cx="2815035" cy="45348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완전모형</a:t>
              </a:r>
              <a: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(</a:t>
              </a: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모든</a:t>
              </a:r>
              <a: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x</a:t>
              </a: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변수 투입</a:t>
              </a:r>
              <a: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)</a:t>
              </a: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으로 </a:t>
              </a:r>
              <a:b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1</a:t>
              </a: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차 선형모형식 산출</a:t>
              </a:r>
              <a:endParaRPr lang="ko-KR" altLang="en-US" sz="1300" b="1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1CAF7FF9-660E-4287-82B1-5D7A583ADBEC}"/>
                </a:ext>
              </a:extLst>
            </p:cNvPr>
            <p:cNvGrpSpPr/>
            <p:nvPr/>
          </p:nvGrpSpPr>
          <p:grpSpPr>
            <a:xfrm>
              <a:off x="3949475" y="1393985"/>
              <a:ext cx="484428" cy="438747"/>
              <a:chOff x="3949475" y="1766642"/>
              <a:chExt cx="484428" cy="438747"/>
            </a:xfrm>
          </p:grpSpPr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8D5D4736-EF5B-4105-AF73-DE3EF144994C}"/>
                  </a:ext>
                </a:extLst>
              </p:cNvPr>
              <p:cNvSpPr/>
              <p:nvPr/>
            </p:nvSpPr>
            <p:spPr>
              <a:xfrm>
                <a:off x="3972316" y="1766642"/>
                <a:ext cx="438747" cy="4387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BC35FAC9-10B8-4DB7-94D8-58D13F09AFD4}"/>
                  </a:ext>
                </a:extLst>
              </p:cNvPr>
              <p:cNvSpPr txBox="1"/>
              <p:nvPr/>
            </p:nvSpPr>
            <p:spPr>
              <a:xfrm>
                <a:off x="3949475" y="1801349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2.1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6" name="내용 개체 틀 17">
              <a:extLst>
                <a:ext uri="{FF2B5EF4-FFF2-40B4-BE49-F238E27FC236}">
                  <a16:creationId xmlns:a16="http://schemas.microsoft.com/office/drawing/2014/main" id="{AB205E41-8DA1-47D7-B55E-5381544160D5}"/>
                </a:ext>
              </a:extLst>
            </p:cNvPr>
            <p:cNvSpPr txBox="1">
              <a:spLocks/>
            </p:cNvSpPr>
            <p:nvPr/>
          </p:nvSpPr>
          <p:spPr>
            <a:xfrm>
              <a:off x="4530893" y="2061263"/>
              <a:ext cx="3593238" cy="126654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X</a:t>
              </a: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변수들간의 </a:t>
              </a:r>
              <a:r>
                <a:rPr lang="ko-KR" altLang="en-US" sz="1300" b="1" u="sng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다중공선성</a:t>
              </a: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 이슈 해결 </a:t>
              </a:r>
              <a:b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(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목적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) 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예측</a:t>
              </a:r>
              <a:r>
                <a:rPr lang="en-US" altLang="ko-KR" sz="1050" dirty="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/</a:t>
              </a:r>
              <a:r>
                <a:rPr lang="ko-KR" altLang="en-US" sz="1050" dirty="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추정 모형식 </a:t>
              </a:r>
              <a:r>
                <a:rPr lang="ko-KR" altLang="en-US" sz="1050" dirty="0" err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회귀계수값의</a:t>
              </a:r>
              <a:r>
                <a:rPr lang="ko-KR" altLang="en-US" sz="1050" dirty="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 신뢰도 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하락 방지</a:t>
              </a:r>
              <a:b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(1) car:vif(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모형식명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)&gt;10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인 변수 제거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, 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잔여후보변수들이</a:t>
              </a:r>
              <a:b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    car:vif(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모형식명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)&lt;10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이 될 때까지 변수 제거 </a:t>
              </a:r>
              <a:b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(2) 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최종후보모형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/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채택변수가 됨</a:t>
              </a:r>
              <a:endParaRPr lang="en-US" altLang="ko-KR" sz="11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131" name="그룹 130">
              <a:extLst>
                <a:ext uri="{FF2B5EF4-FFF2-40B4-BE49-F238E27FC236}">
                  <a16:creationId xmlns:a16="http://schemas.microsoft.com/office/drawing/2014/main" id="{FE6FD0DE-2401-492E-A2CB-B715B0AE1F09}"/>
                </a:ext>
              </a:extLst>
            </p:cNvPr>
            <p:cNvGrpSpPr/>
            <p:nvPr/>
          </p:nvGrpSpPr>
          <p:grpSpPr>
            <a:xfrm>
              <a:off x="3949475" y="2475161"/>
              <a:ext cx="484428" cy="438747"/>
              <a:chOff x="3949475" y="1766642"/>
              <a:chExt cx="484428" cy="438747"/>
            </a:xfrm>
          </p:grpSpPr>
          <p:sp>
            <p:nvSpPr>
              <p:cNvPr id="132" name="타원 131">
                <a:extLst>
                  <a:ext uri="{FF2B5EF4-FFF2-40B4-BE49-F238E27FC236}">
                    <a16:creationId xmlns:a16="http://schemas.microsoft.com/office/drawing/2014/main" id="{650638A1-6FC6-47A8-9039-D927CA410E87}"/>
                  </a:ext>
                </a:extLst>
              </p:cNvPr>
              <p:cNvSpPr/>
              <p:nvPr/>
            </p:nvSpPr>
            <p:spPr>
              <a:xfrm>
                <a:off x="3972316" y="1766642"/>
                <a:ext cx="438747" cy="4387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8B4A58B3-5BD3-4796-B6F5-D4B2562A9818}"/>
                  </a:ext>
                </a:extLst>
              </p:cNvPr>
              <p:cNvSpPr txBox="1"/>
              <p:nvPr/>
            </p:nvSpPr>
            <p:spPr>
              <a:xfrm>
                <a:off x="3949475" y="1801349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2.2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4" name="내용 개체 틀 17">
              <a:extLst>
                <a:ext uri="{FF2B5EF4-FFF2-40B4-BE49-F238E27FC236}">
                  <a16:creationId xmlns:a16="http://schemas.microsoft.com/office/drawing/2014/main" id="{376453AC-B87E-4223-9FEF-F4018F4A0655}"/>
                </a:ext>
              </a:extLst>
            </p:cNvPr>
            <p:cNvSpPr txBox="1">
              <a:spLocks/>
            </p:cNvSpPr>
            <p:nvPr/>
          </p:nvSpPr>
          <p:spPr>
            <a:xfrm>
              <a:off x="4530893" y="3548969"/>
              <a:ext cx="3742485" cy="45348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변수선택법 적용을 통한 </a:t>
              </a:r>
              <a:b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불필요한 </a:t>
              </a:r>
              <a: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X</a:t>
              </a: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변수 제거 </a:t>
              </a:r>
              <a: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: </a:t>
              </a:r>
              <a:r>
                <a:rPr lang="en-US" altLang="ko-KR" sz="13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step(</a:t>
              </a:r>
              <a:r>
                <a:rPr lang="ko-KR" altLang="en-US" sz="13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모형식명</a:t>
              </a:r>
              <a:r>
                <a:rPr lang="en-US" altLang="ko-KR" sz="13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)</a:t>
              </a:r>
              <a:endParaRPr lang="ko-KR" altLang="en-US" sz="1300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134" name="그룹 133">
              <a:extLst>
                <a:ext uri="{FF2B5EF4-FFF2-40B4-BE49-F238E27FC236}">
                  <a16:creationId xmlns:a16="http://schemas.microsoft.com/office/drawing/2014/main" id="{B7A66D93-C958-49FA-8A67-D878A3A51090}"/>
                </a:ext>
              </a:extLst>
            </p:cNvPr>
            <p:cNvGrpSpPr/>
            <p:nvPr/>
          </p:nvGrpSpPr>
          <p:grpSpPr>
            <a:xfrm>
              <a:off x="3949475" y="3556337"/>
              <a:ext cx="484428" cy="438747"/>
              <a:chOff x="3949475" y="1766642"/>
              <a:chExt cx="484428" cy="438747"/>
            </a:xfrm>
          </p:grpSpPr>
          <p:sp>
            <p:nvSpPr>
              <p:cNvPr id="135" name="타원 134">
                <a:extLst>
                  <a:ext uri="{FF2B5EF4-FFF2-40B4-BE49-F238E27FC236}">
                    <a16:creationId xmlns:a16="http://schemas.microsoft.com/office/drawing/2014/main" id="{48382935-34E3-4E22-83BE-B81DAE117A9C}"/>
                  </a:ext>
                </a:extLst>
              </p:cNvPr>
              <p:cNvSpPr/>
              <p:nvPr/>
            </p:nvSpPr>
            <p:spPr>
              <a:xfrm>
                <a:off x="3972316" y="1766642"/>
                <a:ext cx="438747" cy="4387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F718DA65-EC30-4C5B-A442-9BF4A4A9D91A}"/>
                  </a:ext>
                </a:extLst>
              </p:cNvPr>
              <p:cNvSpPr txBox="1"/>
              <p:nvPr/>
            </p:nvSpPr>
            <p:spPr>
              <a:xfrm>
                <a:off x="3949475" y="1801349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2.3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8" name="내용 개체 틀 17">
              <a:extLst>
                <a:ext uri="{FF2B5EF4-FFF2-40B4-BE49-F238E27FC236}">
                  <a16:creationId xmlns:a16="http://schemas.microsoft.com/office/drawing/2014/main" id="{1780E162-766C-4C2F-9169-11C03D368C58}"/>
                </a:ext>
              </a:extLst>
            </p:cNvPr>
            <p:cNvSpPr txBox="1">
              <a:spLocks/>
            </p:cNvSpPr>
            <p:nvPr/>
          </p:nvSpPr>
          <p:spPr>
            <a:xfrm>
              <a:off x="4530893" y="4223615"/>
              <a:ext cx="3742485" cy="117397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2</a:t>
              </a: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차다중공선성 체크</a:t>
              </a:r>
              <a:b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(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이후 수정모형 변경 후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, 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다중공선성 제거 시 까지 반복실행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)</a:t>
              </a:r>
              <a:b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(1) car:vif(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모형식명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)&gt;10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인 변수 제거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, 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잔여후보변수들이</a:t>
              </a:r>
              <a:b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    car:vif(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모형식명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)&lt;10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이 될 때까지 변수 제거 </a:t>
              </a:r>
              <a:b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(2) 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최종후보모형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/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채택변수가 됨</a:t>
              </a:r>
              <a:endParaRPr lang="en-US" altLang="ko-KR" sz="105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493EEF06-6AF4-4008-A16D-392797BB0184}"/>
                </a:ext>
              </a:extLst>
            </p:cNvPr>
            <p:cNvGrpSpPr/>
            <p:nvPr/>
          </p:nvGrpSpPr>
          <p:grpSpPr>
            <a:xfrm>
              <a:off x="3949475" y="4591229"/>
              <a:ext cx="484428" cy="438747"/>
              <a:chOff x="3949475" y="1766642"/>
              <a:chExt cx="484428" cy="438747"/>
            </a:xfrm>
          </p:grpSpPr>
          <p:sp>
            <p:nvSpPr>
              <p:cNvPr id="138" name="타원 137">
                <a:extLst>
                  <a:ext uri="{FF2B5EF4-FFF2-40B4-BE49-F238E27FC236}">
                    <a16:creationId xmlns:a16="http://schemas.microsoft.com/office/drawing/2014/main" id="{00300FA8-1C9D-4B27-8C7D-E010E5199FE2}"/>
                  </a:ext>
                </a:extLst>
              </p:cNvPr>
              <p:cNvSpPr/>
              <p:nvPr/>
            </p:nvSpPr>
            <p:spPr>
              <a:xfrm>
                <a:off x="3972316" y="1766642"/>
                <a:ext cx="438747" cy="4387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C0D19811-64F1-45B6-B791-386C73E634E0}"/>
                  </a:ext>
                </a:extLst>
              </p:cNvPr>
              <p:cNvSpPr txBox="1"/>
              <p:nvPr/>
            </p:nvSpPr>
            <p:spPr>
              <a:xfrm>
                <a:off x="3949475" y="1801349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2.4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2" name="내용 개체 틀 17">
              <a:extLst>
                <a:ext uri="{FF2B5EF4-FFF2-40B4-BE49-F238E27FC236}">
                  <a16:creationId xmlns:a16="http://schemas.microsoft.com/office/drawing/2014/main" id="{BC79A694-F7CF-4DAB-A5EF-62C8D6FA9BB3}"/>
                </a:ext>
              </a:extLst>
            </p:cNvPr>
            <p:cNvSpPr txBox="1">
              <a:spLocks/>
            </p:cNvSpPr>
            <p:nvPr/>
          </p:nvSpPr>
          <p:spPr>
            <a:xfrm>
              <a:off x="4530893" y="5702611"/>
              <a:ext cx="2776912" cy="27103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이상치 제거 전 최종후보모형 결정</a:t>
              </a:r>
              <a:endParaRPr lang="ko-KR" altLang="en-US" sz="1300" b="1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E52DD070-E4FD-43BC-A009-36F311DCBD67}"/>
                </a:ext>
              </a:extLst>
            </p:cNvPr>
            <p:cNvGrpSpPr/>
            <p:nvPr/>
          </p:nvGrpSpPr>
          <p:grpSpPr>
            <a:xfrm>
              <a:off x="3949475" y="5618754"/>
              <a:ext cx="484428" cy="438747"/>
              <a:chOff x="3949475" y="1766642"/>
              <a:chExt cx="484428" cy="438747"/>
            </a:xfrm>
          </p:grpSpPr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E3DEC054-A6FF-4B43-AA58-C32666541B90}"/>
                  </a:ext>
                </a:extLst>
              </p:cNvPr>
              <p:cNvSpPr/>
              <p:nvPr/>
            </p:nvSpPr>
            <p:spPr>
              <a:xfrm>
                <a:off x="3972316" y="1766642"/>
                <a:ext cx="438747" cy="4387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E4494572-5111-4D44-9FD5-EBC5145CC5C2}"/>
                  </a:ext>
                </a:extLst>
              </p:cNvPr>
              <p:cNvSpPr txBox="1"/>
              <p:nvPr/>
            </p:nvSpPr>
            <p:spPr>
              <a:xfrm>
                <a:off x="3949475" y="1801349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2.5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71" name="내용 개체 틀 17">
              <a:extLst>
                <a:ext uri="{FF2B5EF4-FFF2-40B4-BE49-F238E27FC236}">
                  <a16:creationId xmlns:a16="http://schemas.microsoft.com/office/drawing/2014/main" id="{95C28F07-7455-426B-8AC0-2F3ACE642DD0}"/>
                </a:ext>
              </a:extLst>
            </p:cNvPr>
            <p:cNvSpPr txBox="1">
              <a:spLocks/>
            </p:cNvSpPr>
            <p:nvPr/>
          </p:nvSpPr>
          <p:spPr>
            <a:xfrm>
              <a:off x="4530893" y="6362520"/>
              <a:ext cx="2488743" cy="27103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이상치 제거 후 최종모형 결정</a:t>
              </a:r>
              <a:endParaRPr lang="ko-KR" altLang="en-US" sz="1300" b="1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172" name="그룹 171">
              <a:extLst>
                <a:ext uri="{FF2B5EF4-FFF2-40B4-BE49-F238E27FC236}">
                  <a16:creationId xmlns:a16="http://schemas.microsoft.com/office/drawing/2014/main" id="{187109AC-F210-42D8-8159-A6A1D2CAAD6A}"/>
                </a:ext>
              </a:extLst>
            </p:cNvPr>
            <p:cNvGrpSpPr/>
            <p:nvPr/>
          </p:nvGrpSpPr>
          <p:grpSpPr>
            <a:xfrm>
              <a:off x="3949475" y="6278663"/>
              <a:ext cx="484428" cy="438747"/>
              <a:chOff x="3949475" y="1766642"/>
              <a:chExt cx="484428" cy="438747"/>
            </a:xfrm>
          </p:grpSpPr>
          <p:sp>
            <p:nvSpPr>
              <p:cNvPr id="173" name="타원 172">
                <a:extLst>
                  <a:ext uri="{FF2B5EF4-FFF2-40B4-BE49-F238E27FC236}">
                    <a16:creationId xmlns:a16="http://schemas.microsoft.com/office/drawing/2014/main" id="{149D0388-87F1-44C3-93B0-60F474B0B151}"/>
                  </a:ext>
                </a:extLst>
              </p:cNvPr>
              <p:cNvSpPr/>
              <p:nvPr/>
            </p:nvSpPr>
            <p:spPr>
              <a:xfrm>
                <a:off x="3972316" y="1766642"/>
                <a:ext cx="438747" cy="4387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97F07B3D-CDB8-43DE-BBA7-3661EC7A44EC}"/>
                  </a:ext>
                </a:extLst>
              </p:cNvPr>
              <p:cNvSpPr txBox="1"/>
              <p:nvPr/>
            </p:nvSpPr>
            <p:spPr>
              <a:xfrm>
                <a:off x="3949475" y="1801349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2.6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CAD2B394-1C55-4635-88D8-F2C339411512}"/>
              </a:ext>
            </a:extLst>
          </p:cNvPr>
          <p:cNvSpPr/>
          <p:nvPr/>
        </p:nvSpPr>
        <p:spPr>
          <a:xfrm>
            <a:off x="96500" y="686258"/>
            <a:ext cx="3733145" cy="61070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0A395F8-F495-4D1D-9173-0488ABB5ECD1}"/>
              </a:ext>
            </a:extLst>
          </p:cNvPr>
          <p:cNvGrpSpPr/>
          <p:nvPr/>
        </p:nvGrpSpPr>
        <p:grpSpPr>
          <a:xfrm>
            <a:off x="8382930" y="1386617"/>
            <a:ext cx="3223208" cy="2752480"/>
            <a:chOff x="8382930" y="1386617"/>
            <a:chExt cx="3223208" cy="2752480"/>
          </a:xfrm>
        </p:grpSpPr>
        <p:sp>
          <p:nvSpPr>
            <p:cNvPr id="81" name="내용 개체 틀 17">
              <a:extLst>
                <a:ext uri="{FF2B5EF4-FFF2-40B4-BE49-F238E27FC236}">
                  <a16:creationId xmlns:a16="http://schemas.microsoft.com/office/drawing/2014/main" id="{9B8DF9FB-451D-4A5E-94D2-04DF6DE8952C}"/>
                </a:ext>
              </a:extLst>
            </p:cNvPr>
            <p:cNvSpPr txBox="1">
              <a:spLocks/>
            </p:cNvSpPr>
            <p:nvPr/>
          </p:nvSpPr>
          <p:spPr>
            <a:xfrm>
              <a:off x="8980280" y="1465230"/>
              <a:ext cx="1976343" cy="28152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오차 독립성 가정</a:t>
              </a:r>
              <a:endParaRPr lang="ko-KR" altLang="en-US" sz="1300" b="1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BC0306F2-DB83-424F-AAE0-5B565AA2B213}"/>
                </a:ext>
              </a:extLst>
            </p:cNvPr>
            <p:cNvGrpSpPr/>
            <p:nvPr/>
          </p:nvGrpSpPr>
          <p:grpSpPr>
            <a:xfrm>
              <a:off x="8382930" y="1386617"/>
              <a:ext cx="484428" cy="438747"/>
              <a:chOff x="493337" y="1831975"/>
              <a:chExt cx="484428" cy="438747"/>
            </a:xfrm>
          </p:grpSpPr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A7BE2E7F-2913-4165-9678-23D2217C9AD8}"/>
                  </a:ext>
                </a:extLst>
              </p:cNvPr>
              <p:cNvSpPr/>
              <p:nvPr/>
            </p:nvSpPr>
            <p:spPr>
              <a:xfrm>
                <a:off x="516178" y="1831975"/>
                <a:ext cx="438747" cy="438747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FD3301BE-8C32-4B8D-89C7-E609906429DE}"/>
                  </a:ext>
                </a:extLst>
              </p:cNvPr>
              <p:cNvSpPr txBox="1"/>
              <p:nvPr/>
            </p:nvSpPr>
            <p:spPr>
              <a:xfrm>
                <a:off x="493337" y="1866682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3.1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6" name="내용 개체 틀 17">
              <a:extLst>
                <a:ext uri="{FF2B5EF4-FFF2-40B4-BE49-F238E27FC236}">
                  <a16:creationId xmlns:a16="http://schemas.microsoft.com/office/drawing/2014/main" id="{EF08279D-CC7B-4AAE-9A12-2A60DAA017D3}"/>
                </a:ext>
              </a:extLst>
            </p:cNvPr>
            <p:cNvSpPr txBox="1">
              <a:spLocks/>
            </p:cNvSpPr>
            <p:nvPr/>
          </p:nvSpPr>
          <p:spPr>
            <a:xfrm>
              <a:off x="8980281" y="2236474"/>
              <a:ext cx="2625857" cy="28152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오차 간 자기상관관계가 없을 것</a:t>
              </a:r>
              <a:endParaRPr lang="ko-KR" altLang="en-US" sz="1300" b="1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23B79E18-4048-4746-AF06-24CB6BC7AA30}"/>
                </a:ext>
              </a:extLst>
            </p:cNvPr>
            <p:cNvGrpSpPr/>
            <p:nvPr/>
          </p:nvGrpSpPr>
          <p:grpSpPr>
            <a:xfrm>
              <a:off x="8382930" y="2157861"/>
              <a:ext cx="484428" cy="438747"/>
              <a:chOff x="493337" y="1831975"/>
              <a:chExt cx="484428" cy="438747"/>
            </a:xfrm>
          </p:grpSpPr>
          <p:sp>
            <p:nvSpPr>
              <p:cNvPr id="98" name="타원 97">
                <a:extLst>
                  <a:ext uri="{FF2B5EF4-FFF2-40B4-BE49-F238E27FC236}">
                    <a16:creationId xmlns:a16="http://schemas.microsoft.com/office/drawing/2014/main" id="{D393D081-AA6A-4F5D-818E-98C088C33BEE}"/>
                  </a:ext>
                </a:extLst>
              </p:cNvPr>
              <p:cNvSpPr/>
              <p:nvPr/>
            </p:nvSpPr>
            <p:spPr>
              <a:xfrm>
                <a:off x="516178" y="1831975"/>
                <a:ext cx="438747" cy="438747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1B184D8-70CC-4B9E-ACB9-EA56B4EB2DF7}"/>
                  </a:ext>
                </a:extLst>
              </p:cNvPr>
              <p:cNvSpPr txBox="1"/>
              <p:nvPr/>
            </p:nvSpPr>
            <p:spPr>
              <a:xfrm>
                <a:off x="493337" y="1866682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3.2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06" name="내용 개체 틀 17">
              <a:extLst>
                <a:ext uri="{FF2B5EF4-FFF2-40B4-BE49-F238E27FC236}">
                  <a16:creationId xmlns:a16="http://schemas.microsoft.com/office/drawing/2014/main" id="{EF8FCD92-EB5D-4490-A15C-E269F554625D}"/>
                </a:ext>
              </a:extLst>
            </p:cNvPr>
            <p:cNvSpPr txBox="1">
              <a:spLocks/>
            </p:cNvSpPr>
            <p:nvPr/>
          </p:nvSpPr>
          <p:spPr>
            <a:xfrm>
              <a:off x="8980280" y="3007718"/>
              <a:ext cx="2104330" cy="28152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오차 등분산성 가정</a:t>
              </a:r>
              <a:endParaRPr lang="ko-KR" altLang="en-US" sz="1300" b="1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FAFA58C5-FB14-40A1-9444-FDCED926B8AD}"/>
                </a:ext>
              </a:extLst>
            </p:cNvPr>
            <p:cNvGrpSpPr/>
            <p:nvPr/>
          </p:nvGrpSpPr>
          <p:grpSpPr>
            <a:xfrm>
              <a:off x="8382930" y="2929105"/>
              <a:ext cx="484428" cy="438747"/>
              <a:chOff x="8382930" y="4595703"/>
              <a:chExt cx="484428" cy="438747"/>
            </a:xfrm>
          </p:grpSpPr>
          <p:sp>
            <p:nvSpPr>
              <p:cNvPr id="109" name="타원 108">
                <a:extLst>
                  <a:ext uri="{FF2B5EF4-FFF2-40B4-BE49-F238E27FC236}">
                    <a16:creationId xmlns:a16="http://schemas.microsoft.com/office/drawing/2014/main" id="{91B8D382-F2DC-4191-B88F-7AE2073AD644}"/>
                  </a:ext>
                </a:extLst>
              </p:cNvPr>
              <p:cNvSpPr/>
              <p:nvPr/>
            </p:nvSpPr>
            <p:spPr>
              <a:xfrm>
                <a:off x="8405771" y="4595703"/>
                <a:ext cx="438747" cy="438747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009C021C-D23C-4704-92FA-35A7EF270784}"/>
                  </a:ext>
                </a:extLst>
              </p:cNvPr>
              <p:cNvSpPr txBox="1"/>
              <p:nvPr/>
            </p:nvSpPr>
            <p:spPr>
              <a:xfrm>
                <a:off x="8382930" y="4630410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3.3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13" name="내용 개체 틀 17">
              <a:extLst>
                <a:ext uri="{FF2B5EF4-FFF2-40B4-BE49-F238E27FC236}">
                  <a16:creationId xmlns:a16="http://schemas.microsoft.com/office/drawing/2014/main" id="{AEB0ADD0-771E-4AD1-BE7F-8995A8277FD4}"/>
                </a:ext>
              </a:extLst>
            </p:cNvPr>
            <p:cNvSpPr txBox="1">
              <a:spLocks/>
            </p:cNvSpPr>
            <p:nvPr/>
          </p:nvSpPr>
          <p:spPr>
            <a:xfrm>
              <a:off x="8980281" y="3778963"/>
              <a:ext cx="2274980" cy="28152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오차 정규성 검증</a:t>
              </a:r>
              <a:endParaRPr lang="ko-KR" altLang="en-US" sz="1300" b="1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9E013083-43E6-427F-861A-B02569E523BE}"/>
                </a:ext>
              </a:extLst>
            </p:cNvPr>
            <p:cNvGrpSpPr/>
            <p:nvPr/>
          </p:nvGrpSpPr>
          <p:grpSpPr>
            <a:xfrm>
              <a:off x="8382930" y="3700350"/>
              <a:ext cx="484428" cy="438747"/>
              <a:chOff x="8382930" y="5988957"/>
              <a:chExt cx="484428" cy="438747"/>
            </a:xfrm>
          </p:grpSpPr>
          <p:sp>
            <p:nvSpPr>
              <p:cNvPr id="116" name="타원 115">
                <a:extLst>
                  <a:ext uri="{FF2B5EF4-FFF2-40B4-BE49-F238E27FC236}">
                    <a16:creationId xmlns:a16="http://schemas.microsoft.com/office/drawing/2014/main" id="{B8D9CD3F-7779-4264-9B79-38CDF1C1A116}"/>
                  </a:ext>
                </a:extLst>
              </p:cNvPr>
              <p:cNvSpPr/>
              <p:nvPr/>
            </p:nvSpPr>
            <p:spPr>
              <a:xfrm>
                <a:off x="8405771" y="5988957"/>
                <a:ext cx="438747" cy="438747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6A383F17-9392-4E21-A4A7-F6899E881A30}"/>
                  </a:ext>
                </a:extLst>
              </p:cNvPr>
              <p:cNvSpPr txBox="1"/>
              <p:nvPr/>
            </p:nvSpPr>
            <p:spPr>
              <a:xfrm>
                <a:off x="8382930" y="6023664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3.4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20" name="제목 3">
            <a:extLst>
              <a:ext uri="{FF2B5EF4-FFF2-40B4-BE49-F238E27FC236}">
                <a16:creationId xmlns:a16="http://schemas.microsoft.com/office/drawing/2014/main" id="{2F1803D4-F98C-4EF6-9CA2-92A7D4C87FE3}"/>
              </a:ext>
            </a:extLst>
          </p:cNvPr>
          <p:cNvSpPr txBox="1">
            <a:spLocks/>
          </p:cNvSpPr>
          <p:nvPr/>
        </p:nvSpPr>
        <p:spPr>
          <a:xfrm>
            <a:off x="8022433" y="4995407"/>
            <a:ext cx="4169567" cy="44010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97500"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800" b="1" kern="1200" noProof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altLang="ko-KR" sz="2000"/>
              <a:t>4. </a:t>
            </a:r>
            <a:r>
              <a:rPr lang="ko-KR" altLang="en-US" sz="2000">
                <a:cs typeface="Segoe UI" panose="020B0502040204020203" pitchFamily="34" charset="0"/>
              </a:rPr>
              <a:t>최종모형식 및 예측값 산출</a:t>
            </a:r>
            <a:endParaRPr lang="ko-KR" altLang="en-US" sz="200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FE04DB9-FAB8-491A-B1F7-B0CDECF73274}"/>
              </a:ext>
            </a:extLst>
          </p:cNvPr>
          <p:cNvGrpSpPr/>
          <p:nvPr/>
        </p:nvGrpSpPr>
        <p:grpSpPr>
          <a:xfrm>
            <a:off x="8382930" y="5625840"/>
            <a:ext cx="3230464" cy="613516"/>
            <a:chOff x="8472009" y="5625840"/>
            <a:chExt cx="3230464" cy="613516"/>
          </a:xfrm>
        </p:grpSpPr>
        <p:sp>
          <p:nvSpPr>
            <p:cNvPr id="121" name="내용 개체 틀 17">
              <a:extLst>
                <a:ext uri="{FF2B5EF4-FFF2-40B4-BE49-F238E27FC236}">
                  <a16:creationId xmlns:a16="http://schemas.microsoft.com/office/drawing/2014/main" id="{DFE49F13-C87C-4CE1-B72B-D4931306F1E4}"/>
                </a:ext>
              </a:extLst>
            </p:cNvPr>
            <p:cNvSpPr txBox="1">
              <a:spLocks/>
            </p:cNvSpPr>
            <p:nvPr/>
          </p:nvSpPr>
          <p:spPr>
            <a:xfrm>
              <a:off x="9069359" y="5625840"/>
              <a:ext cx="2633114" cy="6135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예측값 산출 및 </a:t>
              </a:r>
              <a: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Gap* </a:t>
              </a: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차이 분석</a:t>
              </a:r>
              <a:b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en-US" altLang="ko-KR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(*Gap = Y_</a:t>
              </a:r>
              <a:r>
                <a:rPr lang="ko-KR" altLang="en-US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실제값 </a:t>
              </a:r>
              <a:r>
                <a:rPr lang="en-US" altLang="ko-KR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– Y^_</a:t>
              </a:r>
              <a:r>
                <a:rPr lang="ko-KR" altLang="en-US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예측값</a:t>
              </a:r>
              <a:r>
                <a:rPr lang="en-US" altLang="ko-KR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)</a:t>
              </a:r>
              <a:endParaRPr lang="ko-KR" altLang="en-US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40A0D0FD-8C8A-4FDC-A7F1-DC61869B8728}"/>
                </a:ext>
              </a:extLst>
            </p:cNvPr>
            <p:cNvSpPr/>
            <p:nvPr/>
          </p:nvSpPr>
          <p:spPr>
            <a:xfrm>
              <a:off x="8494850" y="5713225"/>
              <a:ext cx="438747" cy="438747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CA87A528-0C63-443C-8784-97A3F7B62967}"/>
                </a:ext>
              </a:extLst>
            </p:cNvPr>
            <p:cNvSpPr txBox="1"/>
            <p:nvPr/>
          </p:nvSpPr>
          <p:spPr>
            <a:xfrm>
              <a:off x="8472009" y="5747932"/>
              <a:ext cx="4844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solidFill>
                    <a:schemeClr val="bg1"/>
                  </a:solidFill>
                </a:rPr>
                <a:t>4.1</a:t>
              </a:r>
              <a:endParaRPr lang="ko-KR" alt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8414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A48A34-E6AF-43F1-9F9A-64FEBE7964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9133" y="1579024"/>
            <a:ext cx="4416552" cy="417967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1600" dirty="0"/>
              <a:t>[</a:t>
            </a:r>
            <a:r>
              <a:rPr lang="ko-KR" altLang="en-US" sz="1600" dirty="0"/>
              <a:t>변수설명</a:t>
            </a:r>
            <a:r>
              <a:rPr lang="en-US" altLang="ko-KR" sz="1600" dirty="0"/>
              <a:t>] </a:t>
            </a:r>
            <a:br>
              <a:rPr lang="en-US" altLang="ko-KR" sz="1600" dirty="0"/>
            </a:br>
            <a:r>
              <a:rPr lang="en-US" altLang="ko-KR" sz="1600"/>
              <a:t>1. [</a:t>
            </a:r>
            <a:r>
              <a:rPr lang="en-US" altLang="ko-KR" sz="1600" dirty="0"/>
              <a:t>Y</a:t>
            </a:r>
            <a:r>
              <a:rPr lang="ko-KR" altLang="en-US" sz="1600" dirty="0"/>
              <a:t>변수</a:t>
            </a:r>
            <a:r>
              <a:rPr lang="en-US" altLang="ko-KR" sz="1600" dirty="0"/>
              <a:t>] Murder (</a:t>
            </a:r>
            <a:r>
              <a:rPr lang="ko-KR" altLang="en-US" sz="1600" dirty="0"/>
              <a:t>미국</a:t>
            </a:r>
            <a:r>
              <a:rPr lang="en-US" altLang="ko-KR" sz="1600" dirty="0"/>
              <a:t>50</a:t>
            </a:r>
            <a:r>
              <a:rPr lang="ko-KR" altLang="en-US" sz="1600"/>
              <a:t>개주 살인율</a:t>
            </a:r>
            <a:r>
              <a:rPr lang="en-US" altLang="ko-KR" sz="1600"/>
              <a:t>)</a:t>
            </a:r>
            <a:br>
              <a:rPr lang="en-US" altLang="ko-KR" sz="1600" dirty="0"/>
            </a:br>
            <a:r>
              <a:rPr lang="en-US" altLang="ko-KR" sz="1600"/>
              <a:t>2. [</a:t>
            </a:r>
            <a:r>
              <a:rPr lang="en-US" altLang="ko-KR" sz="1600" dirty="0"/>
              <a:t>X</a:t>
            </a:r>
            <a:r>
              <a:rPr lang="ko-KR" altLang="en-US" sz="1600" dirty="0"/>
              <a:t>변수</a:t>
            </a:r>
            <a:r>
              <a:rPr lang="en-US" altLang="ko-KR" sz="1600" dirty="0"/>
              <a:t>]</a:t>
            </a:r>
            <a:br>
              <a:rPr lang="en-US" altLang="ko-KR" sz="1600" dirty="0"/>
            </a:br>
            <a:r>
              <a:rPr lang="en-US" altLang="ko-KR" sz="1600" dirty="0"/>
              <a:t>  -"Population(</a:t>
            </a:r>
            <a:r>
              <a:rPr lang="ko-KR" altLang="en-US" sz="1600"/>
              <a:t>인구수</a:t>
            </a:r>
            <a:r>
              <a:rPr lang="en-US" altLang="ko-KR" sz="1600"/>
              <a:t>)“, “</a:t>
            </a:r>
            <a:r>
              <a:rPr lang="en-US" altLang="ko-KR" sz="1600" dirty="0"/>
              <a:t>Income(</a:t>
            </a:r>
            <a:r>
              <a:rPr lang="ko-KR" altLang="en-US" sz="1600" dirty="0" err="1"/>
              <a:t>연소득</a:t>
            </a:r>
            <a:r>
              <a:rPr lang="en-US" altLang="ko-KR" sz="1600" dirty="0"/>
              <a:t>)"    </a:t>
            </a:r>
            <a:br>
              <a:rPr lang="en-US" altLang="ko-KR" sz="1600" dirty="0"/>
            </a:br>
            <a:r>
              <a:rPr lang="en-US" altLang="ko-KR" sz="1600" dirty="0"/>
              <a:t>  - "Illiteracy(</a:t>
            </a:r>
            <a:r>
              <a:rPr lang="ko-KR" altLang="en-US" sz="1600" dirty="0" err="1"/>
              <a:t>문맹율</a:t>
            </a:r>
            <a:r>
              <a:rPr lang="en-US" altLang="ko-KR" sz="1600"/>
              <a:t>)“, "</a:t>
            </a:r>
            <a:r>
              <a:rPr lang="en-US" altLang="ko-KR" sz="1600" dirty="0"/>
              <a:t>Life Exp(</a:t>
            </a:r>
            <a:r>
              <a:rPr lang="ko-KR" altLang="en-US" sz="1600" dirty="0"/>
              <a:t>기대수명</a:t>
            </a:r>
            <a:r>
              <a:rPr lang="en-US" altLang="ko-KR" sz="1600" dirty="0"/>
              <a:t>)"  </a:t>
            </a:r>
            <a:br>
              <a:rPr lang="en-US" altLang="ko-KR" sz="1600" dirty="0"/>
            </a:br>
            <a:r>
              <a:rPr lang="en-US" altLang="ko-KR" sz="1600" dirty="0"/>
              <a:t>  - "HS Grad(</a:t>
            </a:r>
            <a:r>
              <a:rPr lang="ko-KR" altLang="en-US" sz="1600" dirty="0"/>
              <a:t>고교졸업율</a:t>
            </a:r>
            <a:r>
              <a:rPr lang="en-US" altLang="ko-KR" sz="1600"/>
              <a:t>)“, "Frost(</a:t>
            </a:r>
            <a:r>
              <a:rPr lang="ko-KR" altLang="en-US" sz="1600"/>
              <a:t>기온</a:t>
            </a:r>
            <a:r>
              <a:rPr lang="en-US" altLang="ko-KR" sz="1600"/>
              <a:t>)"       </a:t>
            </a:r>
            <a:br>
              <a:rPr lang="en-US" altLang="ko-KR" sz="1600"/>
            </a:br>
            <a:r>
              <a:rPr lang="en-US" altLang="ko-KR" sz="1600"/>
              <a:t>  - "Area(</a:t>
            </a:r>
            <a:r>
              <a:rPr lang="ko-KR" altLang="en-US" sz="1600"/>
              <a:t>면적</a:t>
            </a:r>
            <a:r>
              <a:rPr lang="en-US" altLang="ko-KR" sz="1600"/>
              <a:t>)”</a:t>
            </a:r>
            <a:br>
              <a:rPr lang="en-US" altLang="ko-KR" sz="1600"/>
            </a:br>
            <a:br>
              <a:rPr lang="en-US" altLang="ko-KR" sz="1600"/>
            </a:br>
            <a:r>
              <a:rPr lang="en-US" altLang="ko-KR" sz="1600"/>
              <a:t>3. [</a:t>
            </a:r>
            <a:r>
              <a:rPr lang="ko-KR" altLang="en-US" sz="1600"/>
              <a:t>분석데이터셋</a:t>
            </a:r>
            <a:r>
              <a:rPr lang="en-US" altLang="ko-KR" sz="1600"/>
              <a:t>]</a:t>
            </a:r>
            <a:br>
              <a:rPr lang="en-US" altLang="ko-KR" sz="1600" dirty="0"/>
            </a:br>
            <a:endParaRPr lang="ko-KR" altLang="en-US" sz="16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4A0D06A-D405-44F3-895E-F83EBB190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70" y="4097771"/>
            <a:ext cx="4265204" cy="2567088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F422C70-E995-41AA-AD04-26151E1F5EFF}"/>
              </a:ext>
            </a:extLst>
          </p:cNvPr>
          <p:cNvSpPr txBox="1">
            <a:spLocks/>
          </p:cNvSpPr>
          <p:nvPr/>
        </p:nvSpPr>
        <p:spPr>
          <a:xfrm>
            <a:off x="486970" y="1235341"/>
            <a:ext cx="11345218" cy="3436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600" b="1" dirty="0"/>
              <a:t>[</a:t>
            </a:r>
            <a:r>
              <a:rPr lang="ko-KR" altLang="en-US" sz="1600" b="1" dirty="0"/>
              <a:t>분석목표</a:t>
            </a:r>
            <a:r>
              <a:rPr lang="en-US" altLang="ko-KR" sz="1600" b="1" dirty="0"/>
              <a:t>] </a:t>
            </a:r>
            <a:r>
              <a:rPr lang="ko-KR" altLang="en-US" sz="1600" b="1" dirty="0"/>
              <a:t>미국 </a:t>
            </a:r>
            <a:r>
              <a:rPr lang="en-US" altLang="ko-KR" sz="1600" b="1" dirty="0"/>
              <a:t>50</a:t>
            </a:r>
            <a:r>
              <a:rPr lang="ko-KR" altLang="en-US" sz="1600" b="1" dirty="0"/>
              <a:t>개주 </a:t>
            </a:r>
            <a:r>
              <a:rPr lang="ko-KR" altLang="en-US" sz="1600" b="1" dirty="0" err="1"/>
              <a:t>살인율</a:t>
            </a:r>
            <a:r>
              <a:rPr lang="ko-KR" altLang="en-US" sz="1600" b="1" dirty="0"/>
              <a:t> 예측모형 개발</a:t>
            </a:r>
            <a:br>
              <a:rPr lang="en-US" altLang="ko-KR" sz="1600" b="1" dirty="0"/>
            </a:br>
            <a:endParaRPr lang="en-US" altLang="ko-KR" sz="1600" b="1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18646BB1-687F-48CC-82C6-1841E3FA2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1.1. </a:t>
            </a:r>
            <a:r>
              <a:rPr lang="ko-KR" altLang="en-US"/>
              <a:t>탐색적 데이터 분석 </a:t>
            </a:r>
            <a:r>
              <a:rPr lang="en-US" altLang="ko-KR" baseline="30000"/>
              <a:t>(EDA : </a:t>
            </a:r>
            <a:r>
              <a:rPr lang="en-US" altLang="ko-KR" i="0" baseline="30000">
                <a:solidFill>
                  <a:srgbClr val="202124"/>
                </a:solidFill>
                <a:effectLst/>
                <a:latin typeface="Apple SD Gothic Neo"/>
              </a:rPr>
              <a:t>Exploratory data analysis)  </a:t>
            </a:r>
            <a:r>
              <a:rPr lang="en-US" altLang="ko-KR" i="0">
                <a:solidFill>
                  <a:srgbClr val="202124"/>
                </a:solidFill>
                <a:effectLst/>
                <a:latin typeface="Apple SD Gothic Neo"/>
              </a:rPr>
              <a:t>– I  : </a:t>
            </a:r>
            <a:r>
              <a:rPr lang="ko-KR" altLang="en-US" i="0">
                <a:solidFill>
                  <a:srgbClr val="202124"/>
                </a:solidFill>
                <a:effectLst/>
                <a:latin typeface="Apple SD Gothic Neo"/>
              </a:rPr>
              <a:t>시각화</a:t>
            </a:r>
            <a:r>
              <a:rPr lang="en-US" altLang="ko-KR" i="0">
                <a:solidFill>
                  <a:srgbClr val="202124"/>
                </a:solidFill>
                <a:effectLst/>
                <a:latin typeface="Apple SD Gothic Neo"/>
              </a:rPr>
              <a:t>(1)</a:t>
            </a:r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A7056B5-BB92-4F0F-9653-B2494FFD61B4}"/>
              </a:ext>
            </a:extLst>
          </p:cNvPr>
          <p:cNvGrpSpPr/>
          <p:nvPr/>
        </p:nvGrpSpPr>
        <p:grpSpPr>
          <a:xfrm>
            <a:off x="5366084" y="1800697"/>
            <a:ext cx="6165093" cy="4864162"/>
            <a:chOff x="5366084" y="1579024"/>
            <a:chExt cx="6165093" cy="4864162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77E16716-5C3B-4FD7-917F-BDC076FF6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66084" y="1579024"/>
              <a:ext cx="6084890" cy="486416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D5390E2-F2A0-4A70-ACD3-40DE18A4106B}"/>
                </a:ext>
              </a:extLst>
            </p:cNvPr>
            <p:cNvSpPr txBox="1"/>
            <p:nvPr/>
          </p:nvSpPr>
          <p:spPr>
            <a:xfrm>
              <a:off x="5712757" y="4160534"/>
              <a:ext cx="5625258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600"/>
                <a:t>Y</a:t>
              </a:r>
              <a:r>
                <a:rPr lang="ko-KR" altLang="en-US" sz="1600"/>
                <a:t>에 영향인자인 </a:t>
              </a:r>
              <a:r>
                <a:rPr lang="en-US" altLang="ko-KR" sz="1600"/>
                <a:t>X</a:t>
              </a:r>
              <a:r>
                <a:rPr lang="ko-KR" altLang="en-US" sz="1600"/>
                <a:t>변수간 단위표준화  </a:t>
              </a:r>
              <a:r>
                <a:rPr lang="en-US" altLang="ko-KR" sz="1600"/>
                <a:t>(</a:t>
              </a:r>
              <a:r>
                <a:rPr lang="ko-KR" altLang="en-US" sz="1600"/>
                <a:t>평균 </a:t>
              </a:r>
              <a:r>
                <a:rPr lang="en-US" altLang="ko-KR" sz="1600"/>
                <a:t>0, </a:t>
              </a:r>
              <a:r>
                <a:rPr lang="ko-KR" altLang="en-US" sz="1600"/>
                <a:t>표준편차 </a:t>
              </a:r>
              <a:r>
                <a:rPr lang="en-US" altLang="ko-KR" sz="1600"/>
                <a:t>1) </a:t>
              </a:r>
              <a:endParaRPr lang="ko-KR" altLang="en-US" sz="16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3B01F4A-7446-458C-AC88-56155AC1EDE7}"/>
                </a:ext>
              </a:extLst>
            </p:cNvPr>
            <p:cNvSpPr txBox="1"/>
            <p:nvPr/>
          </p:nvSpPr>
          <p:spPr>
            <a:xfrm>
              <a:off x="5519595" y="1717528"/>
              <a:ext cx="60115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/>
                <a:t>Y</a:t>
              </a:r>
              <a:r>
                <a:rPr lang="ko-KR" altLang="en-US" sz="1600"/>
                <a:t>에 영향인자인 </a:t>
              </a:r>
              <a:r>
                <a:rPr lang="en-US" altLang="ko-KR" sz="1600"/>
                <a:t>X</a:t>
              </a:r>
              <a:r>
                <a:rPr lang="ko-KR" altLang="en-US" sz="1600"/>
                <a:t>변수간 단위비표준화로 오해석</a:t>
              </a:r>
              <a:r>
                <a:rPr lang="en-US" altLang="ko-KR" sz="1600"/>
                <a:t>/</a:t>
              </a:r>
              <a:r>
                <a:rPr lang="ko-KR" altLang="en-US" sz="1600"/>
                <a:t>비형평성 이슈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8E8E1BB-63C9-47BE-A78F-8D8E11BFB6D8}"/>
              </a:ext>
            </a:extLst>
          </p:cNvPr>
          <p:cNvSpPr txBox="1"/>
          <p:nvPr/>
        </p:nvSpPr>
        <p:spPr>
          <a:xfrm>
            <a:off x="5366084" y="1356897"/>
            <a:ext cx="5655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표준화 필요성 </a:t>
            </a:r>
            <a:r>
              <a:rPr lang="en-US" altLang="ko-KR"/>
              <a:t>: </a:t>
            </a:r>
            <a:r>
              <a:rPr lang="ko-KR" altLang="en-US"/>
              <a:t>연속형 </a:t>
            </a:r>
            <a:r>
              <a:rPr lang="en-US" altLang="ko-KR"/>
              <a:t>X</a:t>
            </a:r>
            <a:r>
              <a:rPr lang="ko-KR" altLang="en-US"/>
              <a:t>변수간 이질적 단위를 표준화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ACAFC72-28C1-4989-8396-F6771B91156D}"/>
              </a:ext>
            </a:extLst>
          </p:cNvPr>
          <p:cNvCxnSpPr/>
          <p:nvPr/>
        </p:nvCxnSpPr>
        <p:spPr>
          <a:xfrm>
            <a:off x="5712757" y="5687314"/>
            <a:ext cx="5509425" cy="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29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A48A34-E6AF-43F1-9F9A-64FEBE7964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613797" y="1711398"/>
            <a:ext cx="4549253" cy="48306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1400"/>
              <a:t>corrplot::corrplot(cor(state.x77_df),method="number")</a:t>
            </a:r>
            <a:endParaRPr lang="ko-KR" altLang="en-US" sz="110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5447D79-C369-49CA-B58E-34F4C88E3B4A}"/>
              </a:ext>
            </a:extLst>
          </p:cNvPr>
          <p:cNvGrpSpPr/>
          <p:nvPr/>
        </p:nvGrpSpPr>
        <p:grpSpPr>
          <a:xfrm>
            <a:off x="6703862" y="2081313"/>
            <a:ext cx="4459188" cy="4168110"/>
            <a:chOff x="411061" y="2329163"/>
            <a:chExt cx="3473455" cy="416811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DC52F92-993E-4AFC-95A2-3164DAFADB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2688" r="11924"/>
            <a:stretch/>
          </p:blipFill>
          <p:spPr>
            <a:xfrm>
              <a:off x="411061" y="2329163"/>
              <a:ext cx="3473455" cy="4168110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4BA1C15E-F463-43BC-BCA1-2A5AE75E9448}"/>
                </a:ext>
              </a:extLst>
            </p:cNvPr>
            <p:cNvSpPr/>
            <p:nvPr/>
          </p:nvSpPr>
          <p:spPr>
            <a:xfrm>
              <a:off x="554763" y="2341911"/>
              <a:ext cx="2859556" cy="916835"/>
            </a:xfrm>
            <a:prstGeom prst="rect">
              <a:avLst/>
            </a:prstGeom>
            <a:noFill/>
            <a:ln w="28575">
              <a:prstDash val="sys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E4E832F4-2AB7-4792-A4D4-25FD6C4A3647}"/>
              </a:ext>
            </a:extLst>
          </p:cNvPr>
          <p:cNvSpPr txBox="1">
            <a:spLocks/>
          </p:cNvSpPr>
          <p:nvPr/>
        </p:nvSpPr>
        <p:spPr>
          <a:xfrm>
            <a:off x="506222" y="1235341"/>
            <a:ext cx="11345218" cy="7239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600" b="1">
                <a:solidFill>
                  <a:srgbClr val="FF0000"/>
                </a:solidFill>
              </a:rPr>
              <a:t>(</a:t>
            </a:r>
            <a:r>
              <a:rPr lang="ko-KR" altLang="en-US" sz="1600" b="1">
                <a:solidFill>
                  <a:srgbClr val="FF0000"/>
                </a:solidFill>
              </a:rPr>
              <a:t>목적</a:t>
            </a:r>
            <a:r>
              <a:rPr lang="en-US" altLang="ko-KR" sz="1600" b="1">
                <a:solidFill>
                  <a:srgbClr val="FF0000"/>
                </a:solidFill>
              </a:rPr>
              <a:t>) Y</a:t>
            </a:r>
            <a:r>
              <a:rPr lang="ko-KR" altLang="en-US" sz="1600" b="1" dirty="0">
                <a:solidFill>
                  <a:srgbClr val="FF0000"/>
                </a:solidFill>
              </a:rPr>
              <a:t>변수</a:t>
            </a:r>
            <a:r>
              <a:rPr lang="en-US" altLang="ko-KR" sz="1600" b="1" baseline="30000" dirty="0">
                <a:solidFill>
                  <a:srgbClr val="FF0000"/>
                </a:solidFill>
              </a:rPr>
              <a:t>(Murder(</a:t>
            </a:r>
            <a:r>
              <a:rPr lang="ko-KR" altLang="en-US" sz="1600" b="1" baseline="30000" dirty="0">
                <a:solidFill>
                  <a:srgbClr val="FF0000"/>
                </a:solidFill>
              </a:rPr>
              <a:t>미국</a:t>
            </a:r>
            <a:r>
              <a:rPr lang="en-US" altLang="ko-KR" sz="1600" b="1" baseline="30000" dirty="0">
                <a:solidFill>
                  <a:srgbClr val="FF0000"/>
                </a:solidFill>
              </a:rPr>
              <a:t>50</a:t>
            </a:r>
            <a:r>
              <a:rPr lang="ko-KR" altLang="en-US" sz="1600" b="1" baseline="30000" dirty="0">
                <a:solidFill>
                  <a:srgbClr val="FF0000"/>
                </a:solidFill>
              </a:rPr>
              <a:t>개주 </a:t>
            </a:r>
            <a:r>
              <a:rPr lang="ko-KR" altLang="en-US" sz="1600" b="1" baseline="30000" dirty="0" err="1">
                <a:solidFill>
                  <a:srgbClr val="FF0000"/>
                </a:solidFill>
              </a:rPr>
              <a:t>살인율</a:t>
            </a:r>
            <a:r>
              <a:rPr lang="ko-KR" altLang="en-US" sz="1600" b="1" baseline="30000" dirty="0">
                <a:solidFill>
                  <a:srgbClr val="FF0000"/>
                </a:solidFill>
              </a:rPr>
              <a:t> 예측</a:t>
            </a:r>
            <a:r>
              <a:rPr lang="en-US" altLang="ko-KR" sz="1600" b="1" baseline="30000" dirty="0">
                <a:solidFill>
                  <a:srgbClr val="FF0000"/>
                </a:solidFill>
              </a:rPr>
              <a:t>)) </a:t>
            </a:r>
            <a:r>
              <a:rPr lang="ko-KR" altLang="en-US" sz="1600" b="1" dirty="0">
                <a:solidFill>
                  <a:srgbClr val="FF0000"/>
                </a:solidFill>
              </a:rPr>
              <a:t>예측에 </a:t>
            </a:r>
            <a:r>
              <a:rPr lang="ko-KR" altLang="en-US" sz="1600" b="1">
                <a:solidFill>
                  <a:srgbClr val="FF0000"/>
                </a:solidFill>
              </a:rPr>
              <a:t>유효한 </a:t>
            </a:r>
            <a:r>
              <a:rPr lang="en-US" altLang="ko-KR" sz="1600" b="1">
                <a:solidFill>
                  <a:srgbClr val="FF0000"/>
                </a:solidFill>
              </a:rPr>
              <a:t>X </a:t>
            </a:r>
            <a:r>
              <a:rPr lang="ko-KR" altLang="en-US" sz="1600" b="1">
                <a:solidFill>
                  <a:srgbClr val="FF0000"/>
                </a:solidFill>
              </a:rPr>
              <a:t>설명</a:t>
            </a:r>
            <a:r>
              <a:rPr lang="en-US" altLang="ko-KR" sz="1600" b="1" dirty="0">
                <a:solidFill>
                  <a:srgbClr val="FF0000"/>
                </a:solidFill>
              </a:rPr>
              <a:t>(</a:t>
            </a:r>
            <a:r>
              <a:rPr lang="ko-KR" altLang="en-US" sz="1600" b="1" dirty="0">
                <a:solidFill>
                  <a:srgbClr val="FF0000"/>
                </a:solidFill>
              </a:rPr>
              <a:t>원인</a:t>
            </a:r>
            <a:r>
              <a:rPr lang="en-US" altLang="ko-KR" sz="1600" b="1" dirty="0">
                <a:solidFill>
                  <a:srgbClr val="FF0000"/>
                </a:solidFill>
              </a:rPr>
              <a:t>)</a:t>
            </a:r>
            <a:r>
              <a:rPr lang="ko-KR" altLang="en-US" sz="1600" b="1" dirty="0">
                <a:solidFill>
                  <a:srgbClr val="FF0000"/>
                </a:solidFill>
              </a:rPr>
              <a:t>변수 파악 </a:t>
            </a:r>
            <a:r>
              <a:rPr lang="en-US" altLang="ko-KR" sz="1600" b="1" dirty="0"/>
              <a:t>: 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X</a:t>
            </a:r>
            <a:r>
              <a:rPr lang="ko-KR" altLang="en-US" sz="1600" b="1" dirty="0"/>
              <a:t>유효변수의 </a:t>
            </a:r>
            <a:r>
              <a:rPr lang="en-US" altLang="ko-KR" sz="1600" b="1" dirty="0"/>
              <a:t>Y</a:t>
            </a:r>
            <a:r>
              <a:rPr lang="ko-KR" altLang="en-US" sz="1600" b="1" dirty="0"/>
              <a:t>간 상관관계검증 활용방안</a:t>
            </a:r>
            <a:br>
              <a:rPr lang="en-US" altLang="ko-KR" sz="1600" b="1" dirty="0"/>
            </a:br>
            <a:endParaRPr lang="en-US" altLang="ko-KR" sz="1600" b="1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D18680B3-1D2D-444C-9D90-62E99101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1.1. </a:t>
            </a:r>
            <a:r>
              <a:rPr lang="ko-KR" altLang="en-US"/>
              <a:t>탐색적 데이터 분석 </a:t>
            </a:r>
            <a:r>
              <a:rPr lang="en-US" altLang="ko-KR" baseline="30000"/>
              <a:t>(EDA : </a:t>
            </a:r>
            <a:r>
              <a:rPr lang="en-US" altLang="ko-KR" i="0" baseline="30000">
                <a:solidFill>
                  <a:srgbClr val="202124"/>
                </a:solidFill>
                <a:effectLst/>
                <a:latin typeface="Apple SD Gothic Neo"/>
              </a:rPr>
              <a:t>Exploratory data analysis)  </a:t>
            </a:r>
            <a:r>
              <a:rPr lang="en-US" altLang="ko-KR" i="0">
                <a:solidFill>
                  <a:srgbClr val="202124"/>
                </a:solidFill>
                <a:effectLst/>
                <a:latin typeface="Apple SD Gothic Neo"/>
              </a:rPr>
              <a:t>– I  : </a:t>
            </a:r>
            <a:r>
              <a:rPr lang="ko-KR" altLang="en-US" i="0">
                <a:solidFill>
                  <a:srgbClr val="202124"/>
                </a:solidFill>
                <a:effectLst/>
                <a:latin typeface="Apple SD Gothic Neo"/>
              </a:rPr>
              <a:t>시각화</a:t>
            </a:r>
            <a:r>
              <a:rPr lang="en-US" altLang="ko-KR" i="0">
                <a:solidFill>
                  <a:srgbClr val="202124"/>
                </a:solidFill>
                <a:effectLst/>
                <a:latin typeface="Apple SD Gothic Neo"/>
              </a:rPr>
              <a:t>(2)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4A9C102-65CF-497E-B958-007A7BF4AB24}"/>
              </a:ext>
            </a:extLst>
          </p:cNvPr>
          <p:cNvSpPr/>
          <p:nvPr/>
        </p:nvSpPr>
        <p:spPr>
          <a:xfrm>
            <a:off x="7661138" y="2090545"/>
            <a:ext cx="406400" cy="904087"/>
          </a:xfrm>
          <a:prstGeom prst="rect">
            <a:avLst/>
          </a:prstGeom>
          <a:noFill/>
          <a:ln w="28575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CD98725-7E33-498A-9C7B-FBDC1A4D3C7C}"/>
              </a:ext>
            </a:extLst>
          </p:cNvPr>
          <p:cNvSpPr/>
          <p:nvPr/>
        </p:nvSpPr>
        <p:spPr>
          <a:xfrm>
            <a:off x="8482023" y="2094059"/>
            <a:ext cx="406400" cy="904087"/>
          </a:xfrm>
          <a:prstGeom prst="rect">
            <a:avLst/>
          </a:prstGeom>
          <a:noFill/>
          <a:ln w="28575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E49EEA1-C315-46A1-AF5D-AABF9BE56EDB}"/>
              </a:ext>
            </a:extLst>
          </p:cNvPr>
          <p:cNvGrpSpPr/>
          <p:nvPr/>
        </p:nvGrpSpPr>
        <p:grpSpPr>
          <a:xfrm>
            <a:off x="1118987" y="1711398"/>
            <a:ext cx="4459189" cy="4551785"/>
            <a:chOff x="6575205" y="1623392"/>
            <a:chExt cx="4459189" cy="4551785"/>
          </a:xfrm>
        </p:grpSpPr>
        <p:sp>
          <p:nvSpPr>
            <p:cNvPr id="10" name="내용 개체 틀 2">
              <a:extLst>
                <a:ext uri="{FF2B5EF4-FFF2-40B4-BE49-F238E27FC236}">
                  <a16:creationId xmlns:a16="http://schemas.microsoft.com/office/drawing/2014/main" id="{8BEE9F50-3133-416C-A344-8D45DC3CE1B6}"/>
                </a:ext>
              </a:extLst>
            </p:cNvPr>
            <p:cNvSpPr txBox="1">
              <a:spLocks/>
            </p:cNvSpPr>
            <p:nvPr/>
          </p:nvSpPr>
          <p:spPr>
            <a:xfrm>
              <a:off x="6575206" y="1623392"/>
              <a:ext cx="4459188" cy="64647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/>
            </a:bodyPr>
            <a:lstStyle>
              <a:lvl1pPr marL="0" indent="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Tx/>
                <a:buNone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defRPr>
              </a:lvl1pPr>
              <a:lvl2pPr marL="228600" indent="-22860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defRPr>
              </a:lvl2pPr>
              <a:lvl3pPr marL="685800" indent="-22860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defRPr>
              </a:lvl3pPr>
              <a:lvl4pPr marL="1143000" indent="-22860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defRPr>
              </a:lvl4pPr>
              <a:lvl5pPr marL="1600200" indent="-22860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defRPr>
              </a:lvl5pPr>
              <a:lvl6pPr marL="2057400" indent="-22860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14600" indent="-22860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971800" indent="-22860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29000" indent="-228600" algn="l" defTabSz="914400" rtl="0" eaLnBrk="1" latinLnBrk="1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altLang="ko-KR" sz="1600"/>
                <a:t>corrplot::corrplot(cor(state.x77_df),method="pie") </a:t>
              </a:r>
              <a:br>
                <a:rPr lang="en-US" altLang="ko-KR"/>
              </a:br>
              <a:endParaRPr lang="en-US" altLang="ko-KR"/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2D87AC20-4997-4836-91F6-9D0C50504B17}"/>
                </a:ext>
              </a:extLst>
            </p:cNvPr>
            <p:cNvGrpSpPr/>
            <p:nvPr/>
          </p:nvGrpSpPr>
          <p:grpSpPr>
            <a:xfrm>
              <a:off x="6575205" y="1993306"/>
              <a:ext cx="4459188" cy="4181871"/>
              <a:chOff x="6203218" y="2329164"/>
              <a:chExt cx="3406984" cy="4181871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44AD5FCA-2C78-48F6-ADA1-9FD6EAD196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12880" r="12907"/>
              <a:stretch/>
            </p:blipFill>
            <p:spPr>
              <a:xfrm>
                <a:off x="6203218" y="2329164"/>
                <a:ext cx="3406984" cy="4181871"/>
              </a:xfrm>
              <a:prstGeom prst="rect">
                <a:avLst/>
              </a:prstGeom>
            </p:spPr>
          </p:pic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FB1FE8EA-4AD7-47A7-AA26-C978EA8B2331}"/>
                  </a:ext>
                </a:extLst>
              </p:cNvPr>
              <p:cNvSpPr/>
              <p:nvPr/>
            </p:nvSpPr>
            <p:spPr>
              <a:xfrm>
                <a:off x="6203219" y="2341911"/>
                <a:ext cx="3024053" cy="904087"/>
              </a:xfrm>
              <a:prstGeom prst="rect">
                <a:avLst/>
              </a:prstGeom>
              <a:noFill/>
              <a:ln w="28575">
                <a:prstDash val="sysDash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513181EE-B77E-4C41-83D6-B0FD972C3E0C}"/>
                </a:ext>
              </a:extLst>
            </p:cNvPr>
            <p:cNvSpPr/>
            <p:nvPr/>
          </p:nvSpPr>
          <p:spPr>
            <a:xfrm>
              <a:off x="7504544" y="2006053"/>
              <a:ext cx="406400" cy="904087"/>
            </a:xfrm>
            <a:prstGeom prst="rect">
              <a:avLst/>
            </a:prstGeom>
            <a:noFill/>
            <a:ln w="28575">
              <a:solidFill>
                <a:srgbClr val="00B0F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427A4F43-6DF2-456A-93ED-DD44931A7039}"/>
                </a:ext>
              </a:extLst>
            </p:cNvPr>
            <p:cNvSpPr/>
            <p:nvPr/>
          </p:nvSpPr>
          <p:spPr>
            <a:xfrm>
              <a:off x="8325429" y="2000331"/>
              <a:ext cx="406400" cy="904087"/>
            </a:xfrm>
            <a:prstGeom prst="rect">
              <a:avLst/>
            </a:prstGeom>
            <a:noFill/>
            <a:ln w="28575">
              <a:solidFill>
                <a:srgbClr val="00B0F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F1C580C5-6514-431E-9B1B-6A4A49ED325F}"/>
              </a:ext>
            </a:extLst>
          </p:cNvPr>
          <p:cNvSpPr/>
          <p:nvPr/>
        </p:nvSpPr>
        <p:spPr>
          <a:xfrm>
            <a:off x="11353613" y="1468080"/>
            <a:ext cx="587891" cy="646479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577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E4E832F4-2AB7-4792-A4D4-25FD6C4A3647}"/>
              </a:ext>
            </a:extLst>
          </p:cNvPr>
          <p:cNvSpPr txBox="1">
            <a:spLocks/>
          </p:cNvSpPr>
          <p:nvPr/>
        </p:nvSpPr>
        <p:spPr>
          <a:xfrm>
            <a:off x="510346" y="1235341"/>
            <a:ext cx="11345218" cy="3591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600" b="1"/>
              <a:t>Y</a:t>
            </a:r>
            <a:r>
              <a:rPr lang="ko-KR" altLang="en-US" sz="1600" b="1"/>
              <a:t>변수</a:t>
            </a:r>
            <a:r>
              <a:rPr lang="en-US" altLang="ko-KR" sz="1600" b="1"/>
              <a:t>(Murder(</a:t>
            </a:r>
            <a:r>
              <a:rPr lang="ko-KR" altLang="en-US" sz="1600" b="1"/>
              <a:t>미국</a:t>
            </a:r>
            <a:r>
              <a:rPr lang="en-US" altLang="ko-KR" sz="1600" b="1"/>
              <a:t>50</a:t>
            </a:r>
            <a:r>
              <a:rPr lang="ko-KR" altLang="en-US" sz="1600" b="1"/>
              <a:t>개주 살인율 예측</a:t>
            </a:r>
            <a:r>
              <a:rPr lang="en-US" altLang="ko-KR" sz="1600" b="1"/>
              <a:t>)) </a:t>
            </a:r>
            <a:r>
              <a:rPr lang="ko-KR" altLang="en-US" sz="1600" b="1"/>
              <a:t>예측에 유효한 설명</a:t>
            </a:r>
            <a:r>
              <a:rPr lang="en-US" altLang="ko-KR" sz="1600" b="1"/>
              <a:t>(</a:t>
            </a:r>
            <a:r>
              <a:rPr lang="ko-KR" altLang="en-US" sz="1600" b="1"/>
              <a:t>원인</a:t>
            </a:r>
            <a:r>
              <a:rPr lang="en-US" altLang="ko-KR" sz="1600" b="1"/>
              <a:t>)</a:t>
            </a:r>
            <a:r>
              <a:rPr lang="ko-KR" altLang="en-US" sz="1600" b="1"/>
              <a:t>변수 파악 </a:t>
            </a:r>
            <a:r>
              <a:rPr lang="en-US" altLang="ko-KR" sz="1600" b="1"/>
              <a:t>: </a:t>
            </a:r>
            <a:r>
              <a:rPr lang="ko-KR" altLang="en-US" sz="1600" b="1"/>
              <a:t> </a:t>
            </a:r>
            <a:r>
              <a:rPr lang="en-US" altLang="ko-KR" sz="1600" b="1"/>
              <a:t>X</a:t>
            </a:r>
            <a:r>
              <a:rPr lang="ko-KR" altLang="en-US" sz="1600" b="1"/>
              <a:t>유효변수의 </a:t>
            </a:r>
            <a:r>
              <a:rPr lang="en-US" altLang="ko-KR" sz="1600" b="1"/>
              <a:t>Y</a:t>
            </a:r>
            <a:r>
              <a:rPr lang="ko-KR" altLang="en-US" sz="1600" b="1"/>
              <a:t>간 상관관계검증 활용방안</a:t>
            </a:r>
            <a:br>
              <a:rPr lang="en-US" altLang="ko-KR" sz="1600" b="1"/>
            </a:br>
            <a:endParaRPr lang="en-US" altLang="ko-KR" sz="1600" b="1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B16E9A5-8A94-45A6-8EFD-577EA89B3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6" y="448056"/>
            <a:ext cx="11514039" cy="640080"/>
          </a:xfrm>
        </p:spPr>
        <p:txBody>
          <a:bodyPr>
            <a:normAutofit/>
          </a:bodyPr>
          <a:lstStyle/>
          <a:p>
            <a:r>
              <a:rPr lang="en-US" altLang="ko-KR"/>
              <a:t>1.2. </a:t>
            </a:r>
            <a:r>
              <a:rPr lang="ko-KR" altLang="en-US"/>
              <a:t>탐색적 데이터 분석 </a:t>
            </a:r>
            <a:r>
              <a:rPr lang="en-US" altLang="ko-KR" baseline="30000"/>
              <a:t>(EDA : Exploratory data analysis)  </a:t>
            </a:r>
            <a:r>
              <a:rPr lang="en-US" altLang="ko-KR"/>
              <a:t>– II  : </a:t>
            </a:r>
            <a:r>
              <a:rPr lang="ko-KR" altLang="en-US"/>
              <a:t>상관관계분석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98C894F-4595-46AE-95B6-94F67CAEA7BE}"/>
              </a:ext>
            </a:extLst>
          </p:cNvPr>
          <p:cNvGrpSpPr/>
          <p:nvPr/>
        </p:nvGrpSpPr>
        <p:grpSpPr>
          <a:xfrm>
            <a:off x="432925" y="1616505"/>
            <a:ext cx="11500905" cy="4685682"/>
            <a:chOff x="432925" y="1616505"/>
            <a:chExt cx="11500905" cy="4685682"/>
          </a:xfrm>
        </p:grpSpPr>
        <p:sp>
          <p:nvSpPr>
            <p:cNvPr id="19" name="내용 개체 틀 2">
              <a:extLst>
                <a:ext uri="{FF2B5EF4-FFF2-40B4-BE49-F238E27FC236}">
                  <a16:creationId xmlns:a16="http://schemas.microsoft.com/office/drawing/2014/main" id="{3464A6FC-85AA-4CDA-A261-640E11EEFB39}"/>
                </a:ext>
              </a:extLst>
            </p:cNvPr>
            <p:cNvSpPr txBox="1">
              <a:spLocks/>
            </p:cNvSpPr>
            <p:nvPr/>
          </p:nvSpPr>
          <p:spPr>
            <a:xfrm>
              <a:off x="4801615" y="2551131"/>
              <a:ext cx="7102363" cy="1317073"/>
            </a:xfrm>
            <a:prstGeom prst="rect">
              <a:avLst/>
            </a:prstGeom>
            <a:solidFill>
              <a:schemeClr val="bg2"/>
            </a:solidFill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0" indent="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Tx/>
                <a:buNone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defRPr>
              </a:lvl1pPr>
              <a:lvl2pPr marL="228600" indent="-22860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defRPr>
              </a:lvl2pPr>
              <a:lvl3pPr marL="685800" indent="-22860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defRPr>
              </a:lvl3pPr>
              <a:lvl4pPr marL="1143000" indent="-22860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defRPr>
              </a:lvl4pPr>
              <a:lvl5pPr marL="1600200" indent="-22860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defRPr>
              </a:lvl5pPr>
              <a:lvl6pPr marL="2057400" indent="-22860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14600" indent="-22860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971800" indent="-22860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29000" indent="-228600" algn="l" defTabSz="914400" rtl="0" eaLnBrk="1" latinLnBrk="1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/>
                <a:t>X</a:t>
              </a:r>
              <a:r>
                <a:rPr lang="ko-KR" altLang="en-US"/>
                <a:t>유효변수</a:t>
              </a:r>
              <a:r>
                <a:rPr lang="en-US" altLang="ko-KR"/>
                <a:t>(state.x77_df$Illiteracy)</a:t>
              </a:r>
              <a:r>
                <a:rPr lang="ko-KR" altLang="en-US"/>
                <a:t>의 </a:t>
              </a:r>
              <a:r>
                <a:rPr lang="en-US" altLang="ko-KR"/>
                <a:t>Y(state.x77_df$Murder )</a:t>
              </a:r>
              <a:r>
                <a:rPr lang="ko-KR" altLang="en-US"/>
                <a:t>간 상관관계검증</a:t>
              </a:r>
              <a:br>
                <a:rPr lang="en-US" altLang="ko-KR"/>
              </a:br>
              <a:r>
                <a:rPr lang="en-US" altLang="ko-KR" b="1">
                  <a:solidFill>
                    <a:srgbClr val="FF0000"/>
                  </a:solidFill>
                </a:rPr>
                <a:t>p-value = 0.00000001258&lt; 0.05 (95%</a:t>
              </a:r>
              <a:r>
                <a:rPr lang="ko-KR" altLang="en-US" b="1">
                  <a:solidFill>
                    <a:srgbClr val="FF0000"/>
                  </a:solidFill>
                </a:rPr>
                <a:t>신뢰구간하에서 </a:t>
              </a:r>
              <a:r>
                <a:rPr lang="en-US" altLang="ko-KR" b="1">
                  <a:solidFill>
                    <a:srgbClr val="FF0000"/>
                  </a:solidFill>
                </a:rPr>
                <a:t>Y</a:t>
              </a:r>
              <a:r>
                <a:rPr lang="ko-KR" altLang="en-US" b="1">
                  <a:solidFill>
                    <a:srgbClr val="FF0000"/>
                  </a:solidFill>
                </a:rPr>
                <a:t>변수와 </a:t>
              </a:r>
              <a:r>
                <a:rPr lang="en-US" altLang="ko-KR" b="1">
                  <a:solidFill>
                    <a:srgbClr val="FF0000"/>
                  </a:solidFill>
                </a:rPr>
                <a:t>X</a:t>
              </a:r>
              <a:r>
                <a:rPr lang="ko-KR" altLang="en-US" b="1">
                  <a:solidFill>
                    <a:srgbClr val="FF0000"/>
                  </a:solidFill>
                </a:rPr>
                <a:t>변수간의 상관관계가 없다고 하는 </a:t>
              </a:r>
              <a:br>
                <a:rPr lang="en-US" altLang="ko-KR" b="1">
                  <a:solidFill>
                    <a:srgbClr val="FF0000"/>
                  </a:solidFill>
                </a:rPr>
              </a:br>
              <a:r>
                <a:rPr lang="ko-KR" altLang="en-US" b="1">
                  <a:solidFill>
                    <a:srgbClr val="FF0000"/>
                  </a:solidFill>
                </a:rPr>
                <a:t>귀무가설</a:t>
              </a:r>
              <a:r>
                <a:rPr lang="en-US" altLang="ko-KR" b="1">
                  <a:solidFill>
                    <a:srgbClr val="FF0000"/>
                  </a:solidFill>
                </a:rPr>
                <a:t>(H0)</a:t>
              </a:r>
              <a:r>
                <a:rPr lang="ko-KR" altLang="en-US" b="1">
                  <a:solidFill>
                    <a:srgbClr val="FF0000"/>
                  </a:solidFill>
                </a:rPr>
                <a:t>을 기각</a:t>
              </a:r>
              <a:r>
                <a:rPr lang="ko-KR" altLang="en-US"/>
                <a:t>함</a:t>
              </a:r>
              <a:r>
                <a:rPr lang="en-US" altLang="ko-KR"/>
                <a:t>, </a:t>
              </a:r>
              <a:br>
                <a:rPr lang="en-US" altLang="ko-KR"/>
              </a:br>
              <a:r>
                <a:rPr lang="ko-KR" altLang="en-US"/>
                <a:t>해당 </a:t>
              </a:r>
              <a:r>
                <a:rPr lang="en-US" altLang="ko-KR"/>
                <a:t>X</a:t>
              </a:r>
              <a:r>
                <a:rPr lang="ko-KR" altLang="en-US"/>
                <a:t>변수</a:t>
              </a:r>
              <a:r>
                <a:rPr lang="en-US" altLang="ko-KR"/>
                <a:t> Illiteracy </a:t>
              </a:r>
              <a:r>
                <a:rPr lang="ko-KR" altLang="en-US"/>
                <a:t>는 </a:t>
              </a:r>
              <a:r>
                <a:rPr lang="en-US" altLang="ko-KR"/>
                <a:t>y</a:t>
              </a:r>
              <a:r>
                <a:rPr lang="ko-KR" altLang="en-US"/>
                <a:t>변수</a:t>
              </a:r>
              <a:r>
                <a:rPr lang="en-US" altLang="ko-KR"/>
                <a:t> Murder </a:t>
              </a:r>
              <a:r>
                <a:rPr lang="ko-KR" altLang="en-US" dirty="0"/>
                <a:t>와의 관계에 있어서 </a:t>
              </a:r>
              <a:r>
                <a:rPr lang="ko-KR" altLang="en-US" sz="2300" b="1" u="sng"/>
                <a:t>유효한 강</a:t>
              </a:r>
              <a:r>
                <a:rPr lang="ko-KR" altLang="en-US" sz="2300" b="1" u="sng" dirty="0"/>
                <a:t>한 상관관계를 갖음</a:t>
              </a:r>
              <a:r>
                <a:rPr lang="en-US" altLang="ko-KR" sz="2300" b="1" u="sng" dirty="0"/>
                <a:t>(</a:t>
              </a:r>
              <a:r>
                <a:rPr lang="ko-KR" altLang="en-US" sz="2300" b="1" u="sng" dirty="0"/>
                <a:t>상관계수 </a:t>
              </a:r>
              <a:r>
                <a:rPr lang="en-US" altLang="ko-KR" sz="2300" b="1" u="sng" dirty="0"/>
                <a:t>= </a:t>
              </a:r>
              <a:r>
                <a:rPr lang="ko-KR" altLang="en-US" sz="2300" b="1" u="sng" dirty="0"/>
                <a:t>약 </a:t>
              </a:r>
              <a:r>
                <a:rPr lang="en-US" altLang="ko-KR" sz="2300" b="1" u="sng" dirty="0"/>
                <a:t>0.70</a:t>
              </a:r>
              <a:r>
                <a:rPr lang="en-US" altLang="ko-KR" b="1" u="sng" dirty="0"/>
                <a:t>)</a:t>
              </a:r>
              <a:br>
                <a:rPr lang="en-US" altLang="ko-KR" b="1" u="sng" dirty="0"/>
              </a:br>
              <a:r>
                <a:rPr lang="en-US" altLang="ko-KR" dirty="0"/>
                <a:t>(p-value &lt; 0.05 </a:t>
              </a:r>
              <a:r>
                <a:rPr lang="ko-KR" altLang="en-US" dirty="0"/>
                <a:t>더 작을수록</a:t>
              </a:r>
              <a:r>
                <a:rPr lang="en-US" altLang="ko-KR" dirty="0"/>
                <a:t>, </a:t>
              </a:r>
              <a:r>
                <a:rPr lang="ko-KR" altLang="en-US" dirty="0"/>
                <a:t>해당 </a:t>
              </a:r>
              <a:r>
                <a:rPr lang="en-US" altLang="ko-KR" dirty="0"/>
                <a:t>x</a:t>
              </a:r>
              <a:r>
                <a:rPr lang="ko-KR" altLang="en-US" dirty="0"/>
                <a:t>변수는 </a:t>
              </a:r>
              <a:r>
                <a:rPr lang="en-US" altLang="ko-KR" dirty="0"/>
                <a:t>y</a:t>
              </a:r>
              <a:r>
                <a:rPr lang="ko-KR" altLang="en-US" dirty="0"/>
                <a:t>변수를 더욱 유의하게 설명력이 높은 변수이기 때문임</a:t>
              </a:r>
              <a:r>
                <a:rPr lang="en-US" altLang="ko-KR" dirty="0"/>
                <a:t>)</a:t>
              </a:r>
              <a:r>
                <a:rPr lang="ko-KR" altLang="en-US" dirty="0"/>
                <a:t> </a:t>
              </a:r>
              <a:br>
                <a:rPr lang="en-US" altLang="ko-KR" dirty="0"/>
              </a:br>
              <a:endParaRPr lang="en-US" altLang="ko-KR" sz="800" dirty="0"/>
            </a:p>
          </p:txBody>
        </p:sp>
        <p:sp>
          <p:nvSpPr>
            <p:cNvPr id="12" name="내용 개체 틀 2">
              <a:extLst>
                <a:ext uri="{FF2B5EF4-FFF2-40B4-BE49-F238E27FC236}">
                  <a16:creationId xmlns:a16="http://schemas.microsoft.com/office/drawing/2014/main" id="{A20B0FB2-BCCF-46C9-87BE-2CF91D1F31CE}"/>
                </a:ext>
              </a:extLst>
            </p:cNvPr>
            <p:cNvSpPr txBox="1">
              <a:spLocks/>
            </p:cNvSpPr>
            <p:nvPr/>
          </p:nvSpPr>
          <p:spPr>
            <a:xfrm>
              <a:off x="1123135" y="1616505"/>
              <a:ext cx="3025912" cy="30790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0" indent="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Tx/>
                <a:buNone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defRPr>
              </a:lvl1pPr>
              <a:lvl2pPr marL="228600" indent="-22860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defRPr>
              </a:lvl2pPr>
              <a:lvl3pPr marL="685800" indent="-22860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defRPr>
              </a:lvl3pPr>
              <a:lvl4pPr marL="1143000" indent="-22860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defRPr>
              </a:lvl4pPr>
              <a:lvl5pPr marL="1600200" indent="-22860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defRPr>
              </a:lvl5pPr>
              <a:lvl6pPr marL="2057400" indent="-22860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14600" indent="-22860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971800" indent="-22860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29000" indent="-228600" algn="l" defTabSz="914400" rtl="0" eaLnBrk="1" latinLnBrk="1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altLang="ko-KR" sz="1600"/>
                <a:t>X</a:t>
              </a:r>
              <a:r>
                <a:rPr lang="ko-KR" altLang="en-US" sz="1600"/>
                <a:t>유효변수의 </a:t>
              </a:r>
              <a:r>
                <a:rPr lang="en-US" altLang="ko-KR" sz="1600"/>
                <a:t>Y</a:t>
              </a:r>
              <a:r>
                <a:rPr lang="ko-KR" altLang="en-US" sz="1600"/>
                <a:t>간 상관관계검증 </a:t>
              </a:r>
              <a:endParaRPr lang="en-US" altLang="ko-KR"/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22F03F60-443F-4504-937A-22706A92A8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1207" y="1959248"/>
              <a:ext cx="4221978" cy="4342939"/>
            </a:xfrm>
            <a:prstGeom prst="rect">
              <a:avLst/>
            </a:prstGeom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0EF0BE5-D9EC-4E5F-B57A-53ED3D339651}"/>
                </a:ext>
              </a:extLst>
            </p:cNvPr>
            <p:cNvSpPr/>
            <p:nvPr/>
          </p:nvSpPr>
          <p:spPr>
            <a:xfrm>
              <a:off x="440124" y="2551131"/>
              <a:ext cx="4361491" cy="399564"/>
            </a:xfrm>
            <a:prstGeom prst="rect">
              <a:avLst/>
            </a:prstGeom>
            <a:noFill/>
            <a:ln w="28575">
              <a:prstDash val="sys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21CC0ADD-71C5-4F16-85E9-2177F7065C19}"/>
                </a:ext>
              </a:extLst>
            </p:cNvPr>
            <p:cNvSpPr/>
            <p:nvPr/>
          </p:nvSpPr>
          <p:spPr>
            <a:xfrm>
              <a:off x="432925" y="4945981"/>
              <a:ext cx="4391935" cy="399564"/>
            </a:xfrm>
            <a:prstGeom prst="rect">
              <a:avLst/>
            </a:prstGeom>
            <a:noFill/>
            <a:ln w="28575">
              <a:prstDash val="sys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내용 개체 틀 2">
              <a:extLst>
                <a:ext uri="{FF2B5EF4-FFF2-40B4-BE49-F238E27FC236}">
                  <a16:creationId xmlns:a16="http://schemas.microsoft.com/office/drawing/2014/main" id="{F71E0516-6AC3-495B-B876-D189145DC0FA}"/>
                </a:ext>
              </a:extLst>
            </p:cNvPr>
            <p:cNvSpPr txBox="1">
              <a:spLocks/>
            </p:cNvSpPr>
            <p:nvPr/>
          </p:nvSpPr>
          <p:spPr>
            <a:xfrm>
              <a:off x="4831467" y="4942018"/>
              <a:ext cx="7102363" cy="1317073"/>
            </a:xfrm>
            <a:prstGeom prst="rect">
              <a:avLst/>
            </a:prstGeom>
            <a:solidFill>
              <a:schemeClr val="bg2"/>
            </a:solidFill>
          </p:spPr>
          <p:txBody>
            <a:bodyPr vert="horz" lIns="91440" tIns="45720" rIns="91440" bIns="45720" rtlCol="0">
              <a:normAutofit fontScale="77500" lnSpcReduction="20000"/>
            </a:bodyPr>
            <a:lstStyle>
              <a:lvl1pPr marL="0" indent="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Tx/>
                <a:buNone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defRPr>
              </a:lvl1pPr>
              <a:lvl2pPr marL="228600" indent="-22860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defRPr>
              </a:lvl2pPr>
              <a:lvl3pPr marL="685800" indent="-22860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defRPr>
              </a:lvl3pPr>
              <a:lvl4pPr marL="1143000" indent="-22860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defRPr>
              </a:lvl4pPr>
              <a:lvl5pPr marL="1600200" indent="-22860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defRPr>
              </a:lvl5pPr>
              <a:lvl6pPr marL="2057400" indent="-22860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14600" indent="-22860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971800" indent="-228600" algn="l" defTabSz="914400" rtl="0" eaLnBrk="1" latinLnBrk="1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29000" indent="-228600" algn="l" defTabSz="914400" rtl="0" eaLnBrk="1" latinLnBrk="1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/>
                <a:t>X</a:t>
              </a:r>
              <a:r>
                <a:rPr lang="ko-KR" altLang="en-US"/>
                <a:t>유효변수</a:t>
              </a:r>
              <a:r>
                <a:rPr lang="en-US" altLang="ko-KR"/>
                <a:t>(state.x77_df$Population)</a:t>
              </a:r>
              <a:r>
                <a:rPr lang="ko-KR" altLang="en-US"/>
                <a:t>의 </a:t>
              </a:r>
              <a:r>
                <a:rPr lang="en-US" altLang="ko-KR"/>
                <a:t>Y(state.x77_df$Murder )</a:t>
              </a:r>
              <a:r>
                <a:rPr lang="ko-KR" altLang="en-US"/>
                <a:t>간 상관관계검증</a:t>
              </a:r>
              <a:br>
                <a:rPr lang="en-US" altLang="ko-KR"/>
              </a:br>
              <a:r>
                <a:rPr lang="en-US" altLang="ko-KR" b="1">
                  <a:solidFill>
                    <a:srgbClr val="FF0000"/>
                  </a:solidFill>
                </a:rPr>
                <a:t>p-value = 0.01455&lt; 0.05 (95%</a:t>
              </a:r>
              <a:r>
                <a:rPr lang="ko-KR" altLang="en-US" b="1">
                  <a:solidFill>
                    <a:srgbClr val="FF0000"/>
                  </a:solidFill>
                </a:rPr>
                <a:t>신뢰구간하에서 </a:t>
              </a:r>
              <a:r>
                <a:rPr lang="en-US" altLang="ko-KR" b="1">
                  <a:solidFill>
                    <a:srgbClr val="FF0000"/>
                  </a:solidFill>
                </a:rPr>
                <a:t>Y</a:t>
              </a:r>
              <a:r>
                <a:rPr lang="ko-KR" altLang="en-US" b="1">
                  <a:solidFill>
                    <a:srgbClr val="FF0000"/>
                  </a:solidFill>
                </a:rPr>
                <a:t>변수와 </a:t>
              </a:r>
              <a:r>
                <a:rPr lang="en-US" altLang="ko-KR" b="1">
                  <a:solidFill>
                    <a:srgbClr val="FF0000"/>
                  </a:solidFill>
                </a:rPr>
                <a:t>X</a:t>
              </a:r>
              <a:r>
                <a:rPr lang="ko-KR" altLang="en-US" b="1">
                  <a:solidFill>
                    <a:srgbClr val="FF0000"/>
                  </a:solidFill>
                </a:rPr>
                <a:t>변수간의 상관관계가 없다고 하는 </a:t>
              </a:r>
              <a:br>
                <a:rPr lang="en-US" altLang="ko-KR" b="1">
                  <a:solidFill>
                    <a:srgbClr val="FF0000"/>
                  </a:solidFill>
                </a:rPr>
              </a:br>
              <a:r>
                <a:rPr lang="ko-KR" altLang="en-US" b="1">
                  <a:solidFill>
                    <a:srgbClr val="FF0000"/>
                  </a:solidFill>
                </a:rPr>
                <a:t>귀무가설</a:t>
              </a:r>
              <a:r>
                <a:rPr lang="en-US" altLang="ko-KR" b="1">
                  <a:solidFill>
                    <a:srgbClr val="FF0000"/>
                  </a:solidFill>
                </a:rPr>
                <a:t>(H0)</a:t>
              </a:r>
              <a:r>
                <a:rPr lang="ko-KR" altLang="en-US" b="1">
                  <a:solidFill>
                    <a:srgbClr val="FF0000"/>
                  </a:solidFill>
                </a:rPr>
                <a:t>을 기각함</a:t>
              </a:r>
              <a:r>
                <a:rPr lang="en-US" altLang="ko-KR"/>
                <a:t>, </a:t>
              </a:r>
              <a:br>
                <a:rPr lang="en-US" altLang="ko-KR"/>
              </a:br>
              <a:r>
                <a:rPr lang="ko-KR" altLang="en-US"/>
                <a:t>해당 </a:t>
              </a:r>
              <a:r>
                <a:rPr lang="en-US" altLang="ko-KR"/>
                <a:t>X</a:t>
              </a:r>
              <a:r>
                <a:rPr lang="ko-KR" altLang="en-US"/>
                <a:t>변수</a:t>
              </a:r>
              <a:r>
                <a:rPr lang="en-US" altLang="ko-KR"/>
                <a:t> Population </a:t>
              </a:r>
              <a:r>
                <a:rPr lang="ko-KR" altLang="en-US"/>
                <a:t>는 </a:t>
              </a:r>
              <a:r>
                <a:rPr lang="en-US" altLang="ko-KR"/>
                <a:t>y</a:t>
              </a:r>
              <a:r>
                <a:rPr lang="ko-KR" altLang="en-US"/>
                <a:t>변수</a:t>
              </a:r>
              <a:r>
                <a:rPr lang="en-US" altLang="ko-KR"/>
                <a:t> Murder </a:t>
              </a:r>
              <a:r>
                <a:rPr lang="ko-KR" altLang="en-US"/>
                <a:t>와의 관계에 있어서 </a:t>
              </a:r>
              <a:r>
                <a:rPr lang="ko-KR" altLang="en-US" sz="1800" b="1" u="sng"/>
                <a:t>유효한 상관관계를 갖음</a:t>
              </a:r>
              <a:r>
                <a:rPr lang="en-US" altLang="ko-KR" sz="1800" b="1" u="sng"/>
                <a:t>(</a:t>
              </a:r>
              <a:r>
                <a:rPr lang="ko-KR" altLang="en-US" sz="1800" b="1" u="sng"/>
                <a:t>상관계수 </a:t>
              </a:r>
              <a:r>
                <a:rPr lang="en-US" altLang="ko-KR" sz="1800" b="1" u="sng"/>
                <a:t>= </a:t>
              </a:r>
              <a:r>
                <a:rPr lang="ko-KR" altLang="en-US" sz="1800" b="1" u="sng"/>
                <a:t>약 </a:t>
              </a:r>
              <a:r>
                <a:rPr lang="en-US" altLang="ko-KR" sz="1800" b="1" u="sng"/>
                <a:t>0.34)</a:t>
              </a:r>
              <a:br>
                <a:rPr lang="en-US" altLang="ko-KR" sz="1800" b="1" u="sng"/>
              </a:br>
              <a:r>
                <a:rPr lang="en-US" altLang="ko-KR"/>
                <a:t>(p-value &lt; 0.05 </a:t>
              </a:r>
              <a:r>
                <a:rPr lang="ko-KR" altLang="en-US"/>
                <a:t>더 작을수록</a:t>
              </a:r>
              <a:r>
                <a:rPr lang="en-US" altLang="ko-KR"/>
                <a:t>, </a:t>
              </a:r>
              <a:r>
                <a:rPr lang="ko-KR" altLang="en-US"/>
                <a:t>해당 </a:t>
              </a:r>
              <a:r>
                <a:rPr lang="en-US" altLang="ko-KR"/>
                <a:t>x</a:t>
              </a:r>
              <a:r>
                <a:rPr lang="ko-KR" altLang="en-US"/>
                <a:t>변수는 </a:t>
              </a:r>
              <a:r>
                <a:rPr lang="en-US" altLang="ko-KR"/>
                <a:t>y</a:t>
              </a:r>
              <a:r>
                <a:rPr lang="ko-KR" altLang="en-US"/>
                <a:t>변수를 더욱 유의하게 설명력이 높은 변수이기 때문임</a:t>
              </a:r>
              <a:r>
                <a:rPr lang="en-US" altLang="ko-KR"/>
                <a:t>)</a:t>
              </a:r>
              <a:r>
                <a:rPr lang="ko-KR" altLang="en-US"/>
                <a:t> </a:t>
              </a:r>
              <a:br>
                <a:rPr lang="en-US" altLang="ko-KR"/>
              </a:br>
              <a:endParaRPr lang="en-US" altLang="ko-KR" sz="800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2D9B6131-C0A4-4ABC-80C1-8B000FC776FC}"/>
                </a:ext>
              </a:extLst>
            </p:cNvPr>
            <p:cNvGrpSpPr/>
            <p:nvPr/>
          </p:nvGrpSpPr>
          <p:grpSpPr>
            <a:xfrm>
              <a:off x="4740657" y="1924412"/>
              <a:ext cx="3797778" cy="592315"/>
              <a:chOff x="6059737" y="2056068"/>
              <a:chExt cx="3797778" cy="592315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249C53F8-1CA4-44C2-845A-47434324AAD7}"/>
                  </a:ext>
                </a:extLst>
              </p:cNvPr>
              <p:cNvSpPr/>
              <p:nvPr/>
            </p:nvSpPr>
            <p:spPr>
              <a:xfrm>
                <a:off x="6622473" y="2063434"/>
                <a:ext cx="3235042" cy="56273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>
                    <a:solidFill>
                      <a:schemeClr val="tx1"/>
                    </a:solidFill>
                  </a:rPr>
                  <a:t>제</a:t>
                </a:r>
                <a:r>
                  <a:rPr lang="en-US" altLang="ko-KR">
                    <a:solidFill>
                      <a:schemeClr val="tx1"/>
                    </a:solidFill>
                  </a:rPr>
                  <a:t>1 </a:t>
                </a:r>
                <a:r>
                  <a:rPr lang="ko-KR" altLang="en-US">
                    <a:solidFill>
                      <a:schemeClr val="tx1"/>
                    </a:solidFill>
                  </a:rPr>
                  <a:t>채택변수</a:t>
                </a:r>
              </a:p>
            </p:txBody>
          </p:sp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17CE6646-E63E-40C9-8271-22FD94CEB585}"/>
                  </a:ext>
                </a:extLst>
              </p:cNvPr>
              <p:cNvSpPr/>
              <p:nvPr/>
            </p:nvSpPr>
            <p:spPr>
              <a:xfrm>
                <a:off x="6059738" y="2056068"/>
                <a:ext cx="562735" cy="562735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1</a:t>
                </a:r>
                <a:endParaRPr lang="ko-KR" altLang="en-US"/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D7108983-A940-4B02-9F38-B310DF1FFB93}"/>
                  </a:ext>
                </a:extLst>
              </p:cNvPr>
              <p:cNvSpPr/>
              <p:nvPr/>
            </p:nvSpPr>
            <p:spPr>
              <a:xfrm>
                <a:off x="6059737" y="2063434"/>
                <a:ext cx="3797777" cy="584949"/>
              </a:xfrm>
              <a:prstGeom prst="rect">
                <a:avLst/>
              </a:prstGeom>
              <a:noFill/>
              <a:ln w="571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DAA9AFD2-726B-4284-BDB2-B41ECBF8A49F}"/>
                </a:ext>
              </a:extLst>
            </p:cNvPr>
            <p:cNvGrpSpPr/>
            <p:nvPr/>
          </p:nvGrpSpPr>
          <p:grpSpPr>
            <a:xfrm>
              <a:off x="4740656" y="4349703"/>
              <a:ext cx="3797778" cy="592315"/>
              <a:chOff x="6059737" y="2056068"/>
              <a:chExt cx="3797778" cy="592315"/>
            </a:xfrm>
          </p:grpSpPr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A704C72B-DF3D-4687-A5E3-1CAB5B5C71E4}"/>
                  </a:ext>
                </a:extLst>
              </p:cNvPr>
              <p:cNvSpPr/>
              <p:nvPr/>
            </p:nvSpPr>
            <p:spPr>
              <a:xfrm>
                <a:off x="6622473" y="2063434"/>
                <a:ext cx="3235042" cy="56273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>
                    <a:solidFill>
                      <a:schemeClr val="tx1"/>
                    </a:solidFill>
                  </a:rPr>
                  <a:t>제</a:t>
                </a:r>
                <a:r>
                  <a:rPr lang="en-US" altLang="ko-KR">
                    <a:solidFill>
                      <a:schemeClr val="tx1"/>
                    </a:solidFill>
                  </a:rPr>
                  <a:t>2 </a:t>
                </a:r>
                <a:r>
                  <a:rPr lang="ko-KR" altLang="en-US">
                    <a:solidFill>
                      <a:schemeClr val="tx1"/>
                    </a:solidFill>
                  </a:rPr>
                  <a:t>채택변수</a:t>
                </a: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AEFB19AB-13D7-4B23-B1F3-2275C087074B}"/>
                  </a:ext>
                </a:extLst>
              </p:cNvPr>
              <p:cNvSpPr/>
              <p:nvPr/>
            </p:nvSpPr>
            <p:spPr>
              <a:xfrm>
                <a:off x="6059738" y="2056068"/>
                <a:ext cx="562735" cy="562735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2</a:t>
                </a:r>
                <a:endParaRPr lang="ko-KR" altLang="en-US"/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9981EA97-F95B-4CCB-8F09-6F7CC8FE3F32}"/>
                  </a:ext>
                </a:extLst>
              </p:cNvPr>
              <p:cNvSpPr/>
              <p:nvPr/>
            </p:nvSpPr>
            <p:spPr>
              <a:xfrm>
                <a:off x="6059737" y="2063434"/>
                <a:ext cx="3797777" cy="584949"/>
              </a:xfrm>
              <a:prstGeom prst="rect">
                <a:avLst/>
              </a:prstGeom>
              <a:noFill/>
              <a:ln w="571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2752346-1A42-4E18-8994-54FD1B398841}"/>
              </a:ext>
            </a:extLst>
          </p:cNvPr>
          <p:cNvSpPr/>
          <p:nvPr/>
        </p:nvSpPr>
        <p:spPr>
          <a:xfrm>
            <a:off x="510346" y="3516223"/>
            <a:ext cx="889912" cy="391407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5BDF00A-62DF-4905-9173-A8A2761F9F7D}"/>
              </a:ext>
            </a:extLst>
          </p:cNvPr>
          <p:cNvSpPr/>
          <p:nvPr/>
        </p:nvSpPr>
        <p:spPr>
          <a:xfrm>
            <a:off x="496053" y="5910780"/>
            <a:ext cx="889912" cy="391407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079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2D0F2B-C525-4955-86DE-0E0F97629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69" y="390960"/>
            <a:ext cx="11189824" cy="727409"/>
          </a:xfrm>
        </p:spPr>
        <p:txBody>
          <a:bodyPr>
            <a:normAutofit/>
          </a:bodyPr>
          <a:lstStyle/>
          <a:p>
            <a:r>
              <a:rPr lang="en-US" altLang="ko-KR"/>
              <a:t>1.3. </a:t>
            </a:r>
            <a:r>
              <a:rPr lang="ko-KR" altLang="en-US"/>
              <a:t>탐색적 데이터 분석 </a:t>
            </a:r>
            <a:r>
              <a:rPr lang="en-US" altLang="ko-KR" baseline="30000"/>
              <a:t>(EDA : </a:t>
            </a:r>
            <a:r>
              <a:rPr lang="en-US" altLang="ko-KR" i="0" baseline="30000">
                <a:solidFill>
                  <a:srgbClr val="202124"/>
                </a:solidFill>
                <a:effectLst/>
                <a:latin typeface="Apple SD Gothic Neo"/>
              </a:rPr>
              <a:t>Exploratory data analysis)  </a:t>
            </a:r>
            <a:r>
              <a:rPr lang="en-US" altLang="ko-KR" i="0">
                <a:solidFill>
                  <a:srgbClr val="202124"/>
                </a:solidFill>
                <a:effectLst/>
                <a:latin typeface="Apple SD Gothic Neo"/>
              </a:rPr>
              <a:t>– III  : Y</a:t>
            </a:r>
            <a:r>
              <a:rPr lang="ko-KR" altLang="en-US" i="0">
                <a:solidFill>
                  <a:srgbClr val="202124"/>
                </a:solidFill>
                <a:effectLst/>
                <a:latin typeface="Apple SD Gothic Neo"/>
              </a:rPr>
              <a:t>종속변수분석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57A14BD-25BD-4777-B0C1-C8DF7FC81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79" y="2125358"/>
            <a:ext cx="5622621" cy="395575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84D5BED-8DED-4190-8AED-BA6743FD3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998" y="2125358"/>
            <a:ext cx="5622621" cy="3955754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5FFA4034-3DEC-49A6-8506-6145C6618278}"/>
              </a:ext>
            </a:extLst>
          </p:cNvPr>
          <p:cNvSpPr txBox="1">
            <a:spLocks/>
          </p:cNvSpPr>
          <p:nvPr/>
        </p:nvSpPr>
        <p:spPr>
          <a:xfrm>
            <a:off x="362569" y="1235341"/>
            <a:ext cx="11506163" cy="7239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US" altLang="ko-KR" sz="1600" b="1"/>
              <a:t>Y</a:t>
            </a:r>
            <a:r>
              <a:rPr lang="ko-KR" altLang="en-US" sz="1600" b="1"/>
              <a:t>변수 탐색적 분석 </a:t>
            </a:r>
            <a:r>
              <a:rPr lang="en-US" altLang="ko-KR" sz="1600" b="1"/>
              <a:t>: </a:t>
            </a:r>
            <a:r>
              <a:rPr lang="ko-KR" altLang="en-US" sz="1600" b="1"/>
              <a:t>미국 </a:t>
            </a:r>
            <a:r>
              <a:rPr lang="en-US" altLang="ko-KR" sz="1600" b="1"/>
              <a:t>50</a:t>
            </a:r>
            <a:r>
              <a:rPr lang="ko-KR" altLang="en-US" sz="1600" b="1"/>
              <a:t>개주의 살인율 분포 </a:t>
            </a:r>
            <a:r>
              <a:rPr lang="en-US" altLang="ko-KR" sz="1600" b="1"/>
              <a:t>(</a:t>
            </a:r>
            <a:r>
              <a:rPr lang="ko-KR" altLang="en-US" sz="1600" b="1"/>
              <a:t>인구 </a:t>
            </a:r>
            <a:r>
              <a:rPr lang="en-US" altLang="ko-KR" sz="1600" b="1"/>
              <a:t>10</a:t>
            </a:r>
            <a:r>
              <a:rPr lang="ko-KR" altLang="en-US" sz="1600" b="1"/>
              <a:t>만명 당 살인범죄율</a:t>
            </a:r>
            <a:r>
              <a:rPr lang="en-US" altLang="ko-KR" sz="1600" b="1"/>
              <a:t>)</a:t>
            </a:r>
            <a:br>
              <a:rPr lang="en-US" altLang="ko-KR" sz="1600" b="1"/>
            </a:br>
            <a:r>
              <a:rPr lang="en-US" altLang="ko-KR" sz="1600" b="1"/>
              <a:t>(1) [</a:t>
            </a:r>
            <a:r>
              <a:rPr lang="ko-KR" altLang="en-US" sz="1600" b="1"/>
              <a:t>평균 </a:t>
            </a:r>
            <a:r>
              <a:rPr lang="en-US" altLang="ko-KR" sz="1600" b="1"/>
              <a:t>7.38], [Q2=p50=50% </a:t>
            </a:r>
            <a:r>
              <a:rPr lang="ko-KR" altLang="en-US" sz="1600" b="1"/>
              <a:t>중앙값</a:t>
            </a:r>
            <a:r>
              <a:rPr lang="en-US" altLang="ko-KR" sz="1100" b="1"/>
              <a:t>(median) </a:t>
            </a:r>
            <a:r>
              <a:rPr lang="en-US" altLang="ko-KR" sz="1600" b="1"/>
              <a:t>= 6.85] (2) </a:t>
            </a:r>
            <a:r>
              <a:rPr lang="ko-KR" altLang="en-US" sz="1600" b="1"/>
              <a:t>표준편차 </a:t>
            </a:r>
            <a:r>
              <a:rPr lang="en-US" altLang="ko-KR" sz="1600" b="1"/>
              <a:t>3.69 </a:t>
            </a:r>
            <a:br>
              <a:rPr lang="en-US" altLang="ko-KR" sz="1600" b="1"/>
            </a:br>
            <a:r>
              <a:rPr lang="en-US" altLang="ko-KR" sz="1600" b="1"/>
              <a:t>(3) Q1(4.35), Q2(6.85), Q3(10.7) </a:t>
            </a:r>
            <a:r>
              <a:rPr lang="ko-KR" altLang="en-US" sz="1600" b="1"/>
              <a:t>등 요약통계량 및 분포 분석</a:t>
            </a:r>
            <a:br>
              <a:rPr lang="ko-KR" altLang="en-US" sz="1600" b="1"/>
            </a:br>
            <a:endParaRPr lang="ko-KR" altLang="en-US" sz="16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534684-1DCD-40B5-9636-F6F511A2CF5D}"/>
              </a:ext>
            </a:extLst>
          </p:cNvPr>
          <p:cNvSpPr txBox="1"/>
          <p:nvPr/>
        </p:nvSpPr>
        <p:spPr>
          <a:xfrm>
            <a:off x="10991865" y="4140179"/>
            <a:ext cx="129073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Q2 = p50 = 50%</a:t>
            </a:r>
            <a:br>
              <a:rPr lang="en-US" altLang="ko-KR" sz="1100"/>
            </a:br>
            <a:r>
              <a:rPr lang="ko-KR" altLang="en-US" sz="1100"/>
              <a:t>중앙값</a:t>
            </a:r>
            <a:r>
              <a:rPr lang="en-US" altLang="ko-KR" sz="600"/>
              <a:t>(median) </a:t>
            </a:r>
            <a:r>
              <a:rPr lang="en-US" altLang="ko-KR" sz="1000"/>
              <a:t>=</a:t>
            </a:r>
            <a:r>
              <a:rPr lang="en-US" altLang="ko-KR" sz="600"/>
              <a:t> </a:t>
            </a:r>
            <a:r>
              <a:rPr lang="en-US" altLang="ko-KR" sz="1100"/>
              <a:t>6.85</a:t>
            </a:r>
            <a:endParaRPr lang="ko-KR" altLang="en-US" sz="110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EE46BCF-8FB5-4B9F-92E6-77E12F87FCD1}"/>
              </a:ext>
            </a:extLst>
          </p:cNvPr>
          <p:cNvCxnSpPr>
            <a:cxnSpLocks/>
          </p:cNvCxnSpPr>
          <p:nvPr/>
        </p:nvCxnSpPr>
        <p:spPr>
          <a:xfrm>
            <a:off x="10107665" y="4346386"/>
            <a:ext cx="9236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A1DA956-10DA-4386-B2E4-2D38295E0BAA}"/>
              </a:ext>
            </a:extLst>
          </p:cNvPr>
          <p:cNvSpPr txBox="1"/>
          <p:nvPr/>
        </p:nvSpPr>
        <p:spPr>
          <a:xfrm>
            <a:off x="10991865" y="4679758"/>
            <a:ext cx="121219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Q1 = p25 = 25%</a:t>
            </a:r>
            <a:br>
              <a:rPr lang="en-US" altLang="ko-KR" sz="1100"/>
            </a:br>
            <a:r>
              <a:rPr lang="en-US" altLang="ko-KR" sz="1100"/>
              <a:t>= 4.35</a:t>
            </a:r>
            <a:endParaRPr lang="ko-KR" altLang="en-US" sz="110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696CF232-E8BE-4340-A853-F6D9A86D475A}"/>
              </a:ext>
            </a:extLst>
          </p:cNvPr>
          <p:cNvCxnSpPr>
            <a:cxnSpLocks/>
          </p:cNvCxnSpPr>
          <p:nvPr/>
        </p:nvCxnSpPr>
        <p:spPr>
          <a:xfrm>
            <a:off x="10929700" y="4885965"/>
            <a:ext cx="10160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D3F5EEA-3177-44A6-81EA-707855763487}"/>
              </a:ext>
            </a:extLst>
          </p:cNvPr>
          <p:cNvSpPr txBox="1"/>
          <p:nvPr/>
        </p:nvSpPr>
        <p:spPr>
          <a:xfrm>
            <a:off x="10991865" y="3327377"/>
            <a:ext cx="12346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Q3 = p75 = 75%</a:t>
            </a:r>
            <a:br>
              <a:rPr lang="en-US" altLang="ko-KR" sz="1100"/>
            </a:br>
            <a:r>
              <a:rPr lang="en-US" altLang="ko-KR" sz="1100"/>
              <a:t>= 10.7</a:t>
            </a:r>
            <a:endParaRPr lang="ko-KR" altLang="en-US" sz="110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BC5EA62-4520-47E3-8B85-B2C6DBA6DB4A}"/>
              </a:ext>
            </a:extLst>
          </p:cNvPr>
          <p:cNvCxnSpPr>
            <a:cxnSpLocks/>
          </p:cNvCxnSpPr>
          <p:nvPr/>
        </p:nvCxnSpPr>
        <p:spPr>
          <a:xfrm>
            <a:off x="10929700" y="3533584"/>
            <a:ext cx="10160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F05D855-541E-44A0-A66B-7BB3ADBFBD0B}"/>
              </a:ext>
            </a:extLst>
          </p:cNvPr>
          <p:cNvSpPr txBox="1"/>
          <p:nvPr/>
        </p:nvSpPr>
        <p:spPr>
          <a:xfrm>
            <a:off x="10991865" y="5268095"/>
            <a:ext cx="111601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min = p0 = 0%</a:t>
            </a:r>
            <a:br>
              <a:rPr lang="en-US" altLang="ko-KR" sz="1100"/>
            </a:br>
            <a:r>
              <a:rPr lang="ko-KR" altLang="en-US" sz="1100"/>
              <a:t>최솟값 </a:t>
            </a:r>
            <a:r>
              <a:rPr lang="en-US" altLang="ko-KR" sz="1100"/>
              <a:t>= 1.4</a:t>
            </a:r>
            <a:endParaRPr lang="ko-KR" altLang="en-US" sz="110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6320DCF-9A7D-4A75-89D9-8D7B3C0379DF}"/>
              </a:ext>
            </a:extLst>
          </p:cNvPr>
          <p:cNvCxnSpPr>
            <a:cxnSpLocks/>
          </p:cNvCxnSpPr>
          <p:nvPr/>
        </p:nvCxnSpPr>
        <p:spPr>
          <a:xfrm flipV="1">
            <a:off x="10926618" y="5474302"/>
            <a:ext cx="104684" cy="120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4060105-6E54-480C-9C53-EBD63DE7962B}"/>
              </a:ext>
            </a:extLst>
          </p:cNvPr>
          <p:cNvSpPr txBox="1"/>
          <p:nvPr/>
        </p:nvSpPr>
        <p:spPr>
          <a:xfrm>
            <a:off x="10991865" y="2427869"/>
            <a:ext cx="13292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Max=p100=100%</a:t>
            </a:r>
            <a:br>
              <a:rPr lang="en-US" altLang="ko-KR" sz="1100"/>
            </a:br>
            <a:r>
              <a:rPr lang="ko-KR" altLang="en-US" sz="1100"/>
              <a:t>최댓값 </a:t>
            </a:r>
            <a:r>
              <a:rPr lang="en-US" altLang="ko-KR" sz="1100"/>
              <a:t>= 15.1</a:t>
            </a:r>
            <a:endParaRPr lang="ko-KR" altLang="en-US" sz="110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C103D71-8351-4593-AC29-634954105738}"/>
              </a:ext>
            </a:extLst>
          </p:cNvPr>
          <p:cNvCxnSpPr>
            <a:cxnSpLocks/>
          </p:cNvCxnSpPr>
          <p:nvPr/>
        </p:nvCxnSpPr>
        <p:spPr>
          <a:xfrm>
            <a:off x="10929700" y="2634076"/>
            <a:ext cx="10160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226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77476" y="686258"/>
            <a:ext cx="11837048" cy="440105"/>
          </a:xfrm>
        </p:spPr>
        <p:txBody>
          <a:bodyPr rtlCol="0">
            <a:normAutofit fontScale="90000"/>
          </a:bodyPr>
          <a:lstStyle/>
          <a:p>
            <a:r>
              <a:rPr lang="en-US" altLang="ko-KR" sz="2000" b="1">
                <a:cs typeface="Segoe UI Light" panose="020B0502040204020203" pitchFamily="34" charset="0"/>
              </a:rPr>
              <a:t>1. </a:t>
            </a:r>
            <a:r>
              <a:rPr lang="ko-KR" altLang="en-US" sz="2000" b="1">
                <a:cs typeface="Segoe UI Light" panose="020B0502040204020203" pitchFamily="34" charset="0"/>
              </a:rPr>
              <a:t>탐색적 데이터 분석                   </a:t>
            </a:r>
            <a:r>
              <a:rPr lang="en-US" altLang="ko-KR" sz="2000" b="1">
                <a:cs typeface="Segoe UI Light" panose="020B0502040204020203" pitchFamily="34" charset="0"/>
              </a:rPr>
              <a:t>2. </a:t>
            </a:r>
            <a:r>
              <a:rPr lang="ko-KR" altLang="en-US" sz="2000" b="1">
                <a:cs typeface="Segoe UI Light" panose="020B0502040204020203" pitchFamily="34" charset="0"/>
              </a:rPr>
              <a:t>다중회귀분석 모델링 순서                 </a:t>
            </a:r>
            <a:r>
              <a:rPr lang="en-US" altLang="ko-KR" sz="2000">
                <a:cs typeface="Segoe UI Light" panose="020B0502040204020203" pitchFamily="34" charset="0"/>
              </a:rPr>
              <a:t>3. </a:t>
            </a:r>
            <a:r>
              <a:rPr lang="ko-KR" altLang="en-US" sz="20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오차항에 관한 </a:t>
            </a:r>
            <a:r>
              <a:rPr lang="en-US" altLang="ko-KR" sz="20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4</a:t>
            </a:r>
            <a:r>
              <a:rPr lang="ko-KR" altLang="en-US" sz="20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가지 가정 검증</a:t>
            </a:r>
            <a:endParaRPr lang="ko-KR" altLang="en-US" sz="2000" b="1" dirty="0">
              <a:cs typeface="Segoe UI Light" panose="020B0502040204020203" pitchFamily="34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DCACE38-10FE-436E-8B15-32766F6B89A1}"/>
              </a:ext>
            </a:extLst>
          </p:cNvPr>
          <p:cNvGrpSpPr/>
          <p:nvPr/>
        </p:nvGrpSpPr>
        <p:grpSpPr>
          <a:xfrm>
            <a:off x="266555" y="1386617"/>
            <a:ext cx="3616724" cy="5330793"/>
            <a:chOff x="266555" y="1386617"/>
            <a:chExt cx="3616724" cy="5330793"/>
          </a:xfrm>
        </p:grpSpPr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BDC67CB3-F937-4EB0-A931-F0531BE4CA86}"/>
                </a:ext>
              </a:extLst>
            </p:cNvPr>
            <p:cNvGrpSpPr/>
            <p:nvPr/>
          </p:nvGrpSpPr>
          <p:grpSpPr>
            <a:xfrm>
              <a:off x="266555" y="6051761"/>
              <a:ext cx="484428" cy="438747"/>
              <a:chOff x="493337" y="1831975"/>
              <a:chExt cx="484428" cy="438747"/>
            </a:xfrm>
          </p:grpSpPr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7C472609-FC03-4AD9-9BB1-D69AEAE2828E}"/>
                  </a:ext>
                </a:extLst>
              </p:cNvPr>
              <p:cNvSpPr/>
              <p:nvPr/>
            </p:nvSpPr>
            <p:spPr>
              <a:xfrm>
                <a:off x="516178" y="1831975"/>
                <a:ext cx="438747" cy="43874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224305F-B682-4D40-9B0C-2994DF10A296}"/>
                  </a:ext>
                </a:extLst>
              </p:cNvPr>
              <p:cNvSpPr txBox="1"/>
              <p:nvPr/>
            </p:nvSpPr>
            <p:spPr>
              <a:xfrm>
                <a:off x="493337" y="1866682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1.3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CC85F1A-0C79-4F53-B218-1D36C1E2E039}"/>
                </a:ext>
              </a:extLst>
            </p:cNvPr>
            <p:cNvSpPr txBox="1"/>
            <p:nvPr/>
          </p:nvSpPr>
          <p:spPr>
            <a:xfrm>
              <a:off x="755500" y="5824858"/>
              <a:ext cx="1887055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Y</a:t>
              </a:r>
              <a:r>
                <a:rPr lang="ko-KR" altLang="en-US" sz="16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종속변수분석</a:t>
              </a:r>
              <a:br>
                <a:rPr lang="en-US" altLang="ko-KR" sz="16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2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Y</a:t>
              </a:r>
              <a:r>
                <a:rPr lang="ko-KR" altLang="en-US" sz="12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변수 탐색적 분석 </a:t>
              </a:r>
              <a:r>
                <a:rPr lang="en-US" altLang="ko-KR" sz="12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: </a:t>
              </a:r>
            </a:p>
            <a:p>
              <a:r>
                <a:rPr lang="ko-KR" altLang="en-US" sz="12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살인율 평균 </a:t>
              </a:r>
              <a:r>
                <a:rPr lang="en-US" altLang="ko-KR" sz="12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7.38% </a:t>
              </a:r>
              <a:r>
                <a:rPr lang="ko-KR" altLang="en-US" sz="12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등 </a:t>
              </a:r>
              <a:endParaRPr lang="en-US" altLang="ko-KR" sz="12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  <a:p>
              <a:r>
                <a:rPr lang="ko-KR" altLang="en-US" sz="12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요약통계량 및 분포 분석</a:t>
              </a:r>
            </a:p>
          </p:txBody>
        </p:sp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30B06436-94CA-499F-9E59-CBA64FEC68FB}"/>
                </a:ext>
              </a:extLst>
            </p:cNvPr>
            <p:cNvGrpSpPr/>
            <p:nvPr/>
          </p:nvGrpSpPr>
          <p:grpSpPr>
            <a:xfrm>
              <a:off x="266555" y="1590437"/>
              <a:ext cx="484428" cy="438747"/>
              <a:chOff x="493337" y="1831975"/>
              <a:chExt cx="484428" cy="438747"/>
            </a:xfrm>
          </p:grpSpPr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F95CD613-4E9C-4EC0-9821-0E52ADECB52A}"/>
                  </a:ext>
                </a:extLst>
              </p:cNvPr>
              <p:cNvSpPr/>
              <p:nvPr/>
            </p:nvSpPr>
            <p:spPr>
              <a:xfrm>
                <a:off x="516178" y="1831975"/>
                <a:ext cx="438747" cy="43874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5CE91D46-654E-440E-8D74-E3F3F748F6D7}"/>
                  </a:ext>
                </a:extLst>
              </p:cNvPr>
              <p:cNvSpPr txBox="1"/>
              <p:nvPr/>
            </p:nvSpPr>
            <p:spPr>
              <a:xfrm>
                <a:off x="493337" y="1866682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1.1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D7C68A9-21A9-48E3-8496-482C8E7F3612}"/>
                </a:ext>
              </a:extLst>
            </p:cNvPr>
            <p:cNvSpPr txBox="1"/>
            <p:nvPr/>
          </p:nvSpPr>
          <p:spPr>
            <a:xfrm>
              <a:off x="755500" y="1386617"/>
              <a:ext cx="3127779" cy="846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시각화</a:t>
              </a:r>
              <a:br>
                <a:rPr lang="en-US" altLang="ko-KR" sz="16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Y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변수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(Murder(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미국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50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개주 살인율 </a:t>
              </a:r>
              <a:b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예측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)) 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예측에 유효한 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X 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설명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(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원인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)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변수 파악 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:  </a:t>
              </a:r>
              <a:b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X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유효변수의 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Y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간 상관관계검증 활용방안</a:t>
              </a:r>
              <a:endParaRPr lang="ko-KR" altLang="en-US" sz="16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DBA6992B-6D07-4805-936E-A641719B6F00}"/>
                </a:ext>
              </a:extLst>
            </p:cNvPr>
            <p:cNvGrpSpPr/>
            <p:nvPr/>
          </p:nvGrpSpPr>
          <p:grpSpPr>
            <a:xfrm>
              <a:off x="266555" y="3809557"/>
              <a:ext cx="484428" cy="438747"/>
              <a:chOff x="493337" y="1831975"/>
              <a:chExt cx="484428" cy="438747"/>
            </a:xfrm>
          </p:grpSpPr>
          <p:sp>
            <p:nvSpPr>
              <p:cNvPr id="89" name="타원 88">
                <a:extLst>
                  <a:ext uri="{FF2B5EF4-FFF2-40B4-BE49-F238E27FC236}">
                    <a16:creationId xmlns:a16="http://schemas.microsoft.com/office/drawing/2014/main" id="{FDE91BC5-A9D7-47AE-BC50-017970778FC3}"/>
                  </a:ext>
                </a:extLst>
              </p:cNvPr>
              <p:cNvSpPr/>
              <p:nvPr/>
            </p:nvSpPr>
            <p:spPr>
              <a:xfrm>
                <a:off x="516178" y="1831975"/>
                <a:ext cx="438747" cy="43874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24AEB87-6FE2-40F9-B14E-F9ED8936F061}"/>
                  </a:ext>
                </a:extLst>
              </p:cNvPr>
              <p:cNvSpPr txBox="1"/>
              <p:nvPr/>
            </p:nvSpPr>
            <p:spPr>
              <a:xfrm>
                <a:off x="493337" y="1866682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1.2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57CDBCF-8A06-40DC-A36E-83B71EA96765}"/>
                </a:ext>
              </a:extLst>
            </p:cNvPr>
            <p:cNvSpPr txBox="1"/>
            <p:nvPr/>
          </p:nvSpPr>
          <p:spPr>
            <a:xfrm>
              <a:off x="755500" y="3605737"/>
              <a:ext cx="2990897" cy="846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상관관계분석</a:t>
              </a:r>
              <a:br>
                <a:rPr lang="en-US" altLang="ko-KR" sz="12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Y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변수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(Murder(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미국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50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개주 살인율 </a:t>
              </a:r>
              <a:b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예측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)) 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예측에 유효한 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X 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설명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(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원인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)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변수 파악 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:  </a:t>
              </a:r>
              <a:b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X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유효변수의 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Y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간 상관관계검증 활용방안</a:t>
              </a:r>
              <a:endParaRPr lang="ko-KR" altLang="en-US" sz="12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86530DF-F6F5-43C4-9793-A9382AFBFC44}"/>
              </a:ext>
            </a:extLst>
          </p:cNvPr>
          <p:cNvGrpSpPr/>
          <p:nvPr/>
        </p:nvGrpSpPr>
        <p:grpSpPr>
          <a:xfrm>
            <a:off x="0" y="-17527"/>
            <a:ext cx="2798618" cy="499454"/>
            <a:chOff x="0" y="-17527"/>
            <a:chExt cx="1985818" cy="499454"/>
          </a:xfrm>
        </p:grpSpPr>
        <p:sp>
          <p:nvSpPr>
            <p:cNvPr id="48" name="사각형: 둥근 한쪽 모서리 47">
              <a:extLst>
                <a:ext uri="{FF2B5EF4-FFF2-40B4-BE49-F238E27FC236}">
                  <a16:creationId xmlns:a16="http://schemas.microsoft.com/office/drawing/2014/main" id="{29E9CC8A-DF03-47D6-9854-04353B928A0D}"/>
                </a:ext>
              </a:extLst>
            </p:cNvPr>
            <p:cNvSpPr/>
            <p:nvPr/>
          </p:nvSpPr>
          <p:spPr>
            <a:xfrm rot="10800000" flipH="1">
              <a:off x="0" y="-1"/>
              <a:ext cx="1985818" cy="481928"/>
            </a:xfrm>
            <a:prstGeom prst="round1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0B2B052-6800-49F8-AECC-F55D59FDFCF6}"/>
                </a:ext>
              </a:extLst>
            </p:cNvPr>
            <p:cNvSpPr txBox="1"/>
            <p:nvPr/>
          </p:nvSpPr>
          <p:spPr>
            <a:xfrm>
              <a:off x="851351" y="-17527"/>
              <a:ext cx="10757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</a:rPr>
                <a:t>Contents</a:t>
              </a:r>
              <a:endParaRPr lang="ko-KR" altLang="en-US" sz="24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7389F62F-935A-4288-BE8B-7A5B2076EF9B}"/>
              </a:ext>
            </a:extLst>
          </p:cNvPr>
          <p:cNvGrpSpPr/>
          <p:nvPr/>
        </p:nvGrpSpPr>
        <p:grpSpPr>
          <a:xfrm>
            <a:off x="3906120" y="686258"/>
            <a:ext cx="4402603" cy="6107090"/>
            <a:chOff x="3906120" y="686258"/>
            <a:chExt cx="4402603" cy="6107090"/>
          </a:xfrm>
        </p:grpSpPr>
        <p:sp>
          <p:nvSpPr>
            <p:cNvPr id="21" name="내용 개체 틀 17"/>
            <p:cNvSpPr txBox="1">
              <a:spLocks/>
            </p:cNvSpPr>
            <p:nvPr/>
          </p:nvSpPr>
          <p:spPr>
            <a:xfrm>
              <a:off x="4492770" y="1386617"/>
              <a:ext cx="2815035" cy="45348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완전모형</a:t>
              </a:r>
              <a: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(</a:t>
              </a: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모든</a:t>
              </a:r>
              <a: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x</a:t>
              </a: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변수 투입</a:t>
              </a:r>
              <a: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)</a:t>
              </a: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으로 </a:t>
              </a:r>
              <a:b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1</a:t>
              </a: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차 선형모형식 산출</a:t>
              </a:r>
              <a:endParaRPr lang="ko-KR" altLang="en-US" sz="13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1CAF7FF9-660E-4287-82B1-5D7A583ADBEC}"/>
                </a:ext>
              </a:extLst>
            </p:cNvPr>
            <p:cNvGrpSpPr/>
            <p:nvPr/>
          </p:nvGrpSpPr>
          <p:grpSpPr>
            <a:xfrm>
              <a:off x="3949475" y="1393985"/>
              <a:ext cx="484428" cy="438747"/>
              <a:chOff x="3949475" y="1766642"/>
              <a:chExt cx="484428" cy="438747"/>
            </a:xfrm>
          </p:grpSpPr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8D5D4736-EF5B-4105-AF73-DE3EF144994C}"/>
                  </a:ext>
                </a:extLst>
              </p:cNvPr>
              <p:cNvSpPr/>
              <p:nvPr/>
            </p:nvSpPr>
            <p:spPr>
              <a:xfrm>
                <a:off x="3972316" y="1766642"/>
                <a:ext cx="438747" cy="4387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BC35FAC9-10B8-4DB7-94D8-58D13F09AFD4}"/>
                  </a:ext>
                </a:extLst>
              </p:cNvPr>
              <p:cNvSpPr txBox="1"/>
              <p:nvPr/>
            </p:nvSpPr>
            <p:spPr>
              <a:xfrm>
                <a:off x="3949475" y="1801349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2.1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6" name="내용 개체 틀 17">
              <a:extLst>
                <a:ext uri="{FF2B5EF4-FFF2-40B4-BE49-F238E27FC236}">
                  <a16:creationId xmlns:a16="http://schemas.microsoft.com/office/drawing/2014/main" id="{AB205E41-8DA1-47D7-B55E-5381544160D5}"/>
                </a:ext>
              </a:extLst>
            </p:cNvPr>
            <p:cNvSpPr txBox="1">
              <a:spLocks/>
            </p:cNvSpPr>
            <p:nvPr/>
          </p:nvSpPr>
          <p:spPr>
            <a:xfrm>
              <a:off x="4530893" y="2061263"/>
              <a:ext cx="3593238" cy="126654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X</a:t>
              </a: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변수들간의 </a:t>
              </a:r>
              <a:r>
                <a:rPr lang="ko-KR" altLang="en-US" sz="1300" b="1" u="sng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다중공선성</a:t>
              </a: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 이슈 해결 </a:t>
              </a:r>
              <a:b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en-US" altLang="ko-KR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(</a:t>
              </a:r>
              <a:r>
                <a:rPr lang="ko-KR" altLang="en-US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목적</a:t>
              </a:r>
              <a:r>
                <a:rPr lang="en-US" altLang="ko-KR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) </a:t>
              </a:r>
              <a:r>
                <a:rPr lang="ko-KR" altLang="en-US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예측</a:t>
              </a:r>
              <a:r>
                <a: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/</a:t>
              </a:r>
              <a:r>
                <a:rPr lang="ko-KR" altLang="en-US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추정 모형식 </a:t>
              </a:r>
              <a:r>
                <a:rPr lang="ko-KR" altLang="en-US" sz="105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회귀계수값의</a:t>
              </a:r>
              <a:r>
                <a:rPr lang="ko-KR" altLang="en-US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 신뢰도 </a:t>
              </a:r>
              <a:r>
                <a:rPr lang="ko-KR" altLang="en-US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하락 방지</a:t>
              </a:r>
              <a:br>
                <a:rPr lang="en-US" altLang="ko-KR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en-US" altLang="ko-KR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(1) car:vif(</a:t>
              </a:r>
              <a:r>
                <a:rPr lang="ko-KR" altLang="en-US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모형식명</a:t>
              </a:r>
              <a:r>
                <a:rPr lang="en-US" altLang="ko-KR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)&gt;10</a:t>
              </a:r>
              <a:r>
                <a:rPr lang="ko-KR" altLang="en-US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인 변수 제거</a:t>
              </a:r>
              <a:r>
                <a:rPr lang="en-US" altLang="ko-KR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, </a:t>
              </a:r>
              <a:r>
                <a:rPr lang="ko-KR" altLang="en-US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잔여후보변수들이</a:t>
              </a:r>
              <a:br>
                <a:rPr lang="en-US" altLang="ko-KR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en-US" altLang="ko-KR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    car:vif(</a:t>
              </a:r>
              <a:r>
                <a:rPr lang="ko-KR" altLang="en-US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모형식명</a:t>
              </a:r>
              <a:r>
                <a:rPr lang="en-US" altLang="ko-KR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)&lt;10</a:t>
              </a:r>
              <a:r>
                <a:rPr lang="ko-KR" altLang="en-US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이 될 때까지 변수 제거 </a:t>
              </a:r>
              <a:br>
                <a:rPr lang="en-US" altLang="ko-KR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en-US" altLang="ko-KR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(2) </a:t>
              </a:r>
              <a:r>
                <a:rPr lang="ko-KR" altLang="en-US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최종후보모형</a:t>
              </a:r>
              <a:r>
                <a:rPr lang="en-US" altLang="ko-KR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/</a:t>
              </a:r>
              <a:r>
                <a:rPr lang="ko-KR" altLang="en-US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채택변수가 됨</a:t>
              </a:r>
              <a:endParaRPr lang="en-US" altLang="ko-KR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131" name="그룹 130">
              <a:extLst>
                <a:ext uri="{FF2B5EF4-FFF2-40B4-BE49-F238E27FC236}">
                  <a16:creationId xmlns:a16="http://schemas.microsoft.com/office/drawing/2014/main" id="{FE6FD0DE-2401-492E-A2CB-B715B0AE1F09}"/>
                </a:ext>
              </a:extLst>
            </p:cNvPr>
            <p:cNvGrpSpPr/>
            <p:nvPr/>
          </p:nvGrpSpPr>
          <p:grpSpPr>
            <a:xfrm>
              <a:off x="3949475" y="2475161"/>
              <a:ext cx="484428" cy="438747"/>
              <a:chOff x="3949475" y="1766642"/>
              <a:chExt cx="484428" cy="438747"/>
            </a:xfrm>
          </p:grpSpPr>
          <p:sp>
            <p:nvSpPr>
              <p:cNvPr id="132" name="타원 131">
                <a:extLst>
                  <a:ext uri="{FF2B5EF4-FFF2-40B4-BE49-F238E27FC236}">
                    <a16:creationId xmlns:a16="http://schemas.microsoft.com/office/drawing/2014/main" id="{650638A1-6FC6-47A8-9039-D927CA410E87}"/>
                  </a:ext>
                </a:extLst>
              </p:cNvPr>
              <p:cNvSpPr/>
              <p:nvPr/>
            </p:nvSpPr>
            <p:spPr>
              <a:xfrm>
                <a:off x="3972316" y="1766642"/>
                <a:ext cx="438747" cy="4387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8B4A58B3-5BD3-4796-B6F5-D4B2562A9818}"/>
                  </a:ext>
                </a:extLst>
              </p:cNvPr>
              <p:cNvSpPr txBox="1"/>
              <p:nvPr/>
            </p:nvSpPr>
            <p:spPr>
              <a:xfrm>
                <a:off x="3949475" y="1801349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2.2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4" name="내용 개체 틀 17">
              <a:extLst>
                <a:ext uri="{FF2B5EF4-FFF2-40B4-BE49-F238E27FC236}">
                  <a16:creationId xmlns:a16="http://schemas.microsoft.com/office/drawing/2014/main" id="{376453AC-B87E-4223-9FEF-F4018F4A0655}"/>
                </a:ext>
              </a:extLst>
            </p:cNvPr>
            <p:cNvSpPr txBox="1">
              <a:spLocks/>
            </p:cNvSpPr>
            <p:nvPr/>
          </p:nvSpPr>
          <p:spPr>
            <a:xfrm>
              <a:off x="4530893" y="3548969"/>
              <a:ext cx="3742485" cy="45348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변수선택법 적용을 통한 </a:t>
              </a:r>
              <a:b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불필요한 </a:t>
              </a:r>
              <a: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X</a:t>
              </a: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변수 제거 </a:t>
              </a:r>
              <a: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: 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step(</a:t>
              </a:r>
              <a:r>
                <a:rPr lang="ko-KR" altLang="en-US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모형식명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)</a:t>
              </a:r>
              <a:endParaRPr lang="ko-KR" altLang="en-US" sz="13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134" name="그룹 133">
              <a:extLst>
                <a:ext uri="{FF2B5EF4-FFF2-40B4-BE49-F238E27FC236}">
                  <a16:creationId xmlns:a16="http://schemas.microsoft.com/office/drawing/2014/main" id="{B7A66D93-C958-49FA-8A67-D878A3A51090}"/>
                </a:ext>
              </a:extLst>
            </p:cNvPr>
            <p:cNvGrpSpPr/>
            <p:nvPr/>
          </p:nvGrpSpPr>
          <p:grpSpPr>
            <a:xfrm>
              <a:off x="3949475" y="3556337"/>
              <a:ext cx="484428" cy="438747"/>
              <a:chOff x="3949475" y="1766642"/>
              <a:chExt cx="484428" cy="438747"/>
            </a:xfrm>
          </p:grpSpPr>
          <p:sp>
            <p:nvSpPr>
              <p:cNvPr id="135" name="타원 134">
                <a:extLst>
                  <a:ext uri="{FF2B5EF4-FFF2-40B4-BE49-F238E27FC236}">
                    <a16:creationId xmlns:a16="http://schemas.microsoft.com/office/drawing/2014/main" id="{48382935-34E3-4E22-83BE-B81DAE117A9C}"/>
                  </a:ext>
                </a:extLst>
              </p:cNvPr>
              <p:cNvSpPr/>
              <p:nvPr/>
            </p:nvSpPr>
            <p:spPr>
              <a:xfrm>
                <a:off x="3972316" y="1766642"/>
                <a:ext cx="438747" cy="4387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F718DA65-EC30-4C5B-A442-9BF4A4A9D91A}"/>
                  </a:ext>
                </a:extLst>
              </p:cNvPr>
              <p:cNvSpPr txBox="1"/>
              <p:nvPr/>
            </p:nvSpPr>
            <p:spPr>
              <a:xfrm>
                <a:off x="3949475" y="1801349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2.3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8" name="내용 개체 틀 17">
              <a:extLst>
                <a:ext uri="{FF2B5EF4-FFF2-40B4-BE49-F238E27FC236}">
                  <a16:creationId xmlns:a16="http://schemas.microsoft.com/office/drawing/2014/main" id="{1780E162-766C-4C2F-9169-11C03D368C58}"/>
                </a:ext>
              </a:extLst>
            </p:cNvPr>
            <p:cNvSpPr txBox="1">
              <a:spLocks/>
            </p:cNvSpPr>
            <p:nvPr/>
          </p:nvSpPr>
          <p:spPr>
            <a:xfrm>
              <a:off x="4530893" y="4223615"/>
              <a:ext cx="3742485" cy="117397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2</a:t>
              </a: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차다중공선성 체크</a:t>
              </a:r>
              <a:b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(</a:t>
              </a:r>
              <a:r>
                <a:rPr lang="ko-KR" altLang="en-US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이후 수정모형 변경 후</a:t>
              </a:r>
              <a:r>
                <a:rPr lang="en-US" altLang="ko-KR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, </a:t>
              </a:r>
              <a:r>
                <a:rPr lang="ko-KR" altLang="en-US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다중공선성 제거 시 까지 반복실행</a:t>
              </a:r>
              <a:r>
                <a:rPr lang="en-US" altLang="ko-KR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)</a:t>
              </a:r>
              <a:br>
                <a:rPr lang="en-US" altLang="ko-KR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(1) car:vif(</a:t>
              </a:r>
              <a:r>
                <a:rPr lang="ko-KR" altLang="en-US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모형식명</a:t>
              </a:r>
              <a:r>
                <a:rPr lang="en-US" altLang="ko-KR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)&gt;10</a:t>
              </a:r>
              <a:r>
                <a:rPr lang="ko-KR" altLang="en-US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인 변수 제거</a:t>
              </a:r>
              <a:r>
                <a:rPr lang="en-US" altLang="ko-KR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, </a:t>
              </a:r>
              <a:r>
                <a:rPr lang="ko-KR" altLang="en-US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잔여후보변수들이</a:t>
              </a:r>
              <a:br>
                <a:rPr lang="en-US" altLang="ko-KR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en-US" altLang="ko-KR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    car:vif(</a:t>
              </a:r>
              <a:r>
                <a:rPr lang="ko-KR" altLang="en-US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모형식명</a:t>
              </a:r>
              <a:r>
                <a:rPr lang="en-US" altLang="ko-KR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)&lt;10</a:t>
              </a:r>
              <a:r>
                <a:rPr lang="ko-KR" altLang="en-US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이 될 때까지 변수 제거 </a:t>
              </a:r>
              <a:br>
                <a:rPr lang="en-US" altLang="ko-KR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en-US" altLang="ko-KR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(2) </a:t>
              </a:r>
              <a:r>
                <a:rPr lang="ko-KR" altLang="en-US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최종후보모형</a:t>
              </a:r>
              <a:r>
                <a:rPr lang="en-US" altLang="ko-KR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/</a:t>
              </a:r>
              <a:r>
                <a:rPr lang="ko-KR" altLang="en-US" sz="105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채택변수가 됨</a:t>
              </a:r>
              <a:endParaRPr lang="en-US" altLang="ko-KR"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493EEF06-6AF4-4008-A16D-392797BB0184}"/>
                </a:ext>
              </a:extLst>
            </p:cNvPr>
            <p:cNvGrpSpPr/>
            <p:nvPr/>
          </p:nvGrpSpPr>
          <p:grpSpPr>
            <a:xfrm>
              <a:off x="3949475" y="4591229"/>
              <a:ext cx="484428" cy="438747"/>
              <a:chOff x="3949475" y="1766642"/>
              <a:chExt cx="484428" cy="438747"/>
            </a:xfrm>
          </p:grpSpPr>
          <p:sp>
            <p:nvSpPr>
              <p:cNvPr id="138" name="타원 137">
                <a:extLst>
                  <a:ext uri="{FF2B5EF4-FFF2-40B4-BE49-F238E27FC236}">
                    <a16:creationId xmlns:a16="http://schemas.microsoft.com/office/drawing/2014/main" id="{00300FA8-1C9D-4B27-8C7D-E010E5199FE2}"/>
                  </a:ext>
                </a:extLst>
              </p:cNvPr>
              <p:cNvSpPr/>
              <p:nvPr/>
            </p:nvSpPr>
            <p:spPr>
              <a:xfrm>
                <a:off x="3972316" y="1766642"/>
                <a:ext cx="438747" cy="4387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C0D19811-64F1-45B6-B791-386C73E634E0}"/>
                  </a:ext>
                </a:extLst>
              </p:cNvPr>
              <p:cNvSpPr txBox="1"/>
              <p:nvPr/>
            </p:nvSpPr>
            <p:spPr>
              <a:xfrm>
                <a:off x="3949475" y="1801349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2.4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2" name="내용 개체 틀 17">
              <a:extLst>
                <a:ext uri="{FF2B5EF4-FFF2-40B4-BE49-F238E27FC236}">
                  <a16:creationId xmlns:a16="http://schemas.microsoft.com/office/drawing/2014/main" id="{BC79A694-F7CF-4DAB-A5EF-62C8D6FA9BB3}"/>
                </a:ext>
              </a:extLst>
            </p:cNvPr>
            <p:cNvSpPr txBox="1">
              <a:spLocks/>
            </p:cNvSpPr>
            <p:nvPr/>
          </p:nvSpPr>
          <p:spPr>
            <a:xfrm>
              <a:off x="4530893" y="5702611"/>
              <a:ext cx="3608814" cy="27103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(</a:t>
              </a: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이상치 제거 전</a:t>
              </a:r>
              <a: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)</a:t>
              </a: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 잠정적 최우선모형식 도출</a:t>
              </a:r>
              <a:endParaRPr lang="ko-KR" altLang="en-US" sz="13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E52DD070-E4FD-43BC-A009-36F311DCBD67}"/>
                </a:ext>
              </a:extLst>
            </p:cNvPr>
            <p:cNvGrpSpPr/>
            <p:nvPr/>
          </p:nvGrpSpPr>
          <p:grpSpPr>
            <a:xfrm>
              <a:off x="3949475" y="5618754"/>
              <a:ext cx="484428" cy="438747"/>
              <a:chOff x="3949475" y="1766642"/>
              <a:chExt cx="484428" cy="438747"/>
            </a:xfrm>
          </p:grpSpPr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E3DEC054-A6FF-4B43-AA58-C32666541B90}"/>
                  </a:ext>
                </a:extLst>
              </p:cNvPr>
              <p:cNvSpPr/>
              <p:nvPr/>
            </p:nvSpPr>
            <p:spPr>
              <a:xfrm>
                <a:off x="3972316" y="1766642"/>
                <a:ext cx="438747" cy="4387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E4494572-5111-4D44-9FD5-EBC5145CC5C2}"/>
                  </a:ext>
                </a:extLst>
              </p:cNvPr>
              <p:cNvSpPr txBox="1"/>
              <p:nvPr/>
            </p:nvSpPr>
            <p:spPr>
              <a:xfrm>
                <a:off x="3949475" y="1801349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2.5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71" name="내용 개체 틀 17">
              <a:extLst>
                <a:ext uri="{FF2B5EF4-FFF2-40B4-BE49-F238E27FC236}">
                  <a16:creationId xmlns:a16="http://schemas.microsoft.com/office/drawing/2014/main" id="{95C28F07-7455-426B-8AC0-2F3ACE642DD0}"/>
                </a:ext>
              </a:extLst>
            </p:cNvPr>
            <p:cNvSpPr txBox="1">
              <a:spLocks/>
            </p:cNvSpPr>
            <p:nvPr/>
          </p:nvSpPr>
          <p:spPr>
            <a:xfrm>
              <a:off x="4530893" y="6362520"/>
              <a:ext cx="2488743" cy="27103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이상치 제거 후 최종모형 결정</a:t>
              </a:r>
              <a:endParaRPr lang="ko-KR" altLang="en-US" sz="13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172" name="그룹 171">
              <a:extLst>
                <a:ext uri="{FF2B5EF4-FFF2-40B4-BE49-F238E27FC236}">
                  <a16:creationId xmlns:a16="http://schemas.microsoft.com/office/drawing/2014/main" id="{187109AC-F210-42D8-8159-A6A1D2CAAD6A}"/>
                </a:ext>
              </a:extLst>
            </p:cNvPr>
            <p:cNvGrpSpPr/>
            <p:nvPr/>
          </p:nvGrpSpPr>
          <p:grpSpPr>
            <a:xfrm>
              <a:off x="3949475" y="6278663"/>
              <a:ext cx="484428" cy="438747"/>
              <a:chOff x="3949475" y="1766642"/>
              <a:chExt cx="484428" cy="438747"/>
            </a:xfrm>
          </p:grpSpPr>
          <p:sp>
            <p:nvSpPr>
              <p:cNvPr id="173" name="타원 172">
                <a:extLst>
                  <a:ext uri="{FF2B5EF4-FFF2-40B4-BE49-F238E27FC236}">
                    <a16:creationId xmlns:a16="http://schemas.microsoft.com/office/drawing/2014/main" id="{149D0388-87F1-44C3-93B0-60F474B0B151}"/>
                  </a:ext>
                </a:extLst>
              </p:cNvPr>
              <p:cNvSpPr/>
              <p:nvPr/>
            </p:nvSpPr>
            <p:spPr>
              <a:xfrm>
                <a:off x="3972316" y="1766642"/>
                <a:ext cx="438747" cy="4387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97F07B3D-CDB8-43DE-BBA7-3661EC7A44EC}"/>
                  </a:ext>
                </a:extLst>
              </p:cNvPr>
              <p:cNvSpPr txBox="1"/>
              <p:nvPr/>
            </p:nvSpPr>
            <p:spPr>
              <a:xfrm>
                <a:off x="3949475" y="1801349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2.6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CAD2B394-1C55-4635-88D8-F2C339411512}"/>
                </a:ext>
              </a:extLst>
            </p:cNvPr>
            <p:cNvSpPr/>
            <p:nvPr/>
          </p:nvSpPr>
          <p:spPr>
            <a:xfrm>
              <a:off x="3906120" y="686258"/>
              <a:ext cx="4402603" cy="610709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5A3CDC4E-AF5B-4992-B02E-7FA561FBEF4B}"/>
              </a:ext>
            </a:extLst>
          </p:cNvPr>
          <p:cNvGrpSpPr/>
          <p:nvPr/>
        </p:nvGrpSpPr>
        <p:grpSpPr>
          <a:xfrm>
            <a:off x="8382930" y="1386617"/>
            <a:ext cx="3223208" cy="2752480"/>
            <a:chOff x="8382930" y="1386617"/>
            <a:chExt cx="3223208" cy="2752480"/>
          </a:xfrm>
        </p:grpSpPr>
        <p:sp>
          <p:nvSpPr>
            <p:cNvPr id="81" name="내용 개체 틀 17">
              <a:extLst>
                <a:ext uri="{FF2B5EF4-FFF2-40B4-BE49-F238E27FC236}">
                  <a16:creationId xmlns:a16="http://schemas.microsoft.com/office/drawing/2014/main" id="{45777F5C-AAB2-41CE-A07A-A15157FCDC64}"/>
                </a:ext>
              </a:extLst>
            </p:cNvPr>
            <p:cNvSpPr txBox="1">
              <a:spLocks/>
            </p:cNvSpPr>
            <p:nvPr/>
          </p:nvSpPr>
          <p:spPr>
            <a:xfrm>
              <a:off x="8980280" y="1465230"/>
              <a:ext cx="1976343" cy="28152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오차 독립성 가정</a:t>
              </a:r>
              <a:endParaRPr lang="ko-KR" altLang="en-US" sz="1300" b="1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C86D6620-71D8-4CF1-B3D8-459365F9B619}"/>
                </a:ext>
              </a:extLst>
            </p:cNvPr>
            <p:cNvGrpSpPr/>
            <p:nvPr/>
          </p:nvGrpSpPr>
          <p:grpSpPr>
            <a:xfrm>
              <a:off x="8382930" y="1386617"/>
              <a:ext cx="484428" cy="438747"/>
              <a:chOff x="493337" y="1831975"/>
              <a:chExt cx="484428" cy="438747"/>
            </a:xfrm>
          </p:grpSpPr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A395D874-DCB4-4A13-8514-6DEE94787F07}"/>
                  </a:ext>
                </a:extLst>
              </p:cNvPr>
              <p:cNvSpPr/>
              <p:nvPr/>
            </p:nvSpPr>
            <p:spPr>
              <a:xfrm>
                <a:off x="516178" y="1831975"/>
                <a:ext cx="438747" cy="438747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B20A0682-648F-4478-B2D6-9E6A5A476F6C}"/>
                  </a:ext>
                </a:extLst>
              </p:cNvPr>
              <p:cNvSpPr txBox="1"/>
              <p:nvPr/>
            </p:nvSpPr>
            <p:spPr>
              <a:xfrm>
                <a:off x="493337" y="1866682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3.1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6" name="내용 개체 틀 17">
              <a:extLst>
                <a:ext uri="{FF2B5EF4-FFF2-40B4-BE49-F238E27FC236}">
                  <a16:creationId xmlns:a16="http://schemas.microsoft.com/office/drawing/2014/main" id="{9E780F31-63D1-49DA-BBE2-A94E59D7A938}"/>
                </a:ext>
              </a:extLst>
            </p:cNvPr>
            <p:cNvSpPr txBox="1">
              <a:spLocks/>
            </p:cNvSpPr>
            <p:nvPr/>
          </p:nvSpPr>
          <p:spPr>
            <a:xfrm>
              <a:off x="8980281" y="2236474"/>
              <a:ext cx="2625857" cy="28152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오차 간 자기상관관계가 없을 것</a:t>
              </a:r>
              <a:endParaRPr lang="ko-KR" altLang="en-US" sz="1300" b="1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34E44610-A6FC-4B77-9FD7-AFE543D943DA}"/>
                </a:ext>
              </a:extLst>
            </p:cNvPr>
            <p:cNvGrpSpPr/>
            <p:nvPr/>
          </p:nvGrpSpPr>
          <p:grpSpPr>
            <a:xfrm>
              <a:off x="8382930" y="2157861"/>
              <a:ext cx="484428" cy="438747"/>
              <a:chOff x="493337" y="1831975"/>
              <a:chExt cx="484428" cy="438747"/>
            </a:xfrm>
          </p:grpSpPr>
          <p:sp>
            <p:nvSpPr>
              <p:cNvPr id="98" name="타원 97">
                <a:extLst>
                  <a:ext uri="{FF2B5EF4-FFF2-40B4-BE49-F238E27FC236}">
                    <a16:creationId xmlns:a16="http://schemas.microsoft.com/office/drawing/2014/main" id="{A492FBB6-92AA-4472-BBA2-52E9A556A4B7}"/>
                  </a:ext>
                </a:extLst>
              </p:cNvPr>
              <p:cNvSpPr/>
              <p:nvPr/>
            </p:nvSpPr>
            <p:spPr>
              <a:xfrm>
                <a:off x="516178" y="1831975"/>
                <a:ext cx="438747" cy="438747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E94F3673-B98E-4063-8065-1A9D23C6E7CA}"/>
                  </a:ext>
                </a:extLst>
              </p:cNvPr>
              <p:cNvSpPr txBox="1"/>
              <p:nvPr/>
            </p:nvSpPr>
            <p:spPr>
              <a:xfrm>
                <a:off x="493337" y="1866682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3.2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06" name="내용 개체 틀 17">
              <a:extLst>
                <a:ext uri="{FF2B5EF4-FFF2-40B4-BE49-F238E27FC236}">
                  <a16:creationId xmlns:a16="http://schemas.microsoft.com/office/drawing/2014/main" id="{5DD3FC0B-F57E-4085-89E0-6D4619FE1D29}"/>
                </a:ext>
              </a:extLst>
            </p:cNvPr>
            <p:cNvSpPr txBox="1">
              <a:spLocks/>
            </p:cNvSpPr>
            <p:nvPr/>
          </p:nvSpPr>
          <p:spPr>
            <a:xfrm>
              <a:off x="8980280" y="3007718"/>
              <a:ext cx="2104330" cy="28152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오차 등분산성 가정</a:t>
              </a:r>
              <a:endParaRPr lang="ko-KR" altLang="en-US" sz="1300" b="1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0717C605-8015-4DEF-8E25-91516F1D88C0}"/>
                </a:ext>
              </a:extLst>
            </p:cNvPr>
            <p:cNvGrpSpPr/>
            <p:nvPr/>
          </p:nvGrpSpPr>
          <p:grpSpPr>
            <a:xfrm>
              <a:off x="8382930" y="2929105"/>
              <a:ext cx="484428" cy="438747"/>
              <a:chOff x="8382930" y="4595703"/>
              <a:chExt cx="484428" cy="438747"/>
            </a:xfrm>
          </p:grpSpPr>
          <p:sp>
            <p:nvSpPr>
              <p:cNvPr id="109" name="타원 108">
                <a:extLst>
                  <a:ext uri="{FF2B5EF4-FFF2-40B4-BE49-F238E27FC236}">
                    <a16:creationId xmlns:a16="http://schemas.microsoft.com/office/drawing/2014/main" id="{4551CC9A-B5E2-4DAD-B3C8-4560FF6EC90B}"/>
                  </a:ext>
                </a:extLst>
              </p:cNvPr>
              <p:cNvSpPr/>
              <p:nvPr/>
            </p:nvSpPr>
            <p:spPr>
              <a:xfrm>
                <a:off x="8405771" y="4595703"/>
                <a:ext cx="438747" cy="438747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76520ED0-6500-405F-9A54-7491BE961F2C}"/>
                  </a:ext>
                </a:extLst>
              </p:cNvPr>
              <p:cNvSpPr txBox="1"/>
              <p:nvPr/>
            </p:nvSpPr>
            <p:spPr>
              <a:xfrm>
                <a:off x="8382930" y="4630410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3.3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13" name="내용 개체 틀 17">
              <a:extLst>
                <a:ext uri="{FF2B5EF4-FFF2-40B4-BE49-F238E27FC236}">
                  <a16:creationId xmlns:a16="http://schemas.microsoft.com/office/drawing/2014/main" id="{9AEEF3F5-5305-4458-A128-11F279EBDD3E}"/>
                </a:ext>
              </a:extLst>
            </p:cNvPr>
            <p:cNvSpPr txBox="1">
              <a:spLocks/>
            </p:cNvSpPr>
            <p:nvPr/>
          </p:nvSpPr>
          <p:spPr>
            <a:xfrm>
              <a:off x="8980281" y="3778963"/>
              <a:ext cx="2274980" cy="28152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오차 정규성 검증</a:t>
              </a:r>
              <a:endParaRPr lang="ko-KR" altLang="en-US" sz="1300" b="1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0A7860E4-2B28-46ED-AB88-C88094089829}"/>
                </a:ext>
              </a:extLst>
            </p:cNvPr>
            <p:cNvGrpSpPr/>
            <p:nvPr/>
          </p:nvGrpSpPr>
          <p:grpSpPr>
            <a:xfrm>
              <a:off x="8382930" y="3700350"/>
              <a:ext cx="484428" cy="438747"/>
              <a:chOff x="8382930" y="5988957"/>
              <a:chExt cx="484428" cy="438747"/>
            </a:xfrm>
          </p:grpSpPr>
          <p:sp>
            <p:nvSpPr>
              <p:cNvPr id="116" name="타원 115">
                <a:extLst>
                  <a:ext uri="{FF2B5EF4-FFF2-40B4-BE49-F238E27FC236}">
                    <a16:creationId xmlns:a16="http://schemas.microsoft.com/office/drawing/2014/main" id="{0BCFF299-C1B3-4626-AF2F-F9827F3E93DF}"/>
                  </a:ext>
                </a:extLst>
              </p:cNvPr>
              <p:cNvSpPr/>
              <p:nvPr/>
            </p:nvSpPr>
            <p:spPr>
              <a:xfrm>
                <a:off x="8405771" y="5988957"/>
                <a:ext cx="438747" cy="438747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011D0A53-AD85-486C-8BB6-4C855FB02EB5}"/>
                  </a:ext>
                </a:extLst>
              </p:cNvPr>
              <p:cNvSpPr txBox="1"/>
              <p:nvPr/>
            </p:nvSpPr>
            <p:spPr>
              <a:xfrm>
                <a:off x="8382930" y="6023664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3.4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20" name="제목 3">
            <a:extLst>
              <a:ext uri="{FF2B5EF4-FFF2-40B4-BE49-F238E27FC236}">
                <a16:creationId xmlns:a16="http://schemas.microsoft.com/office/drawing/2014/main" id="{3AE3BB79-C5B7-4791-9CA2-EBD03606239F}"/>
              </a:ext>
            </a:extLst>
          </p:cNvPr>
          <p:cNvSpPr txBox="1">
            <a:spLocks/>
          </p:cNvSpPr>
          <p:nvPr/>
        </p:nvSpPr>
        <p:spPr>
          <a:xfrm>
            <a:off x="8022433" y="4995407"/>
            <a:ext cx="4169567" cy="44010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97500"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800" b="1" kern="1200" noProof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altLang="ko-KR" sz="1800"/>
              <a:t>4. </a:t>
            </a:r>
            <a:r>
              <a:rPr lang="ko-KR" altLang="en-US" sz="1800">
                <a:cs typeface="Segoe UI" panose="020B0502040204020203" pitchFamily="34" charset="0"/>
              </a:rPr>
              <a:t>최종모형식 및 예측값 산출</a:t>
            </a:r>
            <a:endParaRPr lang="ko-KR" altLang="en-US" sz="180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97C72FB-C835-4F7E-BC45-3D1FBFFC8BD2}"/>
              </a:ext>
            </a:extLst>
          </p:cNvPr>
          <p:cNvGrpSpPr/>
          <p:nvPr/>
        </p:nvGrpSpPr>
        <p:grpSpPr>
          <a:xfrm>
            <a:off x="8382930" y="5625840"/>
            <a:ext cx="3230464" cy="613516"/>
            <a:chOff x="8472009" y="5625840"/>
            <a:chExt cx="3230464" cy="613516"/>
          </a:xfrm>
        </p:grpSpPr>
        <p:sp>
          <p:nvSpPr>
            <p:cNvPr id="121" name="내용 개체 틀 17">
              <a:extLst>
                <a:ext uri="{FF2B5EF4-FFF2-40B4-BE49-F238E27FC236}">
                  <a16:creationId xmlns:a16="http://schemas.microsoft.com/office/drawing/2014/main" id="{5410942A-32DC-45D6-A1B5-B12F31F3214D}"/>
                </a:ext>
              </a:extLst>
            </p:cNvPr>
            <p:cNvSpPr txBox="1">
              <a:spLocks/>
            </p:cNvSpPr>
            <p:nvPr/>
          </p:nvSpPr>
          <p:spPr>
            <a:xfrm>
              <a:off x="9069359" y="5625840"/>
              <a:ext cx="2633114" cy="6135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예측값 산출 및 </a:t>
              </a:r>
              <a: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Gap* </a:t>
              </a: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차이 분석</a:t>
              </a:r>
              <a:b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en-US" altLang="ko-KR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(*Gap = Y_</a:t>
              </a:r>
              <a:r>
                <a:rPr lang="ko-KR" altLang="en-US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실제값 </a:t>
              </a:r>
              <a:r>
                <a:rPr lang="en-US" altLang="ko-KR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– Y^_</a:t>
              </a:r>
              <a:r>
                <a:rPr lang="ko-KR" altLang="en-US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예측값</a:t>
              </a:r>
              <a:r>
                <a:rPr lang="en-US" altLang="ko-KR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)</a:t>
              </a:r>
              <a:endParaRPr lang="ko-KR" altLang="en-US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8B93D2C3-3D63-4F6B-AD33-2BA2C2E9A2CA}"/>
                </a:ext>
              </a:extLst>
            </p:cNvPr>
            <p:cNvSpPr/>
            <p:nvPr/>
          </p:nvSpPr>
          <p:spPr>
            <a:xfrm>
              <a:off x="8494850" y="5713225"/>
              <a:ext cx="438747" cy="438747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E9A48EFF-00C9-496B-AB50-3E09EACB85FA}"/>
                </a:ext>
              </a:extLst>
            </p:cNvPr>
            <p:cNvSpPr txBox="1"/>
            <p:nvPr/>
          </p:nvSpPr>
          <p:spPr>
            <a:xfrm>
              <a:off x="8472009" y="5747932"/>
              <a:ext cx="4844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solidFill>
                    <a:schemeClr val="bg1"/>
                  </a:solidFill>
                </a:rPr>
                <a:t>4.1</a:t>
              </a:r>
              <a:endParaRPr lang="ko-KR" alt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9705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510346" y="526343"/>
            <a:ext cx="11214992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sz="2000">
                <a:cs typeface="Segoe UI Light" panose="020B0502040204020203" pitchFamily="34" charset="0"/>
              </a:rPr>
              <a:t>2.1. </a:t>
            </a:r>
            <a:r>
              <a:rPr lang="ko-KR" altLang="en-US" sz="2000">
                <a:cs typeface="Segoe UI Light" panose="020B0502040204020203" pitchFamily="34" charset="0"/>
              </a:rPr>
              <a:t>다중회귀분석 </a:t>
            </a:r>
            <a:r>
              <a:rPr lang="en-US" altLang="ko-KR" sz="2000">
                <a:cs typeface="Segoe UI Light" panose="020B0502040204020203" pitchFamily="34" charset="0"/>
              </a:rPr>
              <a:t>: </a:t>
            </a:r>
            <a:r>
              <a:rPr lang="ko-KR" altLang="en-US" sz="2000">
                <a:cs typeface="Segoe UI Light" panose="020B0502040204020203" pitchFamily="34" charset="0"/>
              </a:rPr>
              <a:t>후보모형간 비교 </a:t>
            </a:r>
            <a:r>
              <a:rPr lang="en-US" altLang="ko-KR" sz="2000">
                <a:cs typeface="Segoe UI Light" panose="020B0502040204020203" pitchFamily="34" charset="0"/>
              </a:rPr>
              <a:t>: </a:t>
            </a:r>
            <a:br>
              <a:rPr lang="en-US" altLang="ko-KR" sz="2000">
                <a:cs typeface="Segoe UI Light" panose="020B0502040204020203" pitchFamily="34" charset="0"/>
              </a:rPr>
            </a:br>
            <a:r>
              <a:rPr lang="en-US" altLang="ko-KR" sz="2000">
                <a:cs typeface="Segoe UI Light" panose="020B0502040204020203" pitchFamily="34" charset="0"/>
              </a:rPr>
              <a:t>[</a:t>
            </a:r>
            <a:r>
              <a:rPr lang="ko-KR" altLang="en-US" sz="2000">
                <a:cs typeface="Segoe UI Light" panose="020B0502040204020203" pitchFamily="34" charset="0"/>
              </a:rPr>
              <a:t>절편항 포함</a:t>
            </a:r>
            <a:r>
              <a:rPr lang="en-US" altLang="ko-KR" sz="2000">
                <a:cs typeface="Segoe UI Light" panose="020B0502040204020203" pitchFamily="34" charset="0"/>
              </a:rPr>
              <a:t>_</a:t>
            </a:r>
            <a:r>
              <a:rPr lang="ko-KR" altLang="en-US" sz="2000">
                <a:cs typeface="Segoe UI Light" panose="020B0502040204020203" pitchFamily="34" charset="0"/>
              </a:rPr>
              <a:t>완전모형</a:t>
            </a:r>
            <a:r>
              <a:rPr lang="en-US" altLang="ko-KR" sz="2000">
                <a:cs typeface="Segoe UI Light" panose="020B0502040204020203" pitchFamily="34" charset="0"/>
              </a:rPr>
              <a:t>], [</a:t>
            </a:r>
            <a:r>
              <a:rPr lang="ko-KR" altLang="en-US" sz="2000">
                <a:cs typeface="Segoe UI Light" panose="020B0502040204020203" pitchFamily="34" charset="0"/>
              </a:rPr>
              <a:t>절편항 제거</a:t>
            </a:r>
            <a:r>
              <a:rPr lang="en-US" altLang="ko-KR" sz="2000">
                <a:cs typeface="Segoe UI Light" panose="020B0502040204020203" pitchFamily="34" charset="0"/>
              </a:rPr>
              <a:t>_</a:t>
            </a:r>
            <a:r>
              <a:rPr lang="ko-KR" altLang="en-US" sz="2000">
                <a:cs typeface="Segoe UI Light" panose="020B0502040204020203" pitchFamily="34" charset="0"/>
              </a:rPr>
              <a:t>완전모형</a:t>
            </a:r>
            <a:r>
              <a:rPr lang="en-US" altLang="ko-KR" sz="2000">
                <a:cs typeface="Segoe UI Light" panose="020B0502040204020203" pitchFamily="34" charset="0"/>
              </a:rPr>
              <a:t>] </a:t>
            </a:r>
            <a:r>
              <a:rPr lang="ko-KR" altLang="en-US" sz="2000">
                <a:cs typeface="Segoe UI Light" panose="020B0502040204020203" pitchFamily="34" charset="0"/>
              </a:rPr>
              <a:t>비교 후 </a:t>
            </a:r>
            <a:br>
              <a:rPr lang="en-US" altLang="ko-KR" sz="2000">
                <a:cs typeface="Segoe UI Light" panose="020B0502040204020203" pitchFamily="34" charset="0"/>
              </a:rPr>
            </a:br>
            <a:r>
              <a:rPr lang="en-US" altLang="ko-KR" sz="2000">
                <a:cs typeface="Segoe UI Light" panose="020B0502040204020203" pitchFamily="34" charset="0"/>
              </a:rPr>
              <a:t>	</a:t>
            </a:r>
            <a:r>
              <a:rPr lang="ko-KR" altLang="en-US" sz="2000">
                <a:cs typeface="Segoe UI Light" panose="020B0502040204020203" pitchFamily="34" charset="0"/>
              </a:rPr>
              <a:t>수정결정계수</a:t>
            </a:r>
            <a:r>
              <a:rPr lang="en-US" altLang="ko-KR" sz="2000">
                <a:cs typeface="Segoe UI Light" panose="020B0502040204020203" pitchFamily="34" charset="0"/>
              </a:rPr>
              <a:t>*</a:t>
            </a:r>
            <a:r>
              <a:rPr lang="en-US" altLang="ko-KR" sz="1400">
                <a:cs typeface="Segoe UI Light" panose="020B0502040204020203" pitchFamily="34" charset="0"/>
              </a:rPr>
              <a:t>(Adjusted R-squared)</a:t>
            </a:r>
            <a:r>
              <a:rPr lang="ko-KR" altLang="en-US" sz="2000">
                <a:cs typeface="Segoe UI Light" panose="020B0502040204020203" pitchFamily="34" charset="0"/>
              </a:rPr>
              <a:t>기준 모형설명력 높은 </a:t>
            </a:r>
            <a:r>
              <a:rPr lang="en-US" altLang="ko-KR" sz="2000">
                <a:cs typeface="Segoe UI Light" panose="020B0502040204020203" pitchFamily="34" charset="0"/>
              </a:rPr>
              <a:t>[</a:t>
            </a:r>
            <a:r>
              <a:rPr lang="ko-KR" altLang="en-US" sz="2000">
                <a:cs typeface="Segoe UI Light" panose="020B0502040204020203" pitchFamily="34" charset="0"/>
              </a:rPr>
              <a:t>절편항 제거된 완전모형</a:t>
            </a:r>
            <a:r>
              <a:rPr lang="en-US" altLang="ko-KR" sz="2000">
                <a:cs typeface="Segoe UI Light" panose="020B0502040204020203" pitchFamily="34" charset="0"/>
              </a:rPr>
              <a:t>] </a:t>
            </a:r>
            <a:r>
              <a:rPr lang="ko-KR" altLang="en-US" sz="2000">
                <a:cs typeface="Segoe UI Light" panose="020B0502040204020203" pitchFamily="34" charset="0"/>
              </a:rPr>
              <a:t>채택</a:t>
            </a:r>
            <a:endParaRPr lang="ko-KR" altLang="en-US" sz="2000" baseline="30000" dirty="0">
              <a:cs typeface="Segoe UI Light" panose="020B0502040204020203" pitchFamily="34" charset="0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E0327644-5770-4C99-9D90-1D3748CCD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042" y="2053199"/>
            <a:ext cx="4689861" cy="3736973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BFB2B7AB-E78A-4E37-ACD6-B05237CF1D3D}"/>
              </a:ext>
            </a:extLst>
          </p:cNvPr>
          <p:cNvSpPr/>
          <p:nvPr/>
        </p:nvSpPr>
        <p:spPr>
          <a:xfrm>
            <a:off x="1079316" y="2044615"/>
            <a:ext cx="2713461" cy="30206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2FD99CF-7019-4E27-A955-31AAFA734B10}"/>
              </a:ext>
            </a:extLst>
          </p:cNvPr>
          <p:cNvSpPr/>
          <p:nvPr/>
        </p:nvSpPr>
        <p:spPr>
          <a:xfrm>
            <a:off x="5330995" y="4095108"/>
            <a:ext cx="282723" cy="119420"/>
          </a:xfrm>
          <a:prstGeom prst="rect">
            <a:avLst/>
          </a:prstGeom>
          <a:noFill/>
          <a:ln w="19050"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553FA84-EBCB-44F8-B935-BDB0AB8133C4}"/>
              </a:ext>
            </a:extLst>
          </p:cNvPr>
          <p:cNvSpPr/>
          <p:nvPr/>
        </p:nvSpPr>
        <p:spPr>
          <a:xfrm>
            <a:off x="1441286" y="4107185"/>
            <a:ext cx="670618" cy="133470"/>
          </a:xfrm>
          <a:prstGeom prst="rect">
            <a:avLst/>
          </a:prstGeom>
          <a:noFill/>
          <a:ln w="19050"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72BA483-3C1F-41A4-83EE-4CF3286EA974}"/>
              </a:ext>
            </a:extLst>
          </p:cNvPr>
          <p:cNvSpPr/>
          <p:nvPr/>
        </p:nvSpPr>
        <p:spPr>
          <a:xfrm>
            <a:off x="1441286" y="4271485"/>
            <a:ext cx="670618" cy="133469"/>
          </a:xfrm>
          <a:prstGeom prst="rect">
            <a:avLst/>
          </a:prstGeom>
          <a:noFill/>
          <a:ln w="19050"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88ECEB3-B929-4989-AA9B-EF0271E423E7}"/>
              </a:ext>
            </a:extLst>
          </p:cNvPr>
          <p:cNvSpPr/>
          <p:nvPr/>
        </p:nvSpPr>
        <p:spPr>
          <a:xfrm>
            <a:off x="5355443" y="4259407"/>
            <a:ext cx="282723" cy="119420"/>
          </a:xfrm>
          <a:prstGeom prst="rect">
            <a:avLst/>
          </a:prstGeom>
          <a:noFill/>
          <a:ln w="19050"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C15E885-956B-4AD6-8E4C-6C5A394E69F9}"/>
              </a:ext>
            </a:extLst>
          </p:cNvPr>
          <p:cNvSpPr/>
          <p:nvPr/>
        </p:nvSpPr>
        <p:spPr>
          <a:xfrm>
            <a:off x="1441286" y="3838178"/>
            <a:ext cx="806326" cy="133469"/>
          </a:xfrm>
          <a:prstGeom prst="rect">
            <a:avLst/>
          </a:prstGeom>
          <a:noFill/>
          <a:ln w="19050"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E091090-96B8-4E80-9616-632A4E75D854}"/>
              </a:ext>
            </a:extLst>
          </p:cNvPr>
          <p:cNvSpPr/>
          <p:nvPr/>
        </p:nvSpPr>
        <p:spPr>
          <a:xfrm>
            <a:off x="5613718" y="3812051"/>
            <a:ext cx="218262" cy="133469"/>
          </a:xfrm>
          <a:prstGeom prst="rect">
            <a:avLst/>
          </a:prstGeom>
          <a:noFill/>
          <a:ln w="19050"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022CA8B-6A54-44EC-9D66-1464ECF47AC5}"/>
              </a:ext>
            </a:extLst>
          </p:cNvPr>
          <p:cNvSpPr txBox="1"/>
          <p:nvPr/>
        </p:nvSpPr>
        <p:spPr>
          <a:xfrm>
            <a:off x="1058626" y="5892164"/>
            <a:ext cx="4696277" cy="8156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b="1"/>
              <a:t>[</a:t>
            </a:r>
            <a:r>
              <a:rPr lang="ko-KR" altLang="en-US" sz="1400" b="1"/>
              <a:t>절편항 포함</a:t>
            </a:r>
            <a:r>
              <a:rPr lang="en-US" altLang="ko-KR" sz="1400" b="1"/>
              <a:t>_</a:t>
            </a:r>
            <a:r>
              <a:rPr lang="ko-KR" altLang="en-US" sz="1400" b="1"/>
              <a:t>완전모형</a:t>
            </a:r>
            <a:r>
              <a:rPr lang="en-US" altLang="ko-KR" sz="1400" b="1"/>
              <a:t>]</a:t>
            </a:r>
            <a:r>
              <a:rPr lang="en-US" altLang="ko-KR" sz="1500"/>
              <a:t> </a:t>
            </a:r>
            <a:r>
              <a:rPr lang="ko-KR" altLang="en-US" sz="1500"/>
              <a:t> </a:t>
            </a:r>
            <a:r>
              <a:rPr lang="ko-KR" altLang="en-US" sz="1500" dirty="0" err="1"/>
              <a:t>절편항</a:t>
            </a:r>
            <a:r>
              <a:rPr lang="ko-KR" altLang="en-US" sz="1500" dirty="0"/>
              <a:t> 포함</a:t>
            </a:r>
            <a:endParaRPr lang="en-US" altLang="ko-KR" sz="1500" dirty="0"/>
          </a:p>
          <a:p>
            <a:r>
              <a:rPr lang="en-US" altLang="ko-KR" sz="1500" dirty="0"/>
              <a:t>(</a:t>
            </a:r>
            <a:r>
              <a:rPr lang="ko-KR" altLang="en-US" sz="1500" dirty="0"/>
              <a:t>채택변수</a:t>
            </a:r>
            <a:r>
              <a:rPr lang="en-US" altLang="ko-KR" sz="1500" dirty="0"/>
              <a:t>) </a:t>
            </a:r>
            <a:r>
              <a:rPr lang="en-US" altLang="ko-KR" sz="1600" dirty="0"/>
              <a:t>Population</a:t>
            </a:r>
            <a:r>
              <a:rPr lang="en-US" altLang="ko-KR" sz="1500" dirty="0"/>
              <a:t>,</a:t>
            </a:r>
            <a:r>
              <a:rPr lang="ko-KR" altLang="en-US" sz="1500" dirty="0"/>
              <a:t> </a:t>
            </a:r>
            <a:r>
              <a:rPr lang="en-US" altLang="ko-KR" sz="1600" dirty="0"/>
              <a:t>Illiteracy, life Exp</a:t>
            </a:r>
            <a:br>
              <a:rPr lang="en-US" altLang="ko-KR" sz="1600" dirty="0"/>
            </a:br>
            <a:r>
              <a:rPr lang="ko-KR" altLang="en-US" sz="1600" dirty="0"/>
              <a:t>수정결정계수</a:t>
            </a:r>
            <a:r>
              <a:rPr lang="en-US" altLang="ko-KR" sz="1600" dirty="0"/>
              <a:t>(Adjusted R-squared) : 77.63%</a:t>
            </a:r>
            <a:endParaRPr lang="ko-KR" altLang="en-US" sz="15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3C788AB-91C4-4D0C-AFE1-5C7DBC6737A6}"/>
              </a:ext>
            </a:extLst>
          </p:cNvPr>
          <p:cNvGrpSpPr/>
          <p:nvPr/>
        </p:nvGrpSpPr>
        <p:grpSpPr>
          <a:xfrm>
            <a:off x="156787" y="2028166"/>
            <a:ext cx="1016881" cy="723907"/>
            <a:chOff x="183087" y="1837507"/>
            <a:chExt cx="1016881" cy="723907"/>
          </a:xfrm>
        </p:grpSpPr>
        <p:sp>
          <p:nvSpPr>
            <p:cNvPr id="53" name="직사각형 52" descr="작은 원">
              <a:extLst>
                <a:ext uri="{FF2B5EF4-FFF2-40B4-BE49-F238E27FC236}">
                  <a16:creationId xmlns:a16="http://schemas.microsoft.com/office/drawing/2014/main" id="{60F0D5FD-B5B6-4B10-9BFB-C76709801E62}"/>
                </a:ext>
              </a:extLst>
            </p:cNvPr>
            <p:cNvSpPr/>
            <p:nvPr/>
          </p:nvSpPr>
          <p:spPr bwMode="blackWhite">
            <a:xfrm>
              <a:off x="357696" y="1837507"/>
              <a:ext cx="667664" cy="72390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4" name="텍스트 상자 19" descr="숫자 1">
              <a:extLst>
                <a:ext uri="{FF2B5EF4-FFF2-40B4-BE49-F238E27FC236}">
                  <a16:creationId xmlns:a16="http://schemas.microsoft.com/office/drawing/2014/main" id="{AD9BC751-A975-4CB5-B7B5-4E88DB6D5B8B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183087" y="1870917"/>
              <a:ext cx="10168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-KR" sz="12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[</a:t>
              </a:r>
              <a:r>
                <a:rPr lang="ko-KR" altLang="en-US" sz="12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절편항 포함</a:t>
              </a:r>
              <a:r>
                <a:rPr lang="en-US" altLang="ko-KR" sz="12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_</a:t>
              </a:r>
            </a:p>
            <a:p>
              <a:pPr algn="ctr" rtl="0"/>
              <a:r>
                <a:rPr lang="ko-KR" altLang="en-US" sz="12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완전모형</a:t>
              </a:r>
              <a:r>
                <a:rPr lang="en-US" altLang="ko-KR" sz="12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] </a:t>
              </a:r>
              <a:endParaRPr lang="ko-KR" altLang="en-US" sz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C5868C5-0DDB-4BD7-B540-C6A4A5210253}"/>
              </a:ext>
            </a:extLst>
          </p:cNvPr>
          <p:cNvSpPr/>
          <p:nvPr/>
        </p:nvSpPr>
        <p:spPr>
          <a:xfrm>
            <a:off x="3297761" y="5458415"/>
            <a:ext cx="1886738" cy="150565"/>
          </a:xfrm>
          <a:prstGeom prst="rect">
            <a:avLst/>
          </a:prstGeom>
          <a:noFill/>
          <a:ln w="19050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내용 개체 틀 2">
            <a:extLst>
              <a:ext uri="{FF2B5EF4-FFF2-40B4-BE49-F238E27FC236}">
                <a16:creationId xmlns:a16="http://schemas.microsoft.com/office/drawing/2014/main" id="{19642B80-BCCD-4E1C-BA9D-88FA31E04D1C}"/>
              </a:ext>
            </a:extLst>
          </p:cNvPr>
          <p:cNvSpPr txBox="1">
            <a:spLocks/>
          </p:cNvSpPr>
          <p:nvPr/>
        </p:nvSpPr>
        <p:spPr>
          <a:xfrm>
            <a:off x="236865" y="1235341"/>
            <a:ext cx="12047499" cy="7239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1600" b="1"/>
              <a:t>* </a:t>
            </a:r>
            <a:r>
              <a:rPr lang="en-US" altLang="ko-KR" sz="1600" b="1"/>
              <a:t>[</a:t>
            </a:r>
            <a:r>
              <a:rPr lang="ko-KR" altLang="en-US" sz="1600" b="1"/>
              <a:t>절편항 제거</a:t>
            </a:r>
            <a:r>
              <a:rPr lang="en-US" altLang="ko-KR" sz="1600" b="1"/>
              <a:t>_</a:t>
            </a:r>
            <a:r>
              <a:rPr lang="ko-KR" altLang="en-US" sz="1600" b="1"/>
              <a:t>완전모형</a:t>
            </a:r>
            <a:r>
              <a:rPr lang="en-US" altLang="ko-KR" sz="1600" b="1"/>
              <a:t>]</a:t>
            </a:r>
            <a:r>
              <a:rPr lang="ko-KR" altLang="en-US" sz="1600" b="1"/>
              <a:t>수정결정계수</a:t>
            </a:r>
            <a:r>
              <a:rPr lang="en-US" altLang="ko-KR" sz="1600" b="1"/>
              <a:t>(90.73%)</a:t>
            </a:r>
            <a:r>
              <a:rPr lang="ko-KR" altLang="en-US" sz="1600" b="1"/>
              <a:t>가 </a:t>
            </a:r>
            <a:r>
              <a:rPr lang="en-US" altLang="ko-KR" sz="1600" b="1"/>
              <a:t>[</a:t>
            </a:r>
            <a:r>
              <a:rPr lang="ko-KR" altLang="en-US" sz="1600" b="1"/>
              <a:t>절편항 포함</a:t>
            </a:r>
            <a:r>
              <a:rPr lang="en-US" altLang="ko-KR" sz="1600" b="1"/>
              <a:t>_</a:t>
            </a:r>
            <a:r>
              <a:rPr lang="ko-KR" altLang="en-US" sz="1600" b="1"/>
              <a:t>완전모형</a:t>
            </a:r>
            <a:r>
              <a:rPr lang="en-US" altLang="ko-KR" sz="1600" b="1"/>
              <a:t>]</a:t>
            </a:r>
            <a:r>
              <a:rPr lang="ko-KR" altLang="en-US" sz="1600" b="1"/>
              <a:t>수정결정계수</a:t>
            </a:r>
            <a:r>
              <a:rPr lang="en-US" altLang="ko-KR" sz="1600" b="1"/>
              <a:t>(77.63%)</a:t>
            </a:r>
            <a:r>
              <a:rPr lang="ko-KR" altLang="en-US" sz="1600" b="1"/>
              <a:t>보다 약 </a:t>
            </a:r>
            <a:r>
              <a:rPr lang="en-US" altLang="ko-KR" sz="1600" b="1"/>
              <a:t>23.1% </a:t>
            </a:r>
            <a:r>
              <a:rPr lang="ko-KR" altLang="en-US" sz="1600" b="1"/>
              <a:t>더 높은 </a:t>
            </a:r>
            <a:br>
              <a:rPr lang="en-US" altLang="ko-KR" sz="1600" b="1"/>
            </a:br>
            <a:r>
              <a:rPr lang="en-US" altLang="ko-KR" sz="1600" b="1"/>
              <a:t>  </a:t>
            </a:r>
            <a:r>
              <a:rPr lang="ko-KR" altLang="en-US" sz="1600" b="1"/>
              <a:t>설명력을 갖기 때문에 </a:t>
            </a:r>
            <a:r>
              <a:rPr lang="en-US" altLang="ko-KR" sz="1600" b="1"/>
              <a:t>[</a:t>
            </a:r>
            <a:r>
              <a:rPr lang="ko-KR" altLang="en-US" sz="1600" b="1"/>
              <a:t>절편항 제거</a:t>
            </a:r>
            <a:r>
              <a:rPr lang="en-US" altLang="ko-KR" sz="1600" b="1"/>
              <a:t>_</a:t>
            </a:r>
            <a:r>
              <a:rPr lang="ko-KR" altLang="en-US" sz="1600" b="1"/>
              <a:t>완전모형</a:t>
            </a:r>
            <a:r>
              <a:rPr lang="en-US" altLang="ko-KR" sz="1600" b="1"/>
              <a:t>]* </a:t>
            </a:r>
            <a:r>
              <a:rPr lang="ko-KR" altLang="en-US" sz="1600" b="1"/>
              <a:t>채택</a:t>
            </a:r>
            <a:r>
              <a:rPr lang="en-US" altLang="ko-KR" sz="1600" b="1"/>
              <a:t> </a:t>
            </a:r>
            <a:r>
              <a:rPr lang="en-US" altLang="ko-KR" sz="1100" b="1"/>
              <a:t>(</a:t>
            </a:r>
            <a:r>
              <a:rPr lang="ko-KR" altLang="en-US" sz="1100" b="1"/>
              <a:t>수정결정계수 </a:t>
            </a:r>
            <a:r>
              <a:rPr lang="en-US" altLang="ko-KR" sz="1100" b="1"/>
              <a:t>: 1-( (n-1)/(n-</a:t>
            </a:r>
            <a:r>
              <a:rPr lang="en-US" altLang="ko-KR" sz="1100" b="1">
                <a:solidFill>
                  <a:srgbClr val="FF0000"/>
                </a:solidFill>
              </a:rPr>
              <a:t>p</a:t>
            </a:r>
            <a:r>
              <a:rPr lang="en-US" altLang="ko-KR" sz="1100" b="1"/>
              <a:t>-1) )*(1 - R-squared), n=</a:t>
            </a:r>
            <a:r>
              <a:rPr lang="ko-KR" altLang="en-US" sz="1100" b="1"/>
              <a:t>관측치수</a:t>
            </a:r>
            <a:r>
              <a:rPr lang="en-US" altLang="ko-KR" sz="1100" b="1"/>
              <a:t>, </a:t>
            </a:r>
            <a:r>
              <a:rPr lang="en-US" altLang="ko-KR" sz="1100" b="1">
                <a:solidFill>
                  <a:srgbClr val="FF0000"/>
                </a:solidFill>
              </a:rPr>
              <a:t>p</a:t>
            </a:r>
            <a:r>
              <a:rPr lang="en-US" altLang="ko-KR" sz="1100" b="1"/>
              <a:t> = coefficients(</a:t>
            </a:r>
            <a:r>
              <a:rPr lang="ko-KR" altLang="en-US" sz="1100" b="1"/>
              <a:t>회귀계수</a:t>
            </a:r>
            <a:r>
              <a:rPr lang="en-US" altLang="ko-KR" sz="1100" b="1"/>
              <a:t>) x</a:t>
            </a:r>
            <a:r>
              <a:rPr lang="ko-KR" altLang="en-US" sz="1100" b="1"/>
              <a:t>변수의 수</a:t>
            </a:r>
            <a:r>
              <a:rPr lang="en-US" altLang="ko-KR" sz="1100" b="1"/>
              <a:t>)</a:t>
            </a:r>
            <a:endParaRPr lang="ko-KR" altLang="en-US" sz="1600" b="1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5C67421-F462-4D4E-8A73-B034714F91D2}"/>
              </a:ext>
            </a:extLst>
          </p:cNvPr>
          <p:cNvGrpSpPr/>
          <p:nvPr/>
        </p:nvGrpSpPr>
        <p:grpSpPr>
          <a:xfrm>
            <a:off x="5928658" y="2076107"/>
            <a:ext cx="5880974" cy="4633694"/>
            <a:chOff x="5928658" y="2076107"/>
            <a:chExt cx="5880974" cy="4633694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0B0D15FA-7C93-4D31-9DDF-372A5A9B99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01623" y="2076605"/>
              <a:ext cx="5008009" cy="3712012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B3BE97B-E19B-46C9-B2A2-30178D4B8828}"/>
                </a:ext>
              </a:extLst>
            </p:cNvPr>
            <p:cNvSpPr/>
            <p:nvPr/>
          </p:nvSpPr>
          <p:spPr>
            <a:xfrm>
              <a:off x="6798408" y="2076107"/>
              <a:ext cx="3067043" cy="302764"/>
            </a:xfrm>
            <a:prstGeom prst="rect">
              <a:avLst/>
            </a:prstGeom>
            <a:noFill/>
            <a:ln w="28575">
              <a:prstDash val="sys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BE323D6-D3F4-480C-AD1C-57DCE8B10C05}"/>
                </a:ext>
              </a:extLst>
            </p:cNvPr>
            <p:cNvSpPr txBox="1"/>
            <p:nvPr/>
          </p:nvSpPr>
          <p:spPr>
            <a:xfrm>
              <a:off x="6798408" y="5909582"/>
              <a:ext cx="5008009" cy="8002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b="1"/>
                <a:t>[</a:t>
              </a:r>
              <a:r>
                <a:rPr lang="ko-KR" altLang="en-US" sz="1400" b="1"/>
                <a:t>절편항 제거</a:t>
              </a:r>
              <a:r>
                <a:rPr lang="en-US" altLang="ko-KR" sz="1400" b="1"/>
                <a:t>_</a:t>
              </a:r>
              <a:r>
                <a:rPr lang="ko-KR" altLang="en-US" sz="1400" b="1"/>
                <a:t>완전모형</a:t>
              </a:r>
              <a:r>
                <a:rPr lang="en-US" altLang="ko-KR" sz="1400" b="1"/>
                <a:t>]</a:t>
              </a:r>
              <a:r>
                <a:rPr lang="en-US" altLang="ko-KR" sz="1500"/>
                <a:t> </a:t>
              </a:r>
              <a:r>
                <a:rPr lang="en-US" altLang="ko-KR" sz="1500" dirty="0"/>
                <a:t>‘0+’</a:t>
              </a:r>
              <a:r>
                <a:rPr lang="ko-KR" altLang="en-US" sz="1500" dirty="0"/>
                <a:t> </a:t>
              </a:r>
              <a:r>
                <a:rPr lang="ko-KR" altLang="en-US" sz="1500" dirty="0" err="1"/>
                <a:t>절편항</a:t>
              </a:r>
              <a:r>
                <a:rPr lang="ko-KR" altLang="en-US" sz="1500" dirty="0"/>
                <a:t> 제거</a:t>
              </a:r>
              <a:endParaRPr lang="en-US" altLang="ko-KR" sz="1500" dirty="0"/>
            </a:p>
            <a:p>
              <a:r>
                <a:rPr lang="en-US" altLang="ko-KR" sz="1500" dirty="0"/>
                <a:t>(</a:t>
              </a:r>
              <a:r>
                <a:rPr lang="ko-KR" altLang="en-US" sz="1500" dirty="0"/>
                <a:t>채택변수</a:t>
              </a:r>
              <a:r>
                <a:rPr lang="en-US" altLang="ko-KR" sz="1500" dirty="0"/>
                <a:t>) Population, Illiteracy</a:t>
              </a:r>
              <a:br>
                <a:rPr lang="en-US" altLang="ko-KR" sz="1500" dirty="0"/>
              </a:br>
              <a:r>
                <a:rPr lang="ko-KR" altLang="en-US" sz="1600" dirty="0"/>
                <a:t>수정결정계수</a:t>
              </a:r>
              <a:r>
                <a:rPr lang="en-US" altLang="ko-KR" sz="1600" dirty="0"/>
                <a:t>(Adjusted R-squared) : </a:t>
              </a:r>
              <a:r>
                <a:rPr lang="en-US" altLang="ko-KR" sz="1400" dirty="0"/>
                <a:t>90.73%</a:t>
              </a:r>
              <a:endParaRPr lang="ko-KR" altLang="en-US" sz="1500" dirty="0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18BE14EE-034C-4B82-90B7-D722AAE414CB}"/>
                </a:ext>
              </a:extLst>
            </p:cNvPr>
            <p:cNvSpPr/>
            <p:nvPr/>
          </p:nvSpPr>
          <p:spPr>
            <a:xfrm>
              <a:off x="7109292" y="4080088"/>
              <a:ext cx="730351" cy="133780"/>
            </a:xfrm>
            <a:prstGeom prst="rect">
              <a:avLst/>
            </a:prstGeom>
            <a:noFill/>
            <a:ln w="19050">
              <a:solidFill>
                <a:schemeClr val="accent1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57F3ECD9-5ABF-45B3-93E2-C2DB589F91F0}"/>
                </a:ext>
              </a:extLst>
            </p:cNvPr>
            <p:cNvSpPr/>
            <p:nvPr/>
          </p:nvSpPr>
          <p:spPr>
            <a:xfrm>
              <a:off x="10876824" y="4066005"/>
              <a:ext cx="221691" cy="133780"/>
            </a:xfrm>
            <a:prstGeom prst="rect">
              <a:avLst/>
            </a:prstGeom>
            <a:noFill/>
            <a:ln w="19050">
              <a:solidFill>
                <a:schemeClr val="accent1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EC32952-D6F0-439C-BA24-347CF8CD5C23}"/>
                </a:ext>
              </a:extLst>
            </p:cNvPr>
            <p:cNvSpPr/>
            <p:nvPr/>
          </p:nvSpPr>
          <p:spPr>
            <a:xfrm>
              <a:off x="7109292" y="3784750"/>
              <a:ext cx="826418" cy="133780"/>
            </a:xfrm>
            <a:prstGeom prst="rect">
              <a:avLst/>
            </a:prstGeom>
            <a:noFill/>
            <a:ln w="19050">
              <a:solidFill>
                <a:schemeClr val="accent1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C00000"/>
                </a:solidFill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B4451532-2584-4EB7-8177-64E04D0F623C}"/>
                </a:ext>
              </a:extLst>
            </p:cNvPr>
            <p:cNvSpPr/>
            <p:nvPr/>
          </p:nvSpPr>
          <p:spPr>
            <a:xfrm>
              <a:off x="10838644" y="3757100"/>
              <a:ext cx="221691" cy="133780"/>
            </a:xfrm>
            <a:prstGeom prst="rect">
              <a:avLst/>
            </a:prstGeom>
            <a:noFill/>
            <a:ln w="19050">
              <a:solidFill>
                <a:schemeClr val="accent1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C00000"/>
                </a:solidFill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52F7BD8F-4DBE-45A6-B29B-BDFFDA35C298}"/>
                </a:ext>
              </a:extLst>
            </p:cNvPr>
            <p:cNvSpPr/>
            <p:nvPr/>
          </p:nvSpPr>
          <p:spPr>
            <a:xfrm>
              <a:off x="9169153" y="5456226"/>
              <a:ext cx="2037630" cy="133781"/>
            </a:xfrm>
            <a:prstGeom prst="rect">
              <a:avLst/>
            </a:prstGeom>
            <a:noFill/>
            <a:ln w="19050">
              <a:prstDash val="sys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5F846445-171D-46CC-8F95-2A2BCCE2B5B0}"/>
                </a:ext>
              </a:extLst>
            </p:cNvPr>
            <p:cNvGrpSpPr/>
            <p:nvPr/>
          </p:nvGrpSpPr>
          <p:grpSpPr>
            <a:xfrm>
              <a:off x="5928658" y="2076107"/>
              <a:ext cx="1016881" cy="723907"/>
              <a:chOff x="183087" y="1837507"/>
              <a:chExt cx="1016881" cy="723907"/>
            </a:xfrm>
          </p:grpSpPr>
          <p:sp>
            <p:nvSpPr>
              <p:cNvPr id="43" name="직사각형 42" descr="작은 원">
                <a:extLst>
                  <a:ext uri="{FF2B5EF4-FFF2-40B4-BE49-F238E27FC236}">
                    <a16:creationId xmlns:a16="http://schemas.microsoft.com/office/drawing/2014/main" id="{05DB96DE-13AC-454B-82E9-D4463FB097D2}"/>
                  </a:ext>
                </a:extLst>
              </p:cNvPr>
              <p:cNvSpPr/>
              <p:nvPr/>
            </p:nvSpPr>
            <p:spPr bwMode="blackWhite">
              <a:xfrm>
                <a:off x="357696" y="1837507"/>
                <a:ext cx="667664" cy="723907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44" name="텍스트 상자 19" descr="숫자 1">
                <a:extLst>
                  <a:ext uri="{FF2B5EF4-FFF2-40B4-BE49-F238E27FC236}">
                    <a16:creationId xmlns:a16="http://schemas.microsoft.com/office/drawing/2014/main" id="{B60E0A70-D7CA-4613-988B-F238D44E9D2E}"/>
                  </a:ext>
                </a:extLst>
              </p:cNvPr>
              <p:cNvSpPr txBox="1">
                <a:spLocks noChangeAspect="1"/>
              </p:cNvSpPr>
              <p:nvPr/>
            </p:nvSpPr>
            <p:spPr bwMode="blackWhite">
              <a:xfrm>
                <a:off x="183087" y="1870917"/>
                <a:ext cx="101688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altLang="ko-KR" sz="120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[</a:t>
                </a:r>
                <a:r>
                  <a:rPr lang="ko-KR" altLang="en-US" sz="120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절편항 제거</a:t>
                </a:r>
                <a:r>
                  <a:rPr lang="en-US" altLang="ko-KR" sz="120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_</a:t>
                </a:r>
              </a:p>
              <a:p>
                <a:pPr algn="ctr" rtl="0"/>
                <a:r>
                  <a:rPr lang="ko-KR" altLang="en-US" sz="120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완전모형</a:t>
                </a:r>
                <a:r>
                  <a:rPr lang="en-US" altLang="ko-KR" sz="120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] </a:t>
                </a:r>
                <a:endParaRPr lang="ko-KR" altLang="en-US" sz="12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9804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521206" y="448056"/>
            <a:ext cx="11214992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sz="2400">
                <a:cs typeface="Segoe UI Light" panose="020B0502040204020203" pitchFamily="34" charset="0"/>
              </a:rPr>
              <a:t>2.1. </a:t>
            </a:r>
            <a:r>
              <a:rPr lang="ko-KR" altLang="en-US" sz="2400">
                <a:cs typeface="Segoe UI Light" panose="020B0502040204020203" pitchFamily="34" charset="0"/>
              </a:rPr>
              <a:t>다중회귀분석 </a:t>
            </a:r>
            <a:r>
              <a:rPr lang="en-US" altLang="ko-KR" sz="2400">
                <a:cs typeface="Segoe UI Light" panose="020B0502040204020203" pitchFamily="34" charset="0"/>
              </a:rPr>
              <a:t>: </a:t>
            </a:r>
            <a:r>
              <a:rPr lang="ko-KR" altLang="en-US" sz="2400">
                <a:cs typeface="Segoe UI Light" panose="020B0502040204020203" pitchFamily="34" charset="0"/>
              </a:rPr>
              <a:t>모형정확도 개선 </a:t>
            </a:r>
            <a:r>
              <a:rPr lang="en-US" altLang="ko-KR" sz="2400">
                <a:cs typeface="Segoe UI Light" panose="020B0502040204020203" pitchFamily="34" charset="0"/>
              </a:rPr>
              <a:t>: </a:t>
            </a:r>
            <a:r>
              <a:rPr lang="ko-KR" altLang="en-US" sz="2400">
                <a:cs typeface="Segoe UI Light" panose="020B0502040204020203" pitchFamily="34" charset="0"/>
              </a:rPr>
              <a:t>수정모형</a:t>
            </a:r>
            <a:r>
              <a:rPr lang="en-US" altLang="ko-KR" sz="2400">
                <a:cs typeface="Segoe UI Light" panose="020B0502040204020203" pitchFamily="34" charset="0"/>
              </a:rPr>
              <a:t>2, </a:t>
            </a:r>
            <a:r>
              <a:rPr lang="ko-KR" altLang="en-US" sz="2400">
                <a:cs typeface="Segoe UI Light" panose="020B0502040204020203" pitchFamily="34" charset="0"/>
              </a:rPr>
              <a:t>수정모형</a:t>
            </a:r>
            <a:r>
              <a:rPr lang="en-US" altLang="ko-KR" sz="2400">
                <a:cs typeface="Segoe UI Light" panose="020B0502040204020203" pitchFamily="34" charset="0"/>
              </a:rPr>
              <a:t>3 </a:t>
            </a:r>
            <a:r>
              <a:rPr lang="ko-KR" altLang="en-US" sz="2400">
                <a:cs typeface="Segoe UI Light" panose="020B0502040204020203" pitchFamily="34" charset="0"/>
              </a:rPr>
              <a:t>비교</a:t>
            </a:r>
            <a:br>
              <a:rPr lang="en-US" altLang="ko-KR" sz="2400">
                <a:cs typeface="Segoe UI Light" panose="020B0502040204020203" pitchFamily="34" charset="0"/>
              </a:rPr>
            </a:br>
            <a:r>
              <a:rPr lang="ko-KR" altLang="en-US" sz="2400">
                <a:solidFill>
                  <a:srgbClr val="FF0000"/>
                </a:solidFill>
                <a:cs typeface="Segoe UI Light" panose="020B0502040204020203" pitchFamily="34" charset="0"/>
              </a:rPr>
              <a:t>모형설명력</a:t>
            </a:r>
            <a:r>
              <a:rPr lang="en-US" altLang="ko-KR" sz="1600">
                <a:solidFill>
                  <a:srgbClr val="FF0000"/>
                </a:solidFill>
                <a:cs typeface="Segoe UI Light" panose="020B0502040204020203" pitchFamily="34" charset="0"/>
              </a:rPr>
              <a:t>Adjusted R-squared</a:t>
            </a:r>
            <a:r>
              <a:rPr lang="ko-KR" altLang="en-US" sz="2400">
                <a:solidFill>
                  <a:srgbClr val="FF0000"/>
                </a:solidFill>
                <a:cs typeface="Segoe UI Light" panose="020B0502040204020203" pitchFamily="34" charset="0"/>
              </a:rPr>
              <a:t> </a:t>
            </a:r>
            <a:r>
              <a:rPr lang="en-US" altLang="ko-KR" sz="2400">
                <a:solidFill>
                  <a:srgbClr val="FF0000"/>
                </a:solidFill>
                <a:cs typeface="Segoe UI Light" panose="020B0502040204020203" pitchFamily="34" charset="0"/>
              </a:rPr>
              <a:t>= 91.22%</a:t>
            </a:r>
            <a:r>
              <a:rPr lang="ko-KR" altLang="en-US" sz="2400">
                <a:solidFill>
                  <a:srgbClr val="FF0000"/>
                </a:solidFill>
                <a:cs typeface="Segoe UI Light" panose="020B0502040204020203" pitchFamily="34" charset="0"/>
              </a:rPr>
              <a:t>로</a:t>
            </a:r>
            <a:r>
              <a:rPr lang="en-US" altLang="ko-KR" sz="2400">
                <a:solidFill>
                  <a:srgbClr val="FF0000"/>
                </a:solidFill>
                <a:cs typeface="Segoe UI Light" panose="020B0502040204020203" pitchFamily="34" charset="0"/>
              </a:rPr>
              <a:t> </a:t>
            </a:r>
            <a:r>
              <a:rPr lang="ko-KR" altLang="en-US" sz="2400">
                <a:solidFill>
                  <a:srgbClr val="FF0000"/>
                </a:solidFill>
                <a:cs typeface="Segoe UI Light" panose="020B0502040204020203" pitchFamily="34" charset="0"/>
              </a:rPr>
              <a:t>더 높은 정확도 보유한 </a:t>
            </a:r>
            <a:r>
              <a:rPr lang="en-US" altLang="ko-KR" sz="2400">
                <a:solidFill>
                  <a:srgbClr val="FF0000"/>
                </a:solidFill>
                <a:cs typeface="Segoe UI Light" panose="020B0502040204020203" pitchFamily="34" charset="0"/>
              </a:rPr>
              <a:t>[</a:t>
            </a:r>
            <a:r>
              <a:rPr lang="ko-KR" altLang="en-US" sz="2400">
                <a:solidFill>
                  <a:srgbClr val="FF0000"/>
                </a:solidFill>
              </a:rPr>
              <a:t>수정모형</a:t>
            </a:r>
            <a:r>
              <a:rPr lang="en-US" altLang="ko-KR" sz="2400">
                <a:solidFill>
                  <a:srgbClr val="FF0000"/>
                </a:solidFill>
              </a:rPr>
              <a:t>3</a:t>
            </a:r>
            <a:r>
              <a:rPr lang="en-US" altLang="ko-KR" sz="2400">
                <a:solidFill>
                  <a:srgbClr val="FF0000"/>
                </a:solidFill>
                <a:cs typeface="Segoe UI Light" panose="020B0502040204020203" pitchFamily="34" charset="0"/>
              </a:rPr>
              <a:t>] </a:t>
            </a:r>
            <a:r>
              <a:rPr lang="ko-KR" altLang="en-US" sz="2400">
                <a:cs typeface="Segoe UI Light" panose="020B0502040204020203" pitchFamily="34" charset="0"/>
              </a:rPr>
              <a:t>채택</a:t>
            </a:r>
            <a:endParaRPr lang="ko-KR" altLang="en-US" sz="2400" baseline="30000" dirty="0">
              <a:cs typeface="Segoe UI Light" panose="020B0502040204020203" pitchFamily="34" charset="0"/>
            </a:endParaRP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E11481D1-5F2D-40A1-9B9C-610388C8C806}"/>
              </a:ext>
            </a:extLst>
          </p:cNvPr>
          <p:cNvSpPr txBox="1">
            <a:spLocks/>
          </p:cNvSpPr>
          <p:nvPr/>
        </p:nvSpPr>
        <p:spPr>
          <a:xfrm>
            <a:off x="510346" y="1235341"/>
            <a:ext cx="11345218" cy="7239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1600" b="1"/>
              <a:t>* 다중공선성문제를 해결한 </a:t>
            </a:r>
            <a:r>
              <a:rPr lang="en-US" altLang="ko-KR" sz="1600" b="1"/>
              <a:t>[</a:t>
            </a:r>
            <a:r>
              <a:rPr lang="ko-KR" altLang="en-US" sz="1600" b="1"/>
              <a:t>수정모형</a:t>
            </a:r>
            <a:r>
              <a:rPr lang="en-US" altLang="ko-KR" sz="1600" b="1"/>
              <a:t>3] </a:t>
            </a:r>
            <a:r>
              <a:rPr lang="ko-KR" altLang="en-US" sz="1600" b="1"/>
              <a:t>수정결정계수</a:t>
            </a:r>
            <a:r>
              <a:rPr lang="en-US" altLang="ko-KR" sz="1600" b="1"/>
              <a:t>(91.22%)</a:t>
            </a:r>
            <a:r>
              <a:rPr lang="ko-KR" altLang="en-US" sz="1600" b="1"/>
              <a:t>가 </a:t>
            </a:r>
            <a:r>
              <a:rPr lang="en-US" altLang="ko-KR" sz="1600" b="1"/>
              <a:t>[</a:t>
            </a:r>
            <a:r>
              <a:rPr lang="ko-KR" altLang="en-US" sz="1600" b="1"/>
              <a:t>절편항 제거</a:t>
            </a:r>
            <a:r>
              <a:rPr lang="en-US" altLang="ko-KR" sz="1600" b="1"/>
              <a:t>_</a:t>
            </a:r>
            <a:r>
              <a:rPr lang="ko-KR" altLang="en-US" sz="1600" b="1"/>
              <a:t>완전모형</a:t>
            </a:r>
            <a:r>
              <a:rPr lang="en-US" altLang="ko-KR" sz="1600" b="1"/>
              <a:t>] </a:t>
            </a:r>
            <a:r>
              <a:rPr lang="ko-KR" altLang="en-US" sz="1600" b="1"/>
              <a:t>수정결정계수</a:t>
            </a:r>
            <a:r>
              <a:rPr lang="en-US" altLang="ko-KR" sz="1600" b="1"/>
              <a:t>(90.73%)</a:t>
            </a:r>
            <a:r>
              <a:rPr lang="ko-KR" altLang="en-US" sz="1600" b="1"/>
              <a:t>보다 약 </a:t>
            </a:r>
            <a:r>
              <a:rPr lang="en-US" altLang="ko-KR" sz="1600" b="1"/>
              <a:t>0.49% </a:t>
            </a:r>
            <a:r>
              <a:rPr lang="ko-KR" altLang="en-US" sz="1600" b="1"/>
              <a:t>더 높은 설명력을 갖기 때문에 </a:t>
            </a:r>
            <a:r>
              <a:rPr lang="en-US" altLang="ko-KR" sz="1600" b="1"/>
              <a:t>[</a:t>
            </a:r>
            <a:r>
              <a:rPr lang="ko-KR" altLang="en-US" sz="1600" b="1"/>
              <a:t>수정모형</a:t>
            </a:r>
            <a:r>
              <a:rPr lang="en-US" altLang="ko-KR" sz="1600" b="1"/>
              <a:t>3]* </a:t>
            </a:r>
            <a:r>
              <a:rPr lang="ko-KR" altLang="en-US" sz="1600" b="1"/>
              <a:t>채택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99895EA-A1CA-412D-B1F8-CC74C1C7DE49}"/>
              </a:ext>
            </a:extLst>
          </p:cNvPr>
          <p:cNvGrpSpPr/>
          <p:nvPr/>
        </p:nvGrpSpPr>
        <p:grpSpPr>
          <a:xfrm>
            <a:off x="6033792" y="1780704"/>
            <a:ext cx="5521104" cy="4800806"/>
            <a:chOff x="6033792" y="1780704"/>
            <a:chExt cx="5521104" cy="4800806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A38471BD-4BD8-47DD-BC57-0D5CB2A388FE}"/>
                </a:ext>
              </a:extLst>
            </p:cNvPr>
            <p:cNvGrpSpPr/>
            <p:nvPr/>
          </p:nvGrpSpPr>
          <p:grpSpPr>
            <a:xfrm>
              <a:off x="6033792" y="1780704"/>
              <a:ext cx="913354" cy="648460"/>
              <a:chOff x="6033792" y="1780704"/>
              <a:chExt cx="913354" cy="648460"/>
            </a:xfrm>
          </p:grpSpPr>
          <p:sp>
            <p:nvSpPr>
              <p:cNvPr id="100" name="타원 99" descr="작은 원">
                <a:extLst>
                  <a:ext uri="{FF2B5EF4-FFF2-40B4-BE49-F238E27FC236}">
                    <a16:creationId xmlns:a16="http://schemas.microsoft.com/office/drawing/2014/main" id="{EDF10BBC-4168-4143-BEE6-46E96DC55DCE}"/>
                  </a:ext>
                </a:extLst>
              </p:cNvPr>
              <p:cNvSpPr/>
              <p:nvPr/>
            </p:nvSpPr>
            <p:spPr bwMode="blackWhite">
              <a:xfrm>
                <a:off x="6158209" y="1780704"/>
                <a:ext cx="670622" cy="64846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01" name="텍스트 상자 19" descr="숫자 1">
                <a:extLst>
                  <a:ext uri="{FF2B5EF4-FFF2-40B4-BE49-F238E27FC236}">
                    <a16:creationId xmlns:a16="http://schemas.microsoft.com/office/drawing/2014/main" id="{6C40D6B7-E978-4DD0-AC62-BEEF10E018B0}"/>
                  </a:ext>
                </a:extLst>
              </p:cNvPr>
              <p:cNvSpPr txBox="1">
                <a:spLocks noChangeAspect="1"/>
              </p:cNvSpPr>
              <p:nvPr/>
            </p:nvSpPr>
            <p:spPr bwMode="blackWhite">
              <a:xfrm>
                <a:off x="6033792" y="1831774"/>
                <a:ext cx="91335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ko-KR" altLang="en-US" sz="140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수정</a:t>
                </a:r>
                <a:endParaRPr lang="en-US" altLang="ko-KR" sz="14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endParaRPr>
              </a:p>
              <a:p>
                <a:pPr algn="ctr" rtl="0"/>
                <a:r>
                  <a:rPr lang="ko-KR" altLang="en-US" sz="140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모형</a:t>
                </a:r>
                <a:r>
                  <a:rPr lang="en-US" altLang="ko-KR" sz="140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3</a:t>
                </a:r>
                <a:endParaRPr lang="ko-KR" altLang="en-US" sz="14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endParaRPr>
              </a:p>
            </p:txBody>
          </p:sp>
        </p:grpSp>
        <p:pic>
          <p:nvPicPr>
            <p:cNvPr id="96" name="그림 95">
              <a:extLst>
                <a:ext uri="{FF2B5EF4-FFF2-40B4-BE49-F238E27FC236}">
                  <a16:creationId xmlns:a16="http://schemas.microsoft.com/office/drawing/2014/main" id="{16197861-A566-40D2-8C4D-44A03A8AA3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65035" y="1826603"/>
              <a:ext cx="4689861" cy="3712011"/>
            </a:xfrm>
            <a:prstGeom prst="rect">
              <a:avLst/>
            </a:prstGeom>
          </p:spPr>
        </p:pic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5FDA4199-26D1-45C0-B465-9EA61C5D9433}"/>
                </a:ext>
              </a:extLst>
            </p:cNvPr>
            <p:cNvSpPr txBox="1"/>
            <p:nvPr/>
          </p:nvSpPr>
          <p:spPr>
            <a:xfrm>
              <a:off x="6865035" y="5642791"/>
              <a:ext cx="4689861" cy="938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500" b="1"/>
                <a:t>[</a:t>
              </a:r>
              <a:r>
                <a:rPr lang="ko-KR" altLang="en-US" sz="1500" b="1"/>
                <a:t>수정모형</a:t>
              </a:r>
              <a:r>
                <a:rPr lang="en-US" altLang="ko-KR" sz="1500" b="1"/>
                <a:t>3]</a:t>
              </a:r>
              <a:r>
                <a:rPr lang="en-US" altLang="ko-KR" sz="1500"/>
                <a:t> </a:t>
              </a:r>
              <a:r>
                <a:rPr lang="ko-KR" altLang="en-US" sz="1500"/>
                <a:t>다중공선성 원인변수 제거</a:t>
              </a:r>
              <a:endParaRPr lang="en-US" altLang="ko-KR" sz="1500"/>
            </a:p>
            <a:p>
              <a:r>
                <a:rPr lang="en-US" altLang="ko-KR" sz="1500"/>
                <a:t>(</a:t>
              </a:r>
              <a:r>
                <a:rPr lang="ko-KR" altLang="en-US" sz="1500" dirty="0"/>
                <a:t>채택변수</a:t>
              </a:r>
              <a:r>
                <a:rPr lang="en-US" altLang="ko-KR" sz="1500" dirty="0"/>
                <a:t>) </a:t>
              </a:r>
              <a:r>
                <a:rPr lang="en-US" altLang="ko-KR" sz="1600" dirty="0"/>
                <a:t>Population</a:t>
              </a:r>
              <a:r>
                <a:rPr lang="en-US" altLang="ko-KR" sz="1500"/>
                <a:t>,</a:t>
              </a:r>
              <a:r>
                <a:rPr lang="ko-KR" altLang="en-US" sz="1500"/>
                <a:t> </a:t>
              </a:r>
              <a:r>
                <a:rPr lang="en-US" altLang="ko-KR" sz="1600"/>
                <a:t>Illiteracy, Frost, Area</a:t>
              </a:r>
              <a:br>
                <a:rPr lang="en-US" altLang="ko-KR" sz="1600" dirty="0"/>
              </a:br>
              <a:r>
                <a:rPr lang="ko-KR" altLang="en-US" sz="1600" dirty="0"/>
                <a:t>수정결정계수</a:t>
              </a:r>
              <a:r>
                <a:rPr lang="en-US" altLang="ko-KR" sz="1600" dirty="0"/>
                <a:t>(Adjusted R-squared) </a:t>
              </a:r>
              <a:r>
                <a:rPr lang="en-US" altLang="ko-KR" sz="1600"/>
                <a:t>: </a:t>
              </a:r>
              <a:r>
                <a:rPr lang="en-US" altLang="ko-KR" sz="2400" b="1">
                  <a:solidFill>
                    <a:srgbClr val="FF0000"/>
                  </a:solidFill>
                </a:rPr>
                <a:t>91.22%</a:t>
              </a:r>
              <a:endParaRPr lang="ko-KR" alt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632180EA-2223-471C-86B2-04A9E54C9591}"/>
                </a:ext>
              </a:extLst>
            </p:cNvPr>
            <p:cNvSpPr/>
            <p:nvPr/>
          </p:nvSpPr>
          <p:spPr>
            <a:xfrm>
              <a:off x="9009341" y="5175066"/>
              <a:ext cx="1946252" cy="173621"/>
            </a:xfrm>
            <a:prstGeom prst="rect">
              <a:avLst/>
            </a:prstGeom>
            <a:noFill/>
            <a:ln w="19050">
              <a:prstDash val="sys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37F8416C-EFCB-403F-815C-92C57C53428E}"/>
                </a:ext>
              </a:extLst>
            </p:cNvPr>
            <p:cNvSpPr/>
            <p:nvPr/>
          </p:nvSpPr>
          <p:spPr>
            <a:xfrm>
              <a:off x="6881907" y="1815498"/>
              <a:ext cx="3694045" cy="399326"/>
            </a:xfrm>
            <a:prstGeom prst="rect">
              <a:avLst/>
            </a:prstGeom>
            <a:noFill/>
            <a:ln w="28575">
              <a:prstDash val="sys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2FA949E4-6985-4975-B0C9-89B7FFFD1104}"/>
              </a:ext>
            </a:extLst>
          </p:cNvPr>
          <p:cNvGrpSpPr/>
          <p:nvPr/>
        </p:nvGrpSpPr>
        <p:grpSpPr>
          <a:xfrm>
            <a:off x="-41379" y="1870916"/>
            <a:ext cx="5931692" cy="4633694"/>
            <a:chOff x="-41379" y="1870916"/>
            <a:chExt cx="5931692" cy="4633694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B05707A8-4E44-4EE6-BAAE-EEB48EB07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2304" y="1871414"/>
              <a:ext cx="5008009" cy="3712012"/>
            </a:xfrm>
            <a:prstGeom prst="rect">
              <a:avLst/>
            </a:prstGeom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AA7932AA-4CF0-43D6-9C57-1CF386E1DAAA}"/>
                </a:ext>
              </a:extLst>
            </p:cNvPr>
            <p:cNvSpPr/>
            <p:nvPr/>
          </p:nvSpPr>
          <p:spPr>
            <a:xfrm>
              <a:off x="879089" y="1870916"/>
              <a:ext cx="3067043" cy="302764"/>
            </a:xfrm>
            <a:prstGeom prst="rect">
              <a:avLst/>
            </a:prstGeom>
            <a:noFill/>
            <a:ln w="28575">
              <a:prstDash val="sys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2D676B6-9090-4952-A3E8-094986E94D52}"/>
                </a:ext>
              </a:extLst>
            </p:cNvPr>
            <p:cNvSpPr txBox="1"/>
            <p:nvPr/>
          </p:nvSpPr>
          <p:spPr>
            <a:xfrm>
              <a:off x="879089" y="5704391"/>
              <a:ext cx="5008009" cy="8002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b="1"/>
                <a:t>[</a:t>
              </a:r>
              <a:r>
                <a:rPr lang="ko-KR" altLang="en-US" sz="1400" b="1"/>
                <a:t>절편항 제거</a:t>
              </a:r>
              <a:r>
                <a:rPr lang="en-US" altLang="ko-KR" sz="1400" b="1"/>
                <a:t>_</a:t>
              </a:r>
              <a:r>
                <a:rPr lang="ko-KR" altLang="en-US" sz="1400" b="1"/>
                <a:t>완전모형</a:t>
              </a:r>
              <a:r>
                <a:rPr lang="en-US" altLang="ko-KR" sz="1400" b="1"/>
                <a:t>]</a:t>
              </a:r>
              <a:r>
                <a:rPr lang="en-US" altLang="ko-KR" sz="1500"/>
                <a:t> </a:t>
              </a:r>
              <a:r>
                <a:rPr lang="en-US" altLang="ko-KR" sz="1500" dirty="0"/>
                <a:t>‘0+’</a:t>
              </a:r>
              <a:r>
                <a:rPr lang="ko-KR" altLang="en-US" sz="1500" dirty="0"/>
                <a:t> </a:t>
              </a:r>
              <a:r>
                <a:rPr lang="ko-KR" altLang="en-US" sz="1500" dirty="0" err="1"/>
                <a:t>절편항</a:t>
              </a:r>
              <a:r>
                <a:rPr lang="ko-KR" altLang="en-US" sz="1500" dirty="0"/>
                <a:t> 제거</a:t>
              </a:r>
              <a:endParaRPr lang="en-US" altLang="ko-KR" sz="1500" dirty="0"/>
            </a:p>
            <a:p>
              <a:r>
                <a:rPr lang="en-US" altLang="ko-KR" sz="1500" dirty="0"/>
                <a:t>(</a:t>
              </a:r>
              <a:r>
                <a:rPr lang="ko-KR" altLang="en-US" sz="1500" dirty="0"/>
                <a:t>채택변수</a:t>
              </a:r>
              <a:r>
                <a:rPr lang="en-US" altLang="ko-KR" sz="1500" dirty="0"/>
                <a:t>) Population, Illiteracy</a:t>
              </a:r>
              <a:br>
                <a:rPr lang="en-US" altLang="ko-KR" sz="1500" dirty="0"/>
              </a:br>
              <a:r>
                <a:rPr lang="ko-KR" altLang="en-US" sz="1600" dirty="0"/>
                <a:t>수정결정계수</a:t>
              </a:r>
              <a:r>
                <a:rPr lang="en-US" altLang="ko-KR" sz="1600" dirty="0"/>
                <a:t>(Adjusted R-squared) : </a:t>
              </a:r>
              <a:r>
                <a:rPr lang="en-US" altLang="ko-KR" sz="1400" dirty="0"/>
                <a:t>90.73%</a:t>
              </a:r>
              <a:endParaRPr lang="ko-KR" altLang="en-US" sz="1500" dirty="0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91BD6D5F-9C39-4AB1-B6CF-F13B9D2532DE}"/>
                </a:ext>
              </a:extLst>
            </p:cNvPr>
            <p:cNvSpPr/>
            <p:nvPr/>
          </p:nvSpPr>
          <p:spPr>
            <a:xfrm>
              <a:off x="1189973" y="3874897"/>
              <a:ext cx="730351" cy="133780"/>
            </a:xfrm>
            <a:prstGeom prst="rect">
              <a:avLst/>
            </a:prstGeom>
            <a:noFill/>
            <a:ln w="19050">
              <a:solidFill>
                <a:schemeClr val="accent1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3D2B6376-22F7-4D5F-9F34-5F060EE8A39C}"/>
                </a:ext>
              </a:extLst>
            </p:cNvPr>
            <p:cNvSpPr/>
            <p:nvPr/>
          </p:nvSpPr>
          <p:spPr>
            <a:xfrm>
              <a:off x="4957505" y="3860814"/>
              <a:ext cx="221691" cy="133780"/>
            </a:xfrm>
            <a:prstGeom prst="rect">
              <a:avLst/>
            </a:prstGeom>
            <a:noFill/>
            <a:ln w="19050">
              <a:solidFill>
                <a:schemeClr val="accent1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FAB74BC2-DEDC-4B54-BDF4-C3A5D59BD2DC}"/>
                </a:ext>
              </a:extLst>
            </p:cNvPr>
            <p:cNvSpPr/>
            <p:nvPr/>
          </p:nvSpPr>
          <p:spPr>
            <a:xfrm>
              <a:off x="1189973" y="3579559"/>
              <a:ext cx="826418" cy="133780"/>
            </a:xfrm>
            <a:prstGeom prst="rect">
              <a:avLst/>
            </a:prstGeom>
            <a:noFill/>
            <a:ln w="19050">
              <a:solidFill>
                <a:schemeClr val="accent1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C00000"/>
                </a:solidFill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50DCAB28-8989-48C4-BF20-DAE9FE4F0E14}"/>
                </a:ext>
              </a:extLst>
            </p:cNvPr>
            <p:cNvSpPr/>
            <p:nvPr/>
          </p:nvSpPr>
          <p:spPr>
            <a:xfrm>
              <a:off x="4919325" y="3551909"/>
              <a:ext cx="221691" cy="133780"/>
            </a:xfrm>
            <a:prstGeom prst="rect">
              <a:avLst/>
            </a:prstGeom>
            <a:noFill/>
            <a:ln w="19050">
              <a:solidFill>
                <a:schemeClr val="accent1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C00000"/>
                </a:solidFill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AFF8659D-8DF6-4D77-9A00-13C524B21B4D}"/>
                </a:ext>
              </a:extLst>
            </p:cNvPr>
            <p:cNvSpPr/>
            <p:nvPr/>
          </p:nvSpPr>
          <p:spPr>
            <a:xfrm>
              <a:off x="3249834" y="5251035"/>
              <a:ext cx="2037630" cy="133781"/>
            </a:xfrm>
            <a:prstGeom prst="rect">
              <a:avLst/>
            </a:prstGeom>
            <a:noFill/>
            <a:ln w="19050">
              <a:prstDash val="sys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E9246E8E-2E7A-4449-A415-622CB51A4900}"/>
                </a:ext>
              </a:extLst>
            </p:cNvPr>
            <p:cNvGrpSpPr/>
            <p:nvPr/>
          </p:nvGrpSpPr>
          <p:grpSpPr>
            <a:xfrm>
              <a:off x="-41379" y="1887621"/>
              <a:ext cx="1016881" cy="646331"/>
              <a:chOff x="-41379" y="1887621"/>
              <a:chExt cx="1016881" cy="646331"/>
            </a:xfrm>
          </p:grpSpPr>
          <p:sp>
            <p:nvSpPr>
              <p:cNvPr id="37" name="직사각형 36" descr="작은 원">
                <a:extLst>
                  <a:ext uri="{FF2B5EF4-FFF2-40B4-BE49-F238E27FC236}">
                    <a16:creationId xmlns:a16="http://schemas.microsoft.com/office/drawing/2014/main" id="{CF228768-A28C-41A5-9116-F3ED04302411}"/>
                  </a:ext>
                </a:extLst>
              </p:cNvPr>
              <p:cNvSpPr/>
              <p:nvPr/>
            </p:nvSpPr>
            <p:spPr bwMode="blackWhite">
              <a:xfrm>
                <a:off x="133229" y="1887621"/>
                <a:ext cx="667664" cy="64633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8" name="텍스트 상자 19" descr="숫자 1">
                <a:extLst>
                  <a:ext uri="{FF2B5EF4-FFF2-40B4-BE49-F238E27FC236}">
                    <a16:creationId xmlns:a16="http://schemas.microsoft.com/office/drawing/2014/main" id="{881EF305-0BFE-48E3-A75E-261DEE2C6BDD}"/>
                  </a:ext>
                </a:extLst>
              </p:cNvPr>
              <p:cNvSpPr txBox="1">
                <a:spLocks noChangeAspect="1"/>
              </p:cNvSpPr>
              <p:nvPr/>
            </p:nvSpPr>
            <p:spPr bwMode="blackWhite">
              <a:xfrm>
                <a:off x="-41379" y="1887621"/>
                <a:ext cx="101688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altLang="ko-KR" sz="120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[</a:t>
                </a:r>
                <a:r>
                  <a:rPr lang="ko-KR" altLang="en-US" sz="120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절편항 제거</a:t>
                </a:r>
                <a:r>
                  <a:rPr lang="en-US" altLang="ko-KR" sz="120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_</a:t>
                </a:r>
              </a:p>
              <a:p>
                <a:pPr algn="ctr" rtl="0"/>
                <a:r>
                  <a:rPr lang="ko-KR" altLang="en-US" sz="120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완전모형</a:t>
                </a:r>
                <a:r>
                  <a:rPr lang="en-US" altLang="ko-KR" sz="120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] </a:t>
                </a:r>
                <a:endParaRPr lang="ko-KR" altLang="en-US" sz="12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08870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C543B5-1790-46C1-99B5-4A0C72280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527" y="448056"/>
            <a:ext cx="11127319" cy="640080"/>
          </a:xfrm>
        </p:spPr>
        <p:txBody>
          <a:bodyPr/>
          <a:lstStyle/>
          <a:p>
            <a:r>
              <a:rPr lang="en-US" altLang="ko-KR"/>
              <a:t>2.2. </a:t>
            </a:r>
            <a:r>
              <a:rPr lang="ko-KR" altLang="en-US"/>
              <a:t>다중회귀분석 </a:t>
            </a:r>
            <a:r>
              <a:rPr lang="en-US" altLang="ko-KR"/>
              <a:t>: </a:t>
            </a:r>
            <a:r>
              <a:rPr lang="ko-KR" altLang="en-US"/>
              <a:t>다중공선성 확인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0B44094C-4A18-4937-AEEE-7C0F21D36C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296113"/>
              </p:ext>
            </p:extLst>
          </p:nvPr>
        </p:nvGraphicFramePr>
        <p:xfrm>
          <a:off x="702611" y="1787023"/>
          <a:ext cx="10915235" cy="2117805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836185">
                  <a:extLst>
                    <a:ext uri="{9D8B030D-6E8A-4147-A177-3AD203B41FA5}">
                      <a16:colId xmlns:a16="http://schemas.microsoft.com/office/drawing/2014/main" val="1702442515"/>
                    </a:ext>
                  </a:extLst>
                </a:gridCol>
                <a:gridCol w="404304">
                  <a:extLst>
                    <a:ext uri="{9D8B030D-6E8A-4147-A177-3AD203B41FA5}">
                      <a16:colId xmlns:a16="http://schemas.microsoft.com/office/drawing/2014/main" val="4132375681"/>
                    </a:ext>
                  </a:extLst>
                </a:gridCol>
                <a:gridCol w="1758950">
                  <a:extLst>
                    <a:ext uri="{9D8B030D-6E8A-4147-A177-3AD203B41FA5}">
                      <a16:colId xmlns:a16="http://schemas.microsoft.com/office/drawing/2014/main" val="734610881"/>
                    </a:ext>
                  </a:extLst>
                </a:gridCol>
                <a:gridCol w="4756150">
                  <a:extLst>
                    <a:ext uri="{9D8B030D-6E8A-4147-A177-3AD203B41FA5}">
                      <a16:colId xmlns:a16="http://schemas.microsoft.com/office/drawing/2014/main" val="1712803380"/>
                    </a:ext>
                  </a:extLst>
                </a:gridCol>
                <a:gridCol w="679450">
                  <a:extLst>
                    <a:ext uri="{9D8B030D-6E8A-4147-A177-3AD203B41FA5}">
                      <a16:colId xmlns:a16="http://schemas.microsoft.com/office/drawing/2014/main" val="353051096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1764567006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837202480"/>
                    </a:ext>
                  </a:extLst>
                </a:gridCol>
                <a:gridCol w="689496">
                  <a:extLst>
                    <a:ext uri="{9D8B030D-6E8A-4147-A177-3AD203B41FA5}">
                      <a16:colId xmlns:a16="http://schemas.microsoft.com/office/drawing/2014/main" val="2944592704"/>
                    </a:ext>
                  </a:extLst>
                </a:gridCol>
              </a:tblGrid>
              <a:tr h="33173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모형명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</a:rPr>
                        <a:t>X</a:t>
                      </a:r>
                      <a:r>
                        <a:rPr lang="ko-KR" altLang="en-US" sz="1000" u="none" strike="noStrike">
                          <a:effectLst/>
                        </a:rPr>
                        <a:t>변수 개수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사용된 </a:t>
                      </a:r>
                      <a:r>
                        <a:rPr lang="en-US" altLang="ko-KR" sz="1000" u="none" strike="noStrike">
                          <a:effectLst/>
                        </a:rPr>
                        <a:t>X</a:t>
                      </a:r>
                      <a:r>
                        <a:rPr lang="ko-KR" altLang="en-US" sz="1000" u="none" strike="noStrike">
                          <a:effectLst/>
                        </a:rPr>
                        <a:t>변수명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다중공선성 체크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제거된 </a:t>
                      </a:r>
                      <a:endParaRPr lang="en-US" altLang="ko-KR" sz="1000" u="none" strike="noStrike">
                        <a:effectLst/>
                      </a:endParaRPr>
                    </a:p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변수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</a:rPr>
                        <a:t>(b)</a:t>
                      </a:r>
                      <a:r>
                        <a:rPr lang="ko-KR" altLang="en-US" sz="1000" u="none" strike="noStrike">
                          <a:effectLst/>
                        </a:rPr>
                        <a:t>결정계수</a:t>
                      </a:r>
                      <a:endParaRPr lang="en-US" altLang="ko-KR" sz="1000" u="none" strike="noStrike">
                        <a:effectLst/>
                      </a:endParaRPr>
                    </a:p>
                    <a:p>
                      <a:pPr algn="ctr" fontAlgn="ctr"/>
                      <a:r>
                        <a:rPr lang="en-US" altLang="ko-KR" sz="1000" u="none" strike="noStrike">
                          <a:effectLst/>
                        </a:rPr>
                        <a:t>(</a:t>
                      </a:r>
                      <a:r>
                        <a:rPr lang="en-US" sz="1000" u="none" strike="noStrike">
                          <a:effectLst/>
                        </a:rPr>
                        <a:t>R-squared)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(a)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수정결정계수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(Adj R-squared)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(b)-(a)</a:t>
                      </a:r>
                    </a:p>
                  </a:txBody>
                  <a:tcPr marL="7647" marR="7647" marT="7647" marB="0" anchor="ctr"/>
                </a:tc>
                <a:extLst>
                  <a:ext uri="{0D108BD9-81ED-4DB2-BD59-A6C34878D82A}">
                    <a16:rowId xmlns:a16="http://schemas.microsoft.com/office/drawing/2014/main" val="1462850901"/>
                  </a:ext>
                </a:extLst>
              </a:tr>
              <a:tr h="53582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완전모형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</a:rPr>
                        <a:t>7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Population, Income  Illiteracy,</a:t>
                      </a:r>
                    </a:p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Life Exp, HS Grad, Frost, Area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Population  Income         Illiteracy     </a:t>
                      </a:r>
                      <a:r>
                        <a:rPr lang="en-US" sz="1000" b="1" u="none" strike="noStrike">
                          <a:effectLst/>
                        </a:rPr>
                        <a:t>Life Exp        </a:t>
                      </a:r>
                      <a:r>
                        <a:rPr lang="en-US" sz="1000" u="none" strike="noStrike">
                          <a:effectLst/>
                        </a:rPr>
                        <a:t>HS Grad       Frost           Area </a:t>
                      </a:r>
                      <a:br>
                        <a:rPr lang="en-US" sz="1000" u="none" strike="noStrike">
                          <a:effectLst/>
                        </a:rPr>
                      </a:br>
                      <a:r>
                        <a:rPr lang="en-US" sz="1000" u="none" strike="noStrike">
                          <a:effectLst/>
                        </a:rPr>
                        <a:t>2.569229     107.429489  16.339008  </a:t>
                      </a:r>
                      <a:r>
                        <a:rPr lang="en-US" sz="1000" b="1" u="none" strike="noStrike">
                          <a:effectLst/>
                        </a:rPr>
                        <a:t>265.677785</a:t>
                      </a:r>
                      <a:r>
                        <a:rPr lang="en-US" sz="1000" u="none" strike="noStrike">
                          <a:effectLst/>
                        </a:rPr>
                        <a:t>  148.774788  11.431426   2.831257  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---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0.9203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0.9073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0.13</a:t>
                      </a:r>
                    </a:p>
                  </a:txBody>
                  <a:tcPr marL="7647" marR="7647" marT="7647" marB="0" anchor="ctr"/>
                </a:tc>
                <a:extLst>
                  <a:ext uri="{0D108BD9-81ED-4DB2-BD59-A6C34878D82A}">
                    <a16:rowId xmlns:a16="http://schemas.microsoft.com/office/drawing/2014/main" val="144412137"/>
                  </a:ext>
                </a:extLst>
              </a:tr>
              <a:tr h="53582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수정모형</a:t>
                      </a:r>
                      <a:r>
                        <a:rPr lang="en-US" altLang="ko-KR" sz="1000" u="none" strike="noStrike">
                          <a:effectLst/>
                        </a:rPr>
                        <a:t>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</a:rPr>
                        <a:t>6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Population, Income  Illiteracy, </a:t>
                      </a:r>
                    </a:p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HS Grad, Frost, Area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Population  </a:t>
                      </a:r>
                      <a:r>
                        <a:rPr lang="en-US" sz="1000" b="1" u="none" strike="noStrike">
                          <a:effectLst/>
                        </a:rPr>
                        <a:t>Income</a:t>
                      </a:r>
                      <a:r>
                        <a:rPr lang="en-US" sz="1000" u="none" strike="noStrike">
                          <a:effectLst/>
                        </a:rPr>
                        <a:t>        Illiteracy     HS Grad       Frost          Area </a:t>
                      </a:r>
                      <a:br>
                        <a:rPr lang="en-US" sz="1000" u="none" strike="noStrike">
                          <a:effectLst/>
                        </a:rPr>
                      </a:br>
                      <a:r>
                        <a:rPr lang="en-US" sz="1000" u="none" strike="noStrike">
                          <a:effectLst/>
                        </a:rPr>
                        <a:t>2.518393     </a:t>
                      </a:r>
                      <a:r>
                        <a:rPr lang="en-US" sz="1000" b="1" u="none" strike="noStrike">
                          <a:effectLst/>
                        </a:rPr>
                        <a:t>93.820614</a:t>
                      </a:r>
                      <a:r>
                        <a:rPr lang="en-US" sz="1000" u="none" strike="noStrike">
                          <a:effectLst/>
                        </a:rPr>
                        <a:t>    4.875907   74.799162    8.457070   1.849077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>
                          <a:effectLst/>
                        </a:rPr>
                        <a:t>Life Exp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0.9195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</a:rPr>
                        <a:t>0.9085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0.11</a:t>
                      </a:r>
                    </a:p>
                  </a:txBody>
                  <a:tcPr marL="7647" marR="7647" marT="7647" marB="0" anchor="ctr"/>
                </a:tc>
                <a:extLst>
                  <a:ext uri="{0D108BD9-81ED-4DB2-BD59-A6C34878D82A}">
                    <a16:rowId xmlns:a16="http://schemas.microsoft.com/office/drawing/2014/main" val="1258294649"/>
                  </a:ext>
                </a:extLst>
              </a:tr>
              <a:tr h="3572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수정모형</a:t>
                      </a:r>
                      <a:r>
                        <a:rPr lang="en-US" altLang="ko-KR" sz="1000" u="none" strike="noStrike">
                          <a:effectLst/>
                        </a:rPr>
                        <a:t>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</a:rPr>
                        <a:t>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Population,  Illiteracy, </a:t>
                      </a:r>
                    </a:p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HS Grad, Frost, Area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Population   Illiteracy     </a:t>
                      </a:r>
                      <a:r>
                        <a:rPr lang="en-US" sz="1000" b="1" u="none" strike="noStrike">
                          <a:effectLst/>
                        </a:rPr>
                        <a:t>HS Grad      </a:t>
                      </a:r>
                      <a:r>
                        <a:rPr lang="en-US" sz="1000" u="none" strike="noStrike">
                          <a:effectLst/>
                        </a:rPr>
                        <a:t>Frost          Area </a:t>
                      </a:r>
                      <a:br>
                        <a:rPr lang="en-US" sz="1000" u="none" strike="noStrike">
                          <a:effectLst/>
                        </a:rPr>
                      </a:br>
                      <a:r>
                        <a:rPr lang="en-US" sz="1000" u="none" strike="noStrike">
                          <a:effectLst/>
                        </a:rPr>
                        <a:t>2.069662      4.104877    </a:t>
                      </a:r>
                      <a:r>
                        <a:rPr lang="en-US" sz="1000" b="1" u="none" strike="noStrike">
                          <a:effectLst/>
                        </a:rPr>
                        <a:t>16.395395</a:t>
                      </a:r>
                      <a:r>
                        <a:rPr lang="en-US" sz="1000" u="none" strike="noStrike">
                          <a:effectLst/>
                        </a:rPr>
                        <a:t>   7.805363   1.843821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>
                          <a:effectLst/>
                        </a:rPr>
                        <a:t>Income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0.9193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</a:rPr>
                        <a:t>0.9104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0.89</a:t>
                      </a:r>
                    </a:p>
                  </a:txBody>
                  <a:tcPr marL="7647" marR="7647" marT="7647" marB="0" anchor="ctr"/>
                </a:tc>
                <a:extLst>
                  <a:ext uri="{0D108BD9-81ED-4DB2-BD59-A6C34878D82A}">
                    <a16:rowId xmlns:a16="http://schemas.microsoft.com/office/drawing/2014/main" val="2839091168"/>
                  </a:ext>
                </a:extLst>
              </a:tr>
              <a:tr h="3572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solidFill>
                            <a:srgbClr val="C00000"/>
                          </a:solidFill>
                          <a:effectLst/>
                        </a:rPr>
                        <a:t>수정모형</a:t>
                      </a:r>
                      <a:r>
                        <a:rPr lang="en-US" altLang="ko-KR" sz="1000" u="none" strike="noStrike">
                          <a:solidFill>
                            <a:srgbClr val="C00000"/>
                          </a:solidFill>
                          <a:effectLst/>
                        </a:rPr>
                        <a:t>3</a:t>
                      </a:r>
                      <a:endParaRPr lang="en-US" altLang="ko-KR" sz="1000" b="0" i="0" u="none" strike="noStrike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solidFill>
                            <a:srgbClr val="C00000"/>
                          </a:solidFill>
                          <a:effectLst/>
                        </a:rPr>
                        <a:t>4</a:t>
                      </a:r>
                      <a:endParaRPr lang="en-US" altLang="ko-KR" sz="1000" b="0" i="0" u="none" strike="noStrike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solidFill>
                            <a:srgbClr val="C00000"/>
                          </a:solidFill>
                          <a:effectLst/>
                        </a:rPr>
                        <a:t>Population,  Illiteracy,  Frost, </a:t>
                      </a:r>
                    </a:p>
                    <a:p>
                      <a:pPr algn="l" fontAlgn="t"/>
                      <a:r>
                        <a:rPr lang="en-US" sz="1000" u="none" strike="noStrike">
                          <a:solidFill>
                            <a:srgbClr val="C00000"/>
                          </a:solidFill>
                          <a:effectLst/>
                        </a:rPr>
                        <a:t>Area</a:t>
                      </a:r>
                      <a:endParaRPr lang="en-US" sz="1000" b="0" i="0" u="none" strike="noStrike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solidFill>
                            <a:srgbClr val="C00000"/>
                          </a:solidFill>
                          <a:effectLst/>
                        </a:rPr>
                        <a:t>Population   Illiteracy     Frost         Area </a:t>
                      </a:r>
                      <a:br>
                        <a:rPr lang="en-US" sz="1000" u="none" strike="noStrike">
                          <a:solidFill>
                            <a:srgbClr val="C00000"/>
                          </a:solidFill>
                          <a:effectLst/>
                        </a:rPr>
                      </a:br>
                      <a:r>
                        <a:rPr lang="en-US" sz="1000" u="none" strike="noStrike">
                          <a:solidFill>
                            <a:srgbClr val="C00000"/>
                          </a:solidFill>
                          <a:effectLst/>
                        </a:rPr>
                        <a:t>1.784327     2.502763     2.028539   1.758877</a:t>
                      </a:r>
                      <a:endParaRPr lang="en-US" sz="1000" b="0" i="0" u="none" strike="noStrike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>
                          <a:solidFill>
                            <a:srgbClr val="C00000"/>
                          </a:solidFill>
                          <a:effectLst/>
                        </a:rPr>
                        <a:t>HS Grad</a:t>
                      </a:r>
                      <a:endParaRPr lang="en-US" sz="1000" b="1" i="0" u="none" strike="noStrike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0.9192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u="none" strike="noStrike">
                          <a:solidFill>
                            <a:srgbClr val="C00000"/>
                          </a:solidFill>
                          <a:effectLst/>
                        </a:rPr>
                        <a:t>0.9122</a:t>
                      </a:r>
                      <a:endParaRPr lang="en-US" altLang="ko-KR" sz="1000" b="0" i="0" u="none" strike="noStrike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0.70</a:t>
                      </a:r>
                    </a:p>
                  </a:txBody>
                  <a:tcPr marL="7647" marR="7647" marT="7647" marB="0" anchor="ctr"/>
                </a:tc>
                <a:extLst>
                  <a:ext uri="{0D108BD9-81ED-4DB2-BD59-A6C34878D82A}">
                    <a16:rowId xmlns:a16="http://schemas.microsoft.com/office/drawing/2014/main" val="2117061153"/>
                  </a:ext>
                </a:extLst>
              </a:tr>
            </a:tbl>
          </a:graphicData>
        </a:graphic>
      </p:graphicFrame>
      <p:pic>
        <p:nvPicPr>
          <p:cNvPr id="15" name="그림 14">
            <a:extLst>
              <a:ext uri="{FF2B5EF4-FFF2-40B4-BE49-F238E27FC236}">
                <a16:creationId xmlns:a16="http://schemas.microsoft.com/office/drawing/2014/main" id="{C5756F21-2A0A-4E2C-A1F8-601CC052E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91" y="4015977"/>
            <a:ext cx="3415253" cy="259807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29A89A6C-190B-42A1-BE0E-2FA937671A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595" y="4000499"/>
            <a:ext cx="3415252" cy="259807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9C96F42D-F755-462D-89D7-0DBB8BA2F8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2603" y="4024457"/>
            <a:ext cx="3415253" cy="2589593"/>
          </a:xfrm>
          <a:prstGeom prst="rect">
            <a:avLst/>
          </a:prstGeom>
        </p:spPr>
      </p:pic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7DA38575-0B5D-4B9D-8871-F55EFBBCC97B}"/>
              </a:ext>
            </a:extLst>
          </p:cNvPr>
          <p:cNvSpPr/>
          <p:nvPr/>
        </p:nvSpPr>
        <p:spPr>
          <a:xfrm>
            <a:off x="3869875" y="5073479"/>
            <a:ext cx="582728" cy="483067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2A2ADCA2-8C59-4A76-8E0C-AED0CE5E89D9}"/>
              </a:ext>
            </a:extLst>
          </p:cNvPr>
          <p:cNvSpPr/>
          <p:nvPr/>
        </p:nvSpPr>
        <p:spPr>
          <a:xfrm>
            <a:off x="7564451" y="5058003"/>
            <a:ext cx="582728" cy="483067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2F2E65FC-EE54-41C9-B48D-CA72F2781BBA}"/>
              </a:ext>
            </a:extLst>
          </p:cNvPr>
          <p:cNvSpPr txBox="1">
            <a:spLocks/>
          </p:cNvSpPr>
          <p:nvPr/>
        </p:nvSpPr>
        <p:spPr>
          <a:xfrm>
            <a:off x="510346" y="1235341"/>
            <a:ext cx="11345218" cy="7239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400" b="1"/>
              <a:t>[</a:t>
            </a:r>
            <a:r>
              <a:rPr lang="ko-KR" altLang="en-US" sz="1400" b="1"/>
              <a:t>다중공선성 이슈해결방안</a:t>
            </a:r>
            <a:r>
              <a:rPr lang="en-US" altLang="ko-KR" sz="1400" b="1"/>
              <a:t>] </a:t>
            </a:r>
            <a:r>
              <a:rPr lang="ko-KR" altLang="en-US" sz="1400" b="1"/>
              <a:t>예측</a:t>
            </a:r>
            <a:r>
              <a:rPr lang="en-US" altLang="ko-KR" sz="1400" b="1"/>
              <a:t>/</a:t>
            </a:r>
            <a:r>
              <a:rPr lang="ko-KR" altLang="en-US" sz="1400" b="1"/>
              <a:t>추정 모형식 회귀계수값의 신뢰도가 떨어지므로</a:t>
            </a:r>
            <a:r>
              <a:rPr lang="en-US" altLang="ko-KR" sz="1400" b="1"/>
              <a:t>, </a:t>
            </a:r>
            <a:r>
              <a:rPr lang="ko-KR" altLang="en-US" sz="1400" b="1"/>
              <a:t>반드시 다중공선성 체크 필요함</a:t>
            </a:r>
            <a:r>
              <a:rPr lang="en-US" altLang="ko-KR" sz="1400" b="1"/>
              <a:t>.</a:t>
            </a:r>
            <a:br>
              <a:rPr lang="en-US" altLang="ko-KR" sz="1400" b="1"/>
            </a:br>
            <a:r>
              <a:rPr lang="en-US" altLang="ko-KR" sz="1400" b="1"/>
              <a:t>(1) car::vif(</a:t>
            </a:r>
            <a:r>
              <a:rPr lang="ko-KR" altLang="en-US" sz="1400" b="1"/>
              <a:t>모형식명</a:t>
            </a:r>
            <a:r>
              <a:rPr lang="en-US" altLang="ko-KR" sz="1400" b="1"/>
              <a:t>)&gt;10</a:t>
            </a:r>
            <a:r>
              <a:rPr lang="ko-KR" altLang="en-US" sz="1400" b="1"/>
              <a:t>인 변수제거</a:t>
            </a:r>
            <a:r>
              <a:rPr lang="en-US" altLang="ko-KR" sz="1400" b="1"/>
              <a:t>, </a:t>
            </a:r>
            <a:r>
              <a:rPr lang="ko-KR" altLang="en-US" sz="1400" b="1"/>
              <a:t>잔여후보변수들이 </a:t>
            </a:r>
            <a:r>
              <a:rPr lang="en-US" altLang="ko-KR" sz="1400" b="1"/>
              <a:t>car::vif(fit0)&lt;10 </a:t>
            </a:r>
            <a:r>
              <a:rPr lang="ko-KR" altLang="en-US" sz="1400" b="1"/>
              <a:t>될 때 까지 변수제거 </a:t>
            </a:r>
            <a:r>
              <a:rPr lang="en-US" altLang="ko-KR" sz="1400" b="1"/>
              <a:t>(2) </a:t>
            </a:r>
            <a:r>
              <a:rPr lang="ko-KR" altLang="en-US" sz="1400" b="1"/>
              <a:t>최종후보모형</a:t>
            </a:r>
            <a:r>
              <a:rPr lang="en-US" altLang="ko-KR" sz="1400" b="1"/>
              <a:t>/</a:t>
            </a:r>
            <a:r>
              <a:rPr lang="ko-KR" altLang="en-US" sz="1400" b="1"/>
              <a:t>채택변수가 됨 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0B788A93-95BA-4C2D-A5EE-518F0512A036}"/>
              </a:ext>
            </a:extLst>
          </p:cNvPr>
          <p:cNvGrpSpPr/>
          <p:nvPr/>
        </p:nvGrpSpPr>
        <p:grpSpPr>
          <a:xfrm>
            <a:off x="7867856" y="3922844"/>
            <a:ext cx="680400" cy="483068"/>
            <a:chOff x="7852029" y="3716716"/>
            <a:chExt cx="680400" cy="483068"/>
          </a:xfrm>
        </p:grpSpPr>
        <p:sp>
          <p:nvSpPr>
            <p:cNvPr id="37" name="타원 36" descr="작은 원">
              <a:extLst>
                <a:ext uri="{FF2B5EF4-FFF2-40B4-BE49-F238E27FC236}">
                  <a16:creationId xmlns:a16="http://schemas.microsoft.com/office/drawing/2014/main" id="{2C1A889A-47EE-4606-A803-90D79153F716}"/>
                </a:ext>
              </a:extLst>
            </p:cNvPr>
            <p:cNvSpPr/>
            <p:nvPr/>
          </p:nvSpPr>
          <p:spPr bwMode="blackWhite">
            <a:xfrm>
              <a:off x="7942440" y="3716716"/>
              <a:ext cx="499578" cy="48306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8" name="텍스트 상자 19" descr="숫자 1">
              <a:extLst>
                <a:ext uri="{FF2B5EF4-FFF2-40B4-BE49-F238E27FC236}">
                  <a16:creationId xmlns:a16="http://schemas.microsoft.com/office/drawing/2014/main" id="{FD0D2D66-3EA7-402D-AB93-A886E1AD24B3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7852029" y="3743675"/>
              <a:ext cx="680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ko-KR" altLang="en-US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수정</a:t>
              </a:r>
              <a:endParaRPr lang="en-US" altLang="ko-KR"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  <a:p>
              <a:pPr algn="ctr" rtl="0"/>
              <a:r>
                <a:rPr lang="ko-KR" altLang="en-US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모형</a:t>
              </a:r>
              <a:r>
                <a:rPr lang="en-US" altLang="ko-KR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3</a:t>
              </a:r>
              <a:endPara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A1530EB6-F3B0-46CC-B117-4E9B3F27AE13}"/>
              </a:ext>
            </a:extLst>
          </p:cNvPr>
          <p:cNvGrpSpPr/>
          <p:nvPr/>
        </p:nvGrpSpPr>
        <p:grpSpPr>
          <a:xfrm>
            <a:off x="-101069" y="4015221"/>
            <a:ext cx="1016881" cy="640080"/>
            <a:chOff x="-101069" y="4015221"/>
            <a:chExt cx="1016881" cy="640080"/>
          </a:xfrm>
        </p:grpSpPr>
        <p:sp>
          <p:nvSpPr>
            <p:cNvPr id="40" name="직사각형 39" descr="작은 원">
              <a:extLst>
                <a:ext uri="{FF2B5EF4-FFF2-40B4-BE49-F238E27FC236}">
                  <a16:creationId xmlns:a16="http://schemas.microsoft.com/office/drawing/2014/main" id="{6DB29A1C-13F4-4CB1-9183-D9BB643DBAA3}"/>
                </a:ext>
              </a:extLst>
            </p:cNvPr>
            <p:cNvSpPr/>
            <p:nvPr/>
          </p:nvSpPr>
          <p:spPr bwMode="blackWhite">
            <a:xfrm>
              <a:off x="73540" y="4015221"/>
              <a:ext cx="667664" cy="64008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1" name="텍스트 상자 19" descr="숫자 1">
              <a:extLst>
                <a:ext uri="{FF2B5EF4-FFF2-40B4-BE49-F238E27FC236}">
                  <a16:creationId xmlns:a16="http://schemas.microsoft.com/office/drawing/2014/main" id="{A24165DE-35C1-4B43-91BD-9D70D9D05341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-101069" y="4044761"/>
              <a:ext cx="1016881" cy="530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-KR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[</a:t>
              </a:r>
              <a:r>
                <a:rPr lang="ko-KR" altLang="en-US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절편항 제거</a:t>
              </a:r>
              <a:r>
                <a:rPr lang="en-US" altLang="ko-KR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_</a:t>
              </a:r>
            </a:p>
            <a:p>
              <a:pPr algn="ctr" rtl="0"/>
              <a:r>
                <a:rPr lang="ko-KR" altLang="en-US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완전모형</a:t>
              </a:r>
              <a:r>
                <a:rPr lang="en-US" altLang="ko-KR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] </a:t>
              </a:r>
              <a:endPara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ACEBC89E-2D27-4660-A402-A821CDDC0A75}"/>
              </a:ext>
            </a:extLst>
          </p:cNvPr>
          <p:cNvGrpSpPr/>
          <p:nvPr/>
        </p:nvGrpSpPr>
        <p:grpSpPr>
          <a:xfrm>
            <a:off x="4161239" y="3922844"/>
            <a:ext cx="680400" cy="483068"/>
            <a:chOff x="7852029" y="3716716"/>
            <a:chExt cx="680400" cy="483068"/>
          </a:xfrm>
        </p:grpSpPr>
        <p:sp>
          <p:nvSpPr>
            <p:cNvPr id="43" name="타원 42" descr="작은 원">
              <a:extLst>
                <a:ext uri="{FF2B5EF4-FFF2-40B4-BE49-F238E27FC236}">
                  <a16:creationId xmlns:a16="http://schemas.microsoft.com/office/drawing/2014/main" id="{2D65A24A-9137-4A2F-A1D3-F98EF7E9980F}"/>
                </a:ext>
              </a:extLst>
            </p:cNvPr>
            <p:cNvSpPr/>
            <p:nvPr/>
          </p:nvSpPr>
          <p:spPr bwMode="blackWhite">
            <a:xfrm>
              <a:off x="7942440" y="3716716"/>
              <a:ext cx="499578" cy="483068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4" name="텍스트 상자 19" descr="숫자 1">
              <a:extLst>
                <a:ext uri="{FF2B5EF4-FFF2-40B4-BE49-F238E27FC236}">
                  <a16:creationId xmlns:a16="http://schemas.microsoft.com/office/drawing/2014/main" id="{3B984EC3-440A-4B23-B459-8E9CF57B8127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7852029" y="3743675"/>
              <a:ext cx="680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ko-KR" altLang="en-US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수정</a:t>
              </a:r>
              <a:endParaRPr lang="en-US" altLang="ko-KR"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  <a:p>
              <a:pPr algn="ctr" rtl="0"/>
              <a:r>
                <a:rPr lang="ko-KR" altLang="en-US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모형</a:t>
              </a:r>
              <a:r>
                <a:rPr lang="en-US" altLang="ko-KR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2</a:t>
              </a:r>
              <a:endPara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2072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E31D1558-72B4-410F-B460-71F423186E85}"/>
              </a:ext>
            </a:extLst>
          </p:cNvPr>
          <p:cNvGrpSpPr/>
          <p:nvPr/>
        </p:nvGrpSpPr>
        <p:grpSpPr>
          <a:xfrm>
            <a:off x="621718" y="2365357"/>
            <a:ext cx="11008843" cy="4372300"/>
            <a:chOff x="601520" y="1836911"/>
            <a:chExt cx="10022306" cy="4324525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2154885E-192A-4EEC-95CB-E2BC32A247F5}"/>
                </a:ext>
              </a:extLst>
            </p:cNvPr>
            <p:cNvGrpSpPr/>
            <p:nvPr/>
          </p:nvGrpSpPr>
          <p:grpSpPr>
            <a:xfrm>
              <a:off x="601520" y="1836911"/>
              <a:ext cx="4876172" cy="4324525"/>
              <a:chOff x="601520" y="1775948"/>
              <a:chExt cx="4029202" cy="4324525"/>
            </a:xfrm>
          </p:grpSpPr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CA63F837-DFA7-4645-9041-C55330AC78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09909" y="1775948"/>
                <a:ext cx="4020813" cy="4324525"/>
              </a:xfrm>
              <a:prstGeom prst="rect">
                <a:avLst/>
              </a:prstGeom>
            </p:spPr>
          </p:pic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8B76431D-EB64-4394-A469-B1E67D6E3C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520" y="3280095"/>
                <a:ext cx="402081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BE3496A7-173F-4B96-9D86-4618B22321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909" y="4766345"/>
                <a:ext cx="402081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9C7C4F7-2513-4F2E-A9AA-35A111BC1187}"/>
                </a:ext>
              </a:extLst>
            </p:cNvPr>
            <p:cNvSpPr txBox="1"/>
            <p:nvPr/>
          </p:nvSpPr>
          <p:spPr>
            <a:xfrm>
              <a:off x="5636141" y="4553335"/>
              <a:ext cx="4987685" cy="54794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500"/>
                <a:t>[</a:t>
              </a:r>
              <a:r>
                <a:rPr lang="ko-KR" altLang="en-US" sz="1500"/>
                <a:t>수정모형</a:t>
              </a:r>
              <a:r>
                <a:rPr lang="en-US" altLang="ko-KR" sz="1500"/>
                <a:t>4] </a:t>
              </a:r>
              <a:r>
                <a:rPr lang="ko-KR" altLang="en-US" sz="1500"/>
                <a:t>유의한 변수 선택</a:t>
              </a:r>
              <a:endParaRPr lang="en-US" altLang="ko-KR" sz="1500"/>
            </a:p>
            <a:p>
              <a:r>
                <a:rPr lang="en-US" altLang="ko-KR" sz="1500"/>
                <a:t>(</a:t>
              </a:r>
              <a:r>
                <a:rPr lang="ko-KR" altLang="en-US" sz="1500"/>
                <a:t>채택변수</a:t>
              </a:r>
              <a:r>
                <a:rPr lang="en-US" altLang="ko-KR" sz="1500"/>
                <a:t>) Population, Illiteracy, Area (AIC=92.63)</a:t>
              </a: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7B645A91-D49E-439C-8A9E-C3D3856AE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36140" y="1836911"/>
              <a:ext cx="4987685" cy="2717675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36B5582E-1A0D-4EE7-B87A-18797D65569C}"/>
              </a:ext>
            </a:extLst>
          </p:cNvPr>
          <p:cNvGrpSpPr/>
          <p:nvPr/>
        </p:nvGrpSpPr>
        <p:grpSpPr>
          <a:xfrm>
            <a:off x="561439" y="4075547"/>
            <a:ext cx="4924096" cy="302343"/>
            <a:chOff x="612668" y="2499868"/>
            <a:chExt cx="4924096" cy="30234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9A743E2-2405-4509-9375-E82509F7D8F1}"/>
                </a:ext>
              </a:extLst>
            </p:cNvPr>
            <p:cNvSpPr txBox="1"/>
            <p:nvPr/>
          </p:nvSpPr>
          <p:spPr>
            <a:xfrm>
              <a:off x="3734140" y="2509823"/>
              <a:ext cx="1802624" cy="29238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300" b="1"/>
                <a:t>1</a:t>
              </a:r>
              <a:r>
                <a:rPr lang="ko-KR" altLang="en-US" sz="1300" b="1"/>
                <a:t>차제거된변수 </a:t>
              </a:r>
              <a:r>
                <a:rPr lang="en-US" altLang="ko-KR" sz="1300" b="1"/>
                <a:t>: Frost</a:t>
              </a:r>
              <a:endParaRPr lang="ko-KR" altLang="en-US" sz="1300" b="1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BE201D79-110A-4B03-B860-4B9D60F71F6C}"/>
                </a:ext>
              </a:extLst>
            </p:cNvPr>
            <p:cNvSpPr/>
            <p:nvPr/>
          </p:nvSpPr>
          <p:spPr>
            <a:xfrm>
              <a:off x="612668" y="2499868"/>
              <a:ext cx="4912944" cy="292386"/>
            </a:xfrm>
            <a:prstGeom prst="rect">
              <a:avLst/>
            </a:prstGeom>
            <a:noFill/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EA2C18F-C296-4F7A-947F-F5C56996E91F}"/>
              </a:ext>
            </a:extLst>
          </p:cNvPr>
          <p:cNvGrpSpPr/>
          <p:nvPr/>
        </p:nvGrpSpPr>
        <p:grpSpPr>
          <a:xfrm>
            <a:off x="632872" y="5528584"/>
            <a:ext cx="4924097" cy="302343"/>
            <a:chOff x="612668" y="2499868"/>
            <a:chExt cx="4924097" cy="302343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E7E8C16-779A-4948-BC5F-80A11250A554}"/>
                </a:ext>
              </a:extLst>
            </p:cNvPr>
            <p:cNvSpPr txBox="1"/>
            <p:nvPr/>
          </p:nvSpPr>
          <p:spPr>
            <a:xfrm>
              <a:off x="3535681" y="2509823"/>
              <a:ext cx="2001084" cy="29238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300" b="1"/>
                <a:t>2</a:t>
              </a:r>
              <a:r>
                <a:rPr lang="ko-KR" altLang="en-US" sz="1300" b="1"/>
                <a:t>차제거된변수 </a:t>
              </a:r>
              <a:r>
                <a:rPr lang="en-US" altLang="ko-KR" sz="1300" b="1"/>
                <a:t>: Income</a:t>
              </a:r>
              <a:endParaRPr lang="ko-KR" altLang="en-US" sz="1300" b="1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7E1A5987-42F0-43D1-948C-5C4EB102E3CB}"/>
                </a:ext>
              </a:extLst>
            </p:cNvPr>
            <p:cNvSpPr/>
            <p:nvPr/>
          </p:nvSpPr>
          <p:spPr>
            <a:xfrm>
              <a:off x="612668" y="2499868"/>
              <a:ext cx="4912944" cy="292386"/>
            </a:xfrm>
            <a:prstGeom prst="rect">
              <a:avLst/>
            </a:prstGeom>
            <a:noFill/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FBB1D9E8-C7C1-4FC0-B7B8-3BCB80184067}"/>
              </a:ext>
            </a:extLst>
          </p:cNvPr>
          <p:cNvGrpSpPr/>
          <p:nvPr/>
        </p:nvGrpSpPr>
        <p:grpSpPr>
          <a:xfrm>
            <a:off x="6146340" y="2212995"/>
            <a:ext cx="4924096" cy="302343"/>
            <a:chOff x="612668" y="2499868"/>
            <a:chExt cx="4924096" cy="302343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2BC9BEE-D40F-432A-AC8E-4E09F2C081A5}"/>
                </a:ext>
              </a:extLst>
            </p:cNvPr>
            <p:cNvSpPr txBox="1"/>
            <p:nvPr/>
          </p:nvSpPr>
          <p:spPr>
            <a:xfrm>
              <a:off x="3472062" y="2509823"/>
              <a:ext cx="2064702" cy="29238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300" b="1"/>
                <a:t>3</a:t>
              </a:r>
              <a:r>
                <a:rPr lang="ko-KR" altLang="en-US" sz="1300" b="1"/>
                <a:t>차제거된변수 </a:t>
              </a:r>
              <a:r>
                <a:rPr lang="en-US" altLang="ko-KR" sz="1300" b="1"/>
                <a:t>: HS Grad</a:t>
              </a:r>
              <a:endParaRPr lang="ko-KR" altLang="en-US" sz="1300" b="1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98173329-395C-4048-90EC-E0FEC99D0831}"/>
                </a:ext>
              </a:extLst>
            </p:cNvPr>
            <p:cNvSpPr/>
            <p:nvPr/>
          </p:nvSpPr>
          <p:spPr>
            <a:xfrm>
              <a:off x="612668" y="2499868"/>
              <a:ext cx="4912944" cy="292386"/>
            </a:xfrm>
            <a:prstGeom prst="rect">
              <a:avLst/>
            </a:prstGeom>
            <a:noFill/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DF5EF7AF-EBCB-4763-9603-A17D23783FB7}"/>
              </a:ext>
            </a:extLst>
          </p:cNvPr>
          <p:cNvGrpSpPr/>
          <p:nvPr/>
        </p:nvGrpSpPr>
        <p:grpSpPr>
          <a:xfrm>
            <a:off x="6151916" y="3366776"/>
            <a:ext cx="4924096" cy="302343"/>
            <a:chOff x="612668" y="2499868"/>
            <a:chExt cx="4924096" cy="302343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32252D4-282E-4286-99C6-6605BB4F1276}"/>
                </a:ext>
              </a:extLst>
            </p:cNvPr>
            <p:cNvSpPr txBox="1"/>
            <p:nvPr/>
          </p:nvSpPr>
          <p:spPr>
            <a:xfrm>
              <a:off x="3472062" y="2509823"/>
              <a:ext cx="2064702" cy="29238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300" b="1"/>
                <a:t>4</a:t>
              </a:r>
              <a:r>
                <a:rPr lang="ko-KR" altLang="en-US" sz="1300" b="1"/>
                <a:t>차제거된변수 </a:t>
              </a:r>
              <a:r>
                <a:rPr lang="en-US" altLang="ko-KR" sz="1300" b="1"/>
                <a:t>: Life Exp</a:t>
              </a:r>
              <a:endParaRPr lang="ko-KR" altLang="en-US" sz="1300" b="1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D2E088E1-8343-4677-883B-45D9AFD75A3C}"/>
                </a:ext>
              </a:extLst>
            </p:cNvPr>
            <p:cNvSpPr/>
            <p:nvPr/>
          </p:nvSpPr>
          <p:spPr>
            <a:xfrm>
              <a:off x="612668" y="2499868"/>
              <a:ext cx="4912944" cy="292386"/>
            </a:xfrm>
            <a:prstGeom prst="rect">
              <a:avLst/>
            </a:prstGeom>
            <a:noFill/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49C84E2C-C1CD-482D-BBCD-4D494EBDD5DD}"/>
              </a:ext>
            </a:extLst>
          </p:cNvPr>
          <p:cNvSpPr/>
          <p:nvPr/>
        </p:nvSpPr>
        <p:spPr>
          <a:xfrm>
            <a:off x="541408" y="2149014"/>
            <a:ext cx="11183113" cy="4555942"/>
          </a:xfrm>
          <a:prstGeom prst="rect">
            <a:avLst/>
          </a:prstGeom>
          <a:noFill/>
          <a:ln w="28575">
            <a:solidFill>
              <a:srgbClr val="DD462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947DC27-3FF6-4016-8DFB-060950AD0CA6}"/>
              </a:ext>
            </a:extLst>
          </p:cNvPr>
          <p:cNvSpPr/>
          <p:nvPr/>
        </p:nvSpPr>
        <p:spPr>
          <a:xfrm>
            <a:off x="6111875" y="4671776"/>
            <a:ext cx="5478643" cy="970063"/>
          </a:xfrm>
          <a:prstGeom prst="rect">
            <a:avLst/>
          </a:prstGeom>
          <a:noFill/>
          <a:ln w="57150">
            <a:solidFill>
              <a:srgbClr val="C00000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제목 1">
            <a:extLst>
              <a:ext uri="{FF2B5EF4-FFF2-40B4-BE49-F238E27FC236}">
                <a16:creationId xmlns:a16="http://schemas.microsoft.com/office/drawing/2014/main" id="{A8FE9145-2746-4D49-9961-135A74EEE832}"/>
              </a:ext>
            </a:extLst>
          </p:cNvPr>
          <p:cNvSpPr txBox="1">
            <a:spLocks/>
          </p:cNvSpPr>
          <p:nvPr/>
        </p:nvSpPr>
        <p:spPr>
          <a:xfrm>
            <a:off x="490527" y="448056"/>
            <a:ext cx="11479800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800" b="1" kern="1200" noProof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defRPr>
            </a:lvl1pPr>
          </a:lstStyle>
          <a:p>
            <a:r>
              <a:rPr lang="en-US" altLang="ko-KR"/>
              <a:t>2.3. </a:t>
            </a:r>
            <a:r>
              <a:rPr lang="ko-KR" altLang="en-US"/>
              <a:t>다중회귀분석 </a:t>
            </a:r>
            <a:r>
              <a:rPr lang="en-US" altLang="ko-KR"/>
              <a:t>: step()</a:t>
            </a:r>
            <a:r>
              <a:rPr lang="ko-KR" altLang="en-US"/>
              <a:t>활용한 유의한 변수선택</a:t>
            </a:r>
            <a:r>
              <a:rPr lang="en-US" altLang="ko-KR"/>
              <a:t>/</a:t>
            </a:r>
            <a:r>
              <a:rPr lang="ko-KR" altLang="en-US"/>
              <a:t>불필요한 변수 제거</a:t>
            </a:r>
          </a:p>
        </p:txBody>
      </p:sp>
      <p:sp>
        <p:nvSpPr>
          <p:cNvPr id="36" name="내용 개체 틀 2">
            <a:extLst>
              <a:ext uri="{FF2B5EF4-FFF2-40B4-BE49-F238E27FC236}">
                <a16:creationId xmlns:a16="http://schemas.microsoft.com/office/drawing/2014/main" id="{518D586E-00B4-43D0-9A9A-C409325CD4E6}"/>
              </a:ext>
            </a:extLst>
          </p:cNvPr>
          <p:cNvSpPr txBox="1">
            <a:spLocks/>
          </p:cNvSpPr>
          <p:nvPr/>
        </p:nvSpPr>
        <p:spPr>
          <a:xfrm>
            <a:off x="510346" y="1235341"/>
            <a:ext cx="11345218" cy="7239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600" b="1"/>
              <a:t>1. (</a:t>
            </a:r>
            <a:r>
              <a:rPr lang="ko-KR" altLang="en-US" sz="1600" b="1"/>
              <a:t>변수선택법정의</a:t>
            </a:r>
            <a:r>
              <a:rPr lang="en-US" altLang="ko-KR" sz="1600" b="1"/>
              <a:t>) Y</a:t>
            </a:r>
            <a:r>
              <a:rPr lang="ko-KR" altLang="en-US" sz="1600" b="1"/>
              <a:t>변수를 유의미하게 설명할 수 있는 </a:t>
            </a:r>
            <a:r>
              <a:rPr lang="en-US" altLang="ko-KR" sz="1600" b="1"/>
              <a:t>X</a:t>
            </a:r>
            <a:r>
              <a:rPr lang="ko-KR" altLang="en-US" sz="1600" b="1"/>
              <a:t>변수들을 선택</a:t>
            </a:r>
            <a:br>
              <a:rPr lang="ko-KR" altLang="en-US" sz="1600" b="1"/>
            </a:br>
            <a:r>
              <a:rPr lang="ko-KR" altLang="en-US" sz="1600" b="1"/>
              <a:t>                      </a:t>
            </a:r>
            <a:r>
              <a:rPr lang="en-US" altLang="ko-KR" sz="1600" b="1"/>
              <a:t>: step(</a:t>
            </a:r>
            <a:r>
              <a:rPr lang="ko-KR" altLang="en-US" sz="1600" b="1"/>
              <a:t>모형식</a:t>
            </a:r>
            <a:r>
              <a:rPr lang="en-US" altLang="ko-KR" sz="1600" b="1"/>
              <a:t>)</a:t>
            </a:r>
            <a:r>
              <a:rPr lang="ko-KR" altLang="en-US" sz="1600" b="1"/>
              <a:t>의 결과에서 </a:t>
            </a:r>
            <a:r>
              <a:rPr lang="en-US" altLang="ko-KR" sz="1600" b="1"/>
              <a:t>AIC</a:t>
            </a:r>
            <a:r>
              <a:rPr lang="ko-KR" altLang="en-US" sz="1600" b="1"/>
              <a:t>기준으로 각 </a:t>
            </a:r>
            <a:r>
              <a:rPr lang="en-US" altLang="ko-KR" sz="1600" b="1"/>
              <a:t>step</a:t>
            </a:r>
            <a:r>
              <a:rPr lang="ko-KR" altLang="en-US" sz="1600" b="1"/>
              <a:t>별 유의한 변수들 채택 </a:t>
            </a:r>
            <a:r>
              <a:rPr lang="en-US" altLang="ko-KR" sz="1600" b="1"/>
              <a:t>-&gt; </a:t>
            </a:r>
            <a:r>
              <a:rPr lang="ko-KR" altLang="en-US" sz="1600" b="1"/>
              <a:t>단계별로 </a:t>
            </a:r>
            <a:r>
              <a:rPr lang="en-US" altLang="ko-KR" sz="1600" b="1"/>
              <a:t>AIC</a:t>
            </a:r>
            <a:r>
              <a:rPr lang="ko-KR" altLang="en-US" sz="1600" b="1"/>
              <a:t>값이 줄어듦</a:t>
            </a:r>
            <a:br>
              <a:rPr lang="ko-KR" altLang="en-US" sz="1600" b="1"/>
            </a:br>
            <a:r>
              <a:rPr lang="en-US" altLang="ko-KR" sz="1600" b="1"/>
              <a:t>2. (</a:t>
            </a:r>
            <a:r>
              <a:rPr lang="ko-KR" altLang="en-US" sz="1600" b="1"/>
              <a:t>결론</a:t>
            </a:r>
            <a:r>
              <a:rPr lang="en-US" altLang="ko-KR" sz="1600" b="1"/>
              <a:t>) [step</a:t>
            </a:r>
            <a:r>
              <a:rPr lang="ko-KR" altLang="en-US" sz="1600" b="1"/>
              <a:t>변수선택법 결과</a:t>
            </a:r>
            <a:r>
              <a:rPr lang="en-US" altLang="ko-KR" sz="1600" b="1"/>
              <a:t>] </a:t>
            </a:r>
            <a:r>
              <a:rPr lang="ko-KR" altLang="en-US" sz="1600" b="1"/>
              <a:t>선택된 채택변수 </a:t>
            </a:r>
            <a:r>
              <a:rPr lang="en-US" altLang="ko-KR" sz="1600" b="1"/>
              <a:t>: </a:t>
            </a:r>
            <a:r>
              <a:rPr lang="ko-KR" altLang="en-US" sz="1600" b="1"/>
              <a:t>수정모형</a:t>
            </a:r>
            <a:r>
              <a:rPr lang="en-US" altLang="ko-KR" sz="1600" b="1"/>
              <a:t>4((</a:t>
            </a:r>
            <a:r>
              <a:rPr lang="ko-KR" altLang="en-US" sz="1600" b="1"/>
              <a:t>채택변수</a:t>
            </a:r>
            <a:r>
              <a:rPr lang="en-US" altLang="ko-KR" sz="1600" b="1"/>
              <a:t>) Population, Illiteracy, Area (AIC=92.63))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BADE5CF-8AC8-405F-8527-AA803AA770F8}"/>
              </a:ext>
            </a:extLst>
          </p:cNvPr>
          <p:cNvGrpSpPr/>
          <p:nvPr/>
        </p:nvGrpSpPr>
        <p:grpSpPr>
          <a:xfrm>
            <a:off x="5656628" y="2014620"/>
            <a:ext cx="680400" cy="483068"/>
            <a:chOff x="5656628" y="2014620"/>
            <a:chExt cx="680400" cy="483068"/>
          </a:xfrm>
        </p:grpSpPr>
        <p:sp>
          <p:nvSpPr>
            <p:cNvPr id="38" name="타원 37" descr="작은 원">
              <a:extLst>
                <a:ext uri="{FF2B5EF4-FFF2-40B4-BE49-F238E27FC236}">
                  <a16:creationId xmlns:a16="http://schemas.microsoft.com/office/drawing/2014/main" id="{927E608B-C5E8-433F-9806-D1033A3812B6}"/>
                </a:ext>
              </a:extLst>
            </p:cNvPr>
            <p:cNvSpPr/>
            <p:nvPr/>
          </p:nvSpPr>
          <p:spPr bwMode="blackWhite">
            <a:xfrm>
              <a:off x="5747039" y="2014620"/>
              <a:ext cx="499578" cy="483068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9" name="텍스트 상자 19" descr="숫자 1">
              <a:extLst>
                <a:ext uri="{FF2B5EF4-FFF2-40B4-BE49-F238E27FC236}">
                  <a16:creationId xmlns:a16="http://schemas.microsoft.com/office/drawing/2014/main" id="{3CBE4A99-B427-4D9D-B5C2-2A66A480DDBC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5656628" y="2040711"/>
              <a:ext cx="680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ko-KR" altLang="en-US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수정</a:t>
              </a:r>
              <a:endParaRPr lang="en-US" altLang="ko-KR"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  <a:p>
              <a:pPr algn="ctr" rtl="0"/>
              <a:r>
                <a:rPr lang="ko-KR" altLang="en-US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모형</a:t>
              </a:r>
              <a:r>
                <a:rPr lang="en-US" altLang="ko-KR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4</a:t>
              </a:r>
              <a:endPara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  <p:sp>
        <p:nvSpPr>
          <p:cNvPr id="40" name="타원 39">
            <a:extLst>
              <a:ext uri="{FF2B5EF4-FFF2-40B4-BE49-F238E27FC236}">
                <a16:creationId xmlns:a16="http://schemas.microsoft.com/office/drawing/2014/main" id="{EC0204C5-695D-4660-81C0-21EC40085BB7}"/>
              </a:ext>
            </a:extLst>
          </p:cNvPr>
          <p:cNvSpPr/>
          <p:nvPr/>
        </p:nvSpPr>
        <p:spPr>
          <a:xfrm>
            <a:off x="8891237" y="5257392"/>
            <a:ext cx="492906" cy="408397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52D7371-545E-47F3-9FD0-F557096362D2}"/>
              </a:ext>
            </a:extLst>
          </p:cNvPr>
          <p:cNvSpPr/>
          <p:nvPr/>
        </p:nvSpPr>
        <p:spPr>
          <a:xfrm>
            <a:off x="9515934" y="4577297"/>
            <a:ext cx="2095673" cy="4022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>
                <a:solidFill>
                  <a:schemeClr val="tx1"/>
                </a:solidFill>
              </a:rPr>
              <a:t>최종채택변수</a:t>
            </a:r>
          </a:p>
        </p:txBody>
      </p:sp>
    </p:spTree>
    <p:extLst>
      <p:ext uri="{BB962C8B-B14F-4D97-AF65-F5344CB8AC3E}">
        <p14:creationId xmlns:p14="http://schemas.microsoft.com/office/powerpoint/2010/main" val="4084637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그림 38">
            <a:extLst>
              <a:ext uri="{FF2B5EF4-FFF2-40B4-BE49-F238E27FC236}">
                <a16:creationId xmlns:a16="http://schemas.microsoft.com/office/drawing/2014/main" id="{1386607B-312B-4EC0-98E9-80DE1CEDA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2242" y="2908043"/>
            <a:ext cx="2832390" cy="3639577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0717847-D71B-41E5-95A9-A3406DDACE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305864"/>
              </p:ext>
            </p:extLst>
          </p:nvPr>
        </p:nvGraphicFramePr>
        <p:xfrm>
          <a:off x="514403" y="2945051"/>
          <a:ext cx="8324797" cy="3603937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588206">
                  <a:extLst>
                    <a:ext uri="{9D8B030D-6E8A-4147-A177-3AD203B41FA5}">
                      <a16:colId xmlns:a16="http://schemas.microsoft.com/office/drawing/2014/main" val="1702442515"/>
                    </a:ext>
                  </a:extLst>
                </a:gridCol>
                <a:gridCol w="433898">
                  <a:extLst>
                    <a:ext uri="{9D8B030D-6E8A-4147-A177-3AD203B41FA5}">
                      <a16:colId xmlns:a16="http://schemas.microsoft.com/office/drawing/2014/main" val="4132375681"/>
                    </a:ext>
                  </a:extLst>
                </a:gridCol>
                <a:gridCol w="1193220">
                  <a:extLst>
                    <a:ext uri="{9D8B030D-6E8A-4147-A177-3AD203B41FA5}">
                      <a16:colId xmlns:a16="http://schemas.microsoft.com/office/drawing/2014/main" val="734610881"/>
                    </a:ext>
                  </a:extLst>
                </a:gridCol>
                <a:gridCol w="2802257">
                  <a:extLst>
                    <a:ext uri="{9D8B030D-6E8A-4147-A177-3AD203B41FA5}">
                      <a16:colId xmlns:a16="http://schemas.microsoft.com/office/drawing/2014/main" val="1712803380"/>
                    </a:ext>
                  </a:extLst>
                </a:gridCol>
                <a:gridCol w="632768">
                  <a:extLst>
                    <a:ext uri="{9D8B030D-6E8A-4147-A177-3AD203B41FA5}">
                      <a16:colId xmlns:a16="http://schemas.microsoft.com/office/drawing/2014/main" val="3530510961"/>
                    </a:ext>
                  </a:extLst>
                </a:gridCol>
                <a:gridCol w="732203">
                  <a:extLst>
                    <a:ext uri="{9D8B030D-6E8A-4147-A177-3AD203B41FA5}">
                      <a16:colId xmlns:a16="http://schemas.microsoft.com/office/drawing/2014/main" val="1764567006"/>
                    </a:ext>
                  </a:extLst>
                </a:gridCol>
                <a:gridCol w="1039547">
                  <a:extLst>
                    <a:ext uri="{9D8B030D-6E8A-4147-A177-3AD203B41FA5}">
                      <a16:colId xmlns:a16="http://schemas.microsoft.com/office/drawing/2014/main" val="837202480"/>
                    </a:ext>
                  </a:extLst>
                </a:gridCol>
                <a:gridCol w="396484">
                  <a:extLst>
                    <a:ext uri="{9D8B030D-6E8A-4147-A177-3AD203B41FA5}">
                      <a16:colId xmlns:a16="http://schemas.microsoft.com/office/drawing/2014/main" val="2944592704"/>
                    </a:ext>
                  </a:extLst>
                </a:gridCol>
                <a:gridCol w="506214">
                  <a:extLst>
                    <a:ext uri="{9D8B030D-6E8A-4147-A177-3AD203B41FA5}">
                      <a16:colId xmlns:a16="http://schemas.microsoft.com/office/drawing/2014/main" val="732966984"/>
                    </a:ext>
                  </a:extLst>
                </a:gridCol>
              </a:tblGrid>
              <a:tr h="39049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모형명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</a:rPr>
                        <a:t>X</a:t>
                      </a:r>
                      <a:r>
                        <a:rPr lang="ko-KR" altLang="en-US" sz="1000" u="none" strike="noStrike">
                          <a:effectLst/>
                        </a:rPr>
                        <a:t>변수 </a:t>
                      </a:r>
                      <a:endParaRPr lang="en-US" altLang="ko-KR" sz="1000" u="none" strike="noStrike">
                        <a:effectLst/>
                      </a:endParaRPr>
                    </a:p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개수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사용된 </a:t>
                      </a:r>
                      <a:r>
                        <a:rPr lang="en-US" altLang="ko-KR" sz="1000" u="none" strike="noStrike">
                          <a:effectLst/>
                        </a:rPr>
                        <a:t>X</a:t>
                      </a:r>
                      <a:r>
                        <a:rPr lang="ko-KR" altLang="en-US" sz="1000" u="none" strike="noStrike">
                          <a:effectLst/>
                        </a:rPr>
                        <a:t>변수명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다중공선성 체크</a:t>
                      </a:r>
                      <a:r>
                        <a:rPr lang="en-US" altLang="ko-KR" sz="1000" u="none" strike="noStrike">
                          <a:effectLst/>
                        </a:rPr>
                        <a:t>(car::vif(</a:t>
                      </a:r>
                      <a:r>
                        <a:rPr lang="ko-KR" altLang="en-US" sz="1000" u="none" strike="noStrike">
                          <a:effectLst/>
                        </a:rPr>
                        <a:t>모형식명</a:t>
                      </a:r>
                      <a:r>
                        <a:rPr lang="en-US" altLang="ko-KR" sz="1000" u="none" strike="noStrike">
                          <a:effectLst/>
                        </a:rPr>
                        <a:t>)</a:t>
                      </a:r>
                      <a:r>
                        <a:rPr lang="ko-KR" altLang="en-US" sz="1000" u="none" strike="noStrike">
                          <a:effectLst/>
                        </a:rPr>
                        <a:t>산출결과</a:t>
                      </a:r>
                      <a:r>
                        <a:rPr lang="en-US" altLang="ko-KR" sz="1000" u="none" strike="noStrike">
                          <a:effectLst/>
                        </a:rPr>
                        <a:t>)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제거된 </a:t>
                      </a:r>
                      <a:endParaRPr lang="en-US" altLang="ko-KR" sz="1000" u="none" strike="noStrike">
                        <a:effectLst/>
                      </a:endParaRPr>
                    </a:p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변수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</a:rPr>
                        <a:t>(b)</a:t>
                      </a:r>
                      <a:r>
                        <a:rPr lang="ko-KR" altLang="en-US" sz="1000" u="none" strike="noStrike">
                          <a:effectLst/>
                        </a:rPr>
                        <a:t>결정계수</a:t>
                      </a:r>
                      <a:endParaRPr lang="en-US" altLang="ko-KR" sz="1000" u="none" strike="noStrike">
                        <a:effectLst/>
                      </a:endParaRPr>
                    </a:p>
                    <a:p>
                      <a:pPr algn="ctr" fontAlgn="ctr"/>
                      <a:r>
                        <a:rPr lang="en-US" altLang="ko-KR" sz="1000" u="none" strike="noStrike">
                          <a:effectLst/>
                        </a:rPr>
                        <a:t>(</a:t>
                      </a:r>
                      <a:r>
                        <a:rPr lang="en-US" sz="1000" u="none" strike="noStrike">
                          <a:effectLst/>
                        </a:rPr>
                        <a:t>R-squared)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(a)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수정결정계수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Adj R-squared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(b)-(a)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AIC</a:t>
                      </a:r>
                    </a:p>
                  </a:txBody>
                  <a:tcPr marL="7647" marR="7647" marT="7647" marB="0" anchor="ctr"/>
                </a:tc>
                <a:extLst>
                  <a:ext uri="{0D108BD9-81ED-4DB2-BD59-A6C34878D82A}">
                    <a16:rowId xmlns:a16="http://schemas.microsoft.com/office/drawing/2014/main" val="1462850901"/>
                  </a:ext>
                </a:extLst>
              </a:tr>
              <a:tr h="76771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완전</a:t>
                      </a:r>
                      <a:endParaRPr lang="en-US" altLang="ko-KR" sz="1000" u="none" strike="noStrike">
                        <a:effectLst/>
                      </a:endParaRPr>
                    </a:p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모형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</a:rPr>
                        <a:t>7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Population, </a:t>
                      </a:r>
                    </a:p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Income  Illiteracy,</a:t>
                      </a:r>
                    </a:p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Life Exp, HS Grad, </a:t>
                      </a:r>
                    </a:p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Frost, Area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Population  Income  Illiteracy</a:t>
                      </a:r>
                      <a:br>
                        <a:rPr lang="en-US" sz="1000" u="none" strike="noStrike">
                          <a:effectLst/>
                        </a:rPr>
                      </a:br>
                      <a:r>
                        <a:rPr lang="en-US" sz="1000" u="none" strike="noStrike">
                          <a:effectLst/>
                        </a:rPr>
                        <a:t>2.569229     107.43   16.34 </a:t>
                      </a:r>
                    </a:p>
                    <a:p>
                      <a:pPr algn="l" fontAlgn="ctr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fontAlgn="ctr"/>
                      <a:r>
                        <a:rPr lang="en-US" altLang="ko-KR" sz="1000" b="1" u="none" strike="noStrike">
                          <a:effectLst/>
                        </a:rPr>
                        <a:t>Life Exp  </a:t>
                      </a:r>
                      <a:r>
                        <a:rPr lang="en-US" altLang="ko-KR" sz="1000" u="none" strike="noStrike">
                          <a:effectLst/>
                        </a:rPr>
                        <a:t>HS Grad    Frost   Area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none" strike="noStrike">
                          <a:effectLst/>
                        </a:rPr>
                        <a:t>265.68</a:t>
                      </a:r>
                      <a:r>
                        <a:rPr lang="en-US" altLang="ko-KR" sz="1000" u="none" strike="noStrike">
                          <a:effectLst/>
                        </a:rPr>
                        <a:t>    148.775    11.43   2.83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ㅡ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0.9203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0.9073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0.013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98.37</a:t>
                      </a:r>
                    </a:p>
                  </a:txBody>
                  <a:tcPr marL="7647" marR="7647" marT="7647" marB="0" anchor="ctr"/>
                </a:tc>
                <a:extLst>
                  <a:ext uri="{0D108BD9-81ED-4DB2-BD59-A6C34878D82A}">
                    <a16:rowId xmlns:a16="http://schemas.microsoft.com/office/drawing/2014/main" val="144412137"/>
                  </a:ext>
                </a:extLst>
              </a:tr>
              <a:tr h="74022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수정</a:t>
                      </a:r>
                      <a:endParaRPr lang="en-US" altLang="ko-KR" sz="1000" u="none" strike="noStrike">
                        <a:effectLst/>
                      </a:endParaRPr>
                    </a:p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모형</a:t>
                      </a:r>
                      <a:r>
                        <a:rPr lang="en-US" altLang="ko-KR" sz="1000" u="none" strike="noStrike">
                          <a:effectLst/>
                        </a:rPr>
                        <a:t>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</a:rPr>
                        <a:t>6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Population, </a:t>
                      </a:r>
                    </a:p>
                    <a:p>
                      <a:pPr algn="l" fontAlgn="t"/>
                      <a:r>
                        <a:rPr lang="en-US" altLang="ko-KR" sz="1000" u="none" strike="noStrike">
                          <a:effectLst/>
                        </a:rPr>
                        <a:t>Income</a:t>
                      </a:r>
                      <a:r>
                        <a:rPr lang="en-US" sz="1000" u="none" strike="noStrike">
                          <a:effectLst/>
                        </a:rPr>
                        <a:t>,  Illiteracy, </a:t>
                      </a:r>
                    </a:p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HS Grad, Frost, </a:t>
                      </a:r>
                    </a:p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Area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Population  </a:t>
                      </a:r>
                      <a:r>
                        <a:rPr lang="en-US" sz="1000" b="1" u="none" strike="noStrike">
                          <a:effectLst/>
                        </a:rPr>
                        <a:t>Income</a:t>
                      </a:r>
                      <a:r>
                        <a:rPr lang="en-US" sz="1000" u="none" strike="noStrike">
                          <a:effectLst/>
                        </a:rPr>
                        <a:t>        Illiteracy</a:t>
                      </a:r>
                      <a:br>
                        <a:rPr lang="en-US" sz="1000" u="none" strike="noStrike">
                          <a:effectLst/>
                        </a:rPr>
                      </a:br>
                      <a:r>
                        <a:rPr lang="en-US" sz="1000" u="none" strike="noStrike">
                          <a:effectLst/>
                        </a:rPr>
                        <a:t>2.518393     </a:t>
                      </a:r>
                      <a:r>
                        <a:rPr lang="en-US" sz="1000" b="1" u="none" strike="noStrike">
                          <a:effectLst/>
                        </a:rPr>
                        <a:t>93.820614</a:t>
                      </a:r>
                      <a:r>
                        <a:rPr lang="en-US" sz="1000" u="none" strike="noStrike">
                          <a:effectLst/>
                        </a:rPr>
                        <a:t>    4.875907   </a:t>
                      </a:r>
                    </a:p>
                    <a:p>
                      <a:pPr algn="l" fontAlgn="ctr"/>
                      <a:endParaRPr lang="en-US" sz="400" u="none" strike="noStrike">
                        <a:effectLst/>
                      </a:endParaRPr>
                    </a:p>
                    <a:p>
                      <a:pPr algn="l" fontAlgn="ctr"/>
                      <a:r>
                        <a:rPr lang="en-US" altLang="ko-KR" sz="1000" u="none" strike="noStrike">
                          <a:effectLst/>
                        </a:rPr>
                        <a:t>HS Grad       Frost   Area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74.799162    8.46    1.85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>
                          <a:effectLst/>
                        </a:rPr>
                        <a:t>Life Exp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0.9195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</a:rPr>
                        <a:t>0.9085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0.0011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96.84</a:t>
                      </a:r>
                    </a:p>
                  </a:txBody>
                  <a:tcPr marL="7647" marR="7647" marT="7647" marB="0" anchor="ctr"/>
                </a:tc>
                <a:extLst>
                  <a:ext uri="{0D108BD9-81ED-4DB2-BD59-A6C34878D82A}">
                    <a16:rowId xmlns:a16="http://schemas.microsoft.com/office/drawing/2014/main" val="1258294649"/>
                  </a:ext>
                </a:extLst>
              </a:tr>
              <a:tr h="52731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수정</a:t>
                      </a:r>
                      <a:endParaRPr lang="en-US" altLang="ko-KR" sz="1000" u="none" strike="noStrike">
                        <a:effectLst/>
                      </a:endParaRPr>
                    </a:p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모형</a:t>
                      </a:r>
                      <a:r>
                        <a:rPr lang="en-US" altLang="ko-KR" sz="1000" u="none" strike="noStrike">
                          <a:effectLst/>
                        </a:rPr>
                        <a:t>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</a:rPr>
                        <a:t>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Population,  </a:t>
                      </a:r>
                    </a:p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Illiteracy, </a:t>
                      </a:r>
                    </a:p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HS Grad, Frost, </a:t>
                      </a:r>
                    </a:p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Area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Population   Illiteracy     </a:t>
                      </a:r>
                      <a:r>
                        <a:rPr lang="en-US" sz="1000" b="1" u="none" strike="noStrike">
                          <a:effectLst/>
                        </a:rPr>
                        <a:t>HS Grad</a:t>
                      </a:r>
                      <a:br>
                        <a:rPr lang="en-US" sz="1000" u="none" strike="noStrike">
                          <a:effectLst/>
                        </a:rPr>
                      </a:br>
                      <a:r>
                        <a:rPr lang="en-US" sz="1000" u="none" strike="noStrike">
                          <a:effectLst/>
                        </a:rPr>
                        <a:t>2.069662      4.104877    </a:t>
                      </a:r>
                      <a:r>
                        <a:rPr lang="en-US" sz="1000" b="1" u="none" strike="noStrike">
                          <a:effectLst/>
                        </a:rPr>
                        <a:t>16.395395 </a:t>
                      </a:r>
                    </a:p>
                    <a:p>
                      <a:pPr algn="l" fontAlgn="ctr"/>
                      <a:endParaRPr lang="en-US" sz="400" u="none" strike="noStrike">
                        <a:effectLst/>
                      </a:endParaRPr>
                    </a:p>
                    <a:p>
                      <a:pPr algn="l" fontAlgn="ctr"/>
                      <a:r>
                        <a:rPr lang="en-US" altLang="ko-KR" sz="1000" u="none" strike="noStrike">
                          <a:effectLst/>
                        </a:rPr>
                        <a:t>Frost    Area </a:t>
                      </a:r>
                    </a:p>
                    <a:p>
                      <a:pPr algn="l" fontAlgn="ctr"/>
                      <a:r>
                        <a:rPr lang="en-US" altLang="ko-KR" sz="1000" u="none" strike="noStrike">
                          <a:effectLst/>
                        </a:rPr>
                        <a:t>7.80    1.84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>
                          <a:effectLst/>
                        </a:rPr>
                        <a:t>Income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0.9193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</a:rPr>
                        <a:t>0.9104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0.0089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94.96</a:t>
                      </a:r>
                    </a:p>
                  </a:txBody>
                  <a:tcPr marL="7647" marR="7647" marT="7647" marB="0" anchor="ctr"/>
                </a:tc>
                <a:extLst>
                  <a:ext uri="{0D108BD9-81ED-4DB2-BD59-A6C34878D82A}">
                    <a16:rowId xmlns:a16="http://schemas.microsoft.com/office/drawing/2014/main" val="2839091168"/>
                  </a:ext>
                </a:extLst>
              </a:tr>
              <a:tr h="46123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수정</a:t>
                      </a:r>
                      <a:endParaRPr lang="en-US" altLang="ko-KR" sz="1000" u="none" strike="noStrike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fontAlgn="ctr"/>
                      <a:r>
                        <a:rPr lang="ko-KR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모형</a:t>
                      </a:r>
                      <a:r>
                        <a:rPr lang="en-US" altLang="ko-KR" sz="1000" u="none" strike="noStrike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Population,  </a:t>
                      </a:r>
                    </a:p>
                    <a:p>
                      <a:pPr algn="l" fontAlgn="t"/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Illiteracy,  Frost, </a:t>
                      </a:r>
                    </a:p>
                    <a:p>
                      <a:pPr algn="l" fontAlgn="t"/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Area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Population   Illiteracy     Frost         Area </a:t>
                      </a:r>
                      <a:b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1.784327     2.502763     2.028539   1.76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HS Grad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0.9192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u="none" strike="noStrike">
                          <a:solidFill>
                            <a:schemeClr val="tx1"/>
                          </a:solidFill>
                          <a:effectLst/>
                        </a:rPr>
                        <a:t>0.9122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0.0070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93.02</a:t>
                      </a:r>
                    </a:p>
                  </a:txBody>
                  <a:tcPr marL="7647" marR="7647" marT="7647" marB="0" anchor="ctr"/>
                </a:tc>
                <a:extLst>
                  <a:ext uri="{0D108BD9-81ED-4DB2-BD59-A6C34878D82A}">
                    <a16:rowId xmlns:a16="http://schemas.microsoft.com/office/drawing/2014/main" val="2117061153"/>
                  </a:ext>
                </a:extLst>
              </a:tr>
              <a:tr h="56244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  <a:endParaRPr lang="en-US" altLang="ko-KR" sz="1000" b="0" i="0" u="none" strike="noStrike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모형</a:t>
                      </a:r>
                      <a:r>
                        <a:rPr lang="en-US" altLang="ko-KR" sz="10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Population, Illiteracy, Area 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0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Population  Illiteracy    Area </a:t>
                      </a:r>
                    </a:p>
                    <a:p>
                      <a:pPr algn="l" fontAlgn="t"/>
                      <a:r>
                        <a:rPr lang="en-US" altLang="ko-KR" sz="10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1.758783    2.164385   1.58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>
                          <a:solidFill>
                            <a:srgbClr val="C00000"/>
                          </a:solidFill>
                          <a:effectLst/>
                        </a:rPr>
                        <a:t>Frost</a:t>
                      </a:r>
                      <a:endParaRPr lang="en-US" sz="1000" b="1" i="0" u="none" strike="noStrike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0.9166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0.9112 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0.0054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92.63</a:t>
                      </a:r>
                    </a:p>
                  </a:txBody>
                  <a:tcPr marL="7647" marR="7647" marT="7647" marB="0" anchor="ctr"/>
                </a:tc>
                <a:extLst>
                  <a:ext uri="{0D108BD9-81ED-4DB2-BD59-A6C34878D82A}">
                    <a16:rowId xmlns:a16="http://schemas.microsoft.com/office/drawing/2014/main" val="331784595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044157E-86D8-4D34-A43A-F80FEA50B545}"/>
              </a:ext>
            </a:extLst>
          </p:cNvPr>
          <p:cNvSpPr txBox="1"/>
          <p:nvPr/>
        </p:nvSpPr>
        <p:spPr>
          <a:xfrm>
            <a:off x="387368" y="1263803"/>
            <a:ext cx="11639864" cy="1585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/>
              <a:t>3. (</a:t>
            </a:r>
            <a:r>
              <a:rPr lang="ko-KR" altLang="en-US" sz="1200" b="1"/>
              <a:t>수정모형</a:t>
            </a:r>
            <a:r>
              <a:rPr lang="en-US" altLang="ko-KR" sz="1200" b="1"/>
              <a:t>4</a:t>
            </a:r>
            <a:r>
              <a:rPr lang="ko-KR" altLang="en-US" sz="1200" b="1"/>
              <a:t>에대한 </a:t>
            </a:r>
            <a:r>
              <a:rPr lang="en-US" altLang="ko-KR" sz="1200" b="1"/>
              <a:t>(1) </a:t>
            </a:r>
            <a:r>
              <a:rPr lang="ko-KR" altLang="en-US" sz="1200" b="1"/>
              <a:t>다중공선성 체크 및 </a:t>
            </a:r>
            <a:r>
              <a:rPr lang="en-US" altLang="ko-KR" sz="1200" b="1"/>
              <a:t>(2)</a:t>
            </a:r>
            <a:r>
              <a:rPr lang="ko-KR" altLang="en-US" sz="1200" b="1"/>
              <a:t>모형설명력 정리</a:t>
            </a:r>
            <a:r>
              <a:rPr lang="en-US" altLang="ko-KR" sz="1200" b="1"/>
              <a:t>)</a:t>
            </a:r>
            <a:br>
              <a:rPr lang="en-US" altLang="ko-KR" sz="1200" b="1"/>
            </a:br>
            <a:r>
              <a:rPr lang="en-US" altLang="ko-KR" sz="1200" b="1"/>
              <a:t> (1) </a:t>
            </a:r>
            <a:r>
              <a:rPr lang="ko-KR" altLang="en-US" sz="1200" b="1"/>
              <a:t>다중공선성 체크 </a:t>
            </a:r>
            <a:r>
              <a:rPr lang="en-US" altLang="ko-KR" sz="1200" b="1"/>
              <a:t>: </a:t>
            </a:r>
            <a:r>
              <a:rPr lang="ko-KR" altLang="en-US" sz="1200" b="1"/>
              <a:t>수정모형</a:t>
            </a:r>
            <a:r>
              <a:rPr lang="en-US" altLang="ko-KR" sz="1200" b="1"/>
              <a:t>3, </a:t>
            </a:r>
            <a:r>
              <a:rPr lang="ko-KR" altLang="en-US" sz="1200" b="1"/>
              <a:t>수정모형</a:t>
            </a:r>
            <a:r>
              <a:rPr lang="en-US" altLang="ko-KR" sz="1200" b="1"/>
              <a:t>4</a:t>
            </a:r>
            <a:r>
              <a:rPr lang="ko-KR" altLang="en-US" sz="1200" b="1"/>
              <a:t>의 각 독립변수를 확인 완료 </a:t>
            </a:r>
            <a:r>
              <a:rPr lang="en-US" altLang="ko-KR" sz="1200" b="1"/>
              <a:t>: (</a:t>
            </a:r>
            <a:r>
              <a:rPr lang="ko-KR" altLang="en-US" sz="1200" b="1"/>
              <a:t>수정모형</a:t>
            </a:r>
            <a:r>
              <a:rPr lang="en-US" altLang="ko-KR" sz="1200" b="1"/>
              <a:t>3) </a:t>
            </a:r>
            <a:r>
              <a:rPr lang="en-US" altLang="ko-KR" sz="1200" b="1" u="none" strike="noStrike">
                <a:solidFill>
                  <a:schemeClr val="tx1"/>
                </a:solidFill>
                <a:effectLst/>
              </a:rPr>
              <a:t>Population, Illiteracy, Frost, Area </a:t>
            </a:r>
            <a:r>
              <a:rPr lang="en-US" altLang="ko-KR" sz="1200" b="1"/>
              <a:t>(</a:t>
            </a:r>
            <a:r>
              <a:rPr lang="ko-KR" altLang="en-US" sz="1200" b="1"/>
              <a:t>수정모형</a:t>
            </a:r>
            <a:r>
              <a:rPr lang="en-US" altLang="ko-KR" sz="1200" b="1"/>
              <a:t>4) </a:t>
            </a:r>
            <a:r>
              <a:rPr lang="en-US" altLang="ko-KR" sz="1200" b="1" u="none" strike="noStrike">
                <a:solidFill>
                  <a:schemeClr val="tx1"/>
                </a:solidFill>
                <a:effectLst/>
              </a:rPr>
              <a:t>Population, Illiteracy, Area </a:t>
            </a:r>
            <a:endParaRPr lang="en-US" altLang="ko-KR" sz="1200" b="1"/>
          </a:p>
          <a:p>
            <a:r>
              <a:rPr lang="en-US" altLang="ko-KR" sz="1200" b="1"/>
              <a:t> (2)</a:t>
            </a:r>
            <a:r>
              <a:rPr lang="ko-KR" altLang="en-US" sz="1200" b="1"/>
              <a:t>모형설명력 </a:t>
            </a:r>
            <a:r>
              <a:rPr lang="en-US" altLang="ko-KR" sz="1200" b="1"/>
              <a:t>: (</a:t>
            </a:r>
            <a:r>
              <a:rPr lang="ko-KR" altLang="en-US" sz="1200" b="1"/>
              <a:t>수정모형</a:t>
            </a:r>
            <a:r>
              <a:rPr lang="en-US" altLang="ko-KR" sz="1200" b="1"/>
              <a:t>3) </a:t>
            </a:r>
            <a:r>
              <a:rPr lang="en-US" altLang="ko-KR" sz="1200" b="1" i="0" u="none" strike="noStrike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Adj R-squared =</a:t>
            </a:r>
            <a:r>
              <a:rPr lang="en-US" altLang="ko-KR" sz="1200" b="1" u="none" strike="noStrike">
                <a:solidFill>
                  <a:schemeClr val="tx1"/>
                </a:solidFill>
                <a:effectLst/>
              </a:rPr>
              <a:t> 0.9122 </a:t>
            </a:r>
            <a:r>
              <a:rPr lang="ko-KR" altLang="en-US" sz="1200" b="1" u="none" strike="noStrike">
                <a:solidFill>
                  <a:schemeClr val="tx1"/>
                </a:solidFill>
                <a:effectLst/>
              </a:rPr>
              <a:t>가 </a:t>
            </a:r>
            <a:r>
              <a:rPr lang="en-US" altLang="ko-KR" sz="1200" b="1"/>
              <a:t>(</a:t>
            </a:r>
            <a:r>
              <a:rPr lang="ko-KR" altLang="en-US" sz="1200" b="1"/>
              <a:t>수정모형</a:t>
            </a:r>
            <a:r>
              <a:rPr lang="en-US" altLang="ko-KR" sz="1200" b="1"/>
              <a:t>4) </a:t>
            </a:r>
            <a:r>
              <a:rPr lang="en-US" altLang="ko-KR" sz="1200" b="1" i="0" u="none" strike="noStrike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Adj R-squared =</a:t>
            </a:r>
            <a:r>
              <a:rPr lang="en-US" altLang="ko-KR" sz="1200" b="1" u="none" strike="noStrike">
                <a:solidFill>
                  <a:schemeClr val="tx1"/>
                </a:solidFill>
                <a:effectLst/>
              </a:rPr>
              <a:t> 0.9112 </a:t>
            </a:r>
            <a:r>
              <a:rPr lang="ko-KR" altLang="en-US" sz="1200" b="1" u="none" strike="noStrike">
                <a:solidFill>
                  <a:schemeClr val="tx1"/>
                </a:solidFill>
                <a:effectLst/>
              </a:rPr>
              <a:t>보다 크지만</a:t>
            </a:r>
            <a:r>
              <a:rPr lang="en-US" altLang="ko-KR" sz="1200" b="1" u="none" strike="noStrike">
                <a:solidFill>
                  <a:schemeClr val="tx1"/>
                </a:solidFill>
                <a:effectLst/>
              </a:rPr>
              <a:t>, </a:t>
            </a:r>
          </a:p>
          <a:p>
            <a:r>
              <a:rPr lang="en-US" altLang="ko-KR" sz="1200" b="1" u="none" strike="noStrike">
                <a:solidFill>
                  <a:schemeClr val="tx1"/>
                </a:solidFill>
                <a:effectLst/>
              </a:rPr>
              <a:t>   AIC* </a:t>
            </a:r>
            <a:r>
              <a:rPr lang="ko-KR" altLang="en-US" sz="1200" b="1" u="none" strike="noStrike">
                <a:solidFill>
                  <a:schemeClr val="tx1"/>
                </a:solidFill>
                <a:effectLst/>
              </a:rPr>
              <a:t>기준으로 모형적합도에 대한 기여도가 </a:t>
            </a:r>
            <a:r>
              <a:rPr lang="en-US" altLang="ko-KR" sz="1200" b="1" u="none" strike="noStrike">
                <a:solidFill>
                  <a:schemeClr val="tx1"/>
                </a:solidFill>
                <a:effectLst/>
              </a:rPr>
              <a:t>0.003</a:t>
            </a:r>
            <a:r>
              <a:rPr lang="ko-KR" altLang="en-US" sz="1200" b="1" u="none" strike="noStrike">
                <a:solidFill>
                  <a:schemeClr val="tx1"/>
                </a:solidFill>
                <a:effectLst/>
              </a:rPr>
              <a:t>으로 </a:t>
            </a:r>
            <a:r>
              <a:rPr lang="en-US" altLang="ko-KR" sz="1200" b="1" u="none" strike="noStrike">
                <a:solidFill>
                  <a:schemeClr val="tx1"/>
                </a:solidFill>
                <a:effectLst/>
              </a:rPr>
              <a:t>7</a:t>
            </a:r>
            <a:r>
              <a:rPr lang="ko-KR" altLang="en-US" sz="1200" b="1" u="none" strike="noStrike">
                <a:solidFill>
                  <a:schemeClr val="tx1"/>
                </a:solidFill>
                <a:effectLst/>
              </a:rPr>
              <a:t>개의 </a:t>
            </a:r>
            <a:r>
              <a:rPr lang="en-US" altLang="ko-KR" sz="1200" b="1" u="none" strike="noStrike">
                <a:solidFill>
                  <a:schemeClr val="tx1"/>
                </a:solidFill>
                <a:effectLst/>
              </a:rPr>
              <a:t>X</a:t>
            </a:r>
            <a:r>
              <a:rPr lang="ko-KR" altLang="en-US" sz="1200" b="1" u="none" strike="noStrike">
                <a:solidFill>
                  <a:schemeClr val="tx1"/>
                </a:solidFill>
                <a:effectLst/>
              </a:rPr>
              <a:t>변수 중 가장 낮아서</a:t>
            </a:r>
            <a:r>
              <a:rPr lang="en-US" altLang="ko-KR" sz="1200" b="1" u="none" strike="noStrike">
                <a:solidFill>
                  <a:schemeClr val="tx1"/>
                </a:solidFill>
                <a:effectLst/>
              </a:rPr>
              <a:t>, step</a:t>
            </a:r>
            <a:r>
              <a:rPr lang="ko-KR" altLang="en-US" sz="1200" b="1" u="none" strike="noStrike">
                <a:solidFill>
                  <a:schemeClr val="tx1"/>
                </a:solidFill>
                <a:effectLst/>
              </a:rPr>
              <a:t>변수제거기법적용 시</a:t>
            </a:r>
            <a:r>
              <a:rPr lang="en-US" altLang="ko-KR" sz="1200" b="1" u="none" strike="noStrike">
                <a:solidFill>
                  <a:schemeClr val="tx1"/>
                </a:solidFill>
                <a:effectLst/>
              </a:rPr>
              <a:t>, </a:t>
            </a:r>
            <a:r>
              <a:rPr lang="en-US" altLang="ko-KR" sz="1200" b="1"/>
              <a:t>1</a:t>
            </a:r>
            <a:r>
              <a:rPr lang="ko-KR" altLang="en-US" sz="1200" b="1"/>
              <a:t>차로 제거된 변수가</a:t>
            </a:r>
            <a:r>
              <a:rPr lang="en-US" altLang="ko-KR" sz="1200" b="1"/>
              <a:t> </a:t>
            </a:r>
          </a:p>
          <a:p>
            <a:r>
              <a:rPr lang="en-US" altLang="ko-KR" sz="1200" b="1"/>
              <a:t>   Frost</a:t>
            </a:r>
            <a:r>
              <a:rPr lang="ko-KR" altLang="en-US" sz="1200" b="1"/>
              <a:t>인 점을 고려할 때  수정모형</a:t>
            </a:r>
            <a:r>
              <a:rPr lang="en-US" altLang="ko-KR" sz="1200" b="1"/>
              <a:t>4</a:t>
            </a:r>
            <a:r>
              <a:rPr lang="ko-KR" altLang="en-US" sz="1200" b="1"/>
              <a:t>를 우선선택 고려대상으로 간주함 </a:t>
            </a:r>
            <a:br>
              <a:rPr lang="en-US" altLang="ko-KR" sz="1200" b="1"/>
            </a:br>
            <a:endParaRPr lang="en-US" altLang="ko-KR" sz="200" b="1"/>
          </a:p>
          <a:p>
            <a:r>
              <a:rPr lang="en-US" altLang="ko-KR" sz="1200" b="1"/>
              <a:t> (3) </a:t>
            </a:r>
            <a:r>
              <a:rPr lang="en-US" altLang="ko-KR" sz="1200" b="1">
                <a:solidFill>
                  <a:schemeClr val="accent1"/>
                </a:solidFill>
              </a:rPr>
              <a:t>AIC * </a:t>
            </a:r>
            <a:r>
              <a:rPr lang="en-US" altLang="ko-KR" sz="1200" b="1" baseline="30000">
                <a:solidFill>
                  <a:schemeClr val="accent1"/>
                </a:solidFill>
              </a:rPr>
              <a:t>Akaike Information Criterion </a:t>
            </a:r>
            <a:r>
              <a:rPr lang="ko-KR" altLang="en-US" sz="1200" b="1">
                <a:solidFill>
                  <a:schemeClr val="accent1"/>
                </a:solidFill>
              </a:rPr>
              <a:t>로 모형성능평가 </a:t>
            </a:r>
            <a:r>
              <a:rPr lang="en-US" altLang="ko-KR" sz="1200" b="1">
                <a:solidFill>
                  <a:schemeClr val="accent1"/>
                </a:solidFill>
              </a:rPr>
              <a:t>: [AIC= −2ln(L) +2k​*] , −2ln(L)  = </a:t>
            </a:r>
            <a:r>
              <a:rPr lang="ko-KR" altLang="en-US" sz="1200" b="1">
                <a:solidFill>
                  <a:schemeClr val="accent1"/>
                </a:solidFill>
              </a:rPr>
              <a:t>모형편차</a:t>
            </a:r>
            <a:r>
              <a:rPr lang="en-US" altLang="ko-KR" sz="1200" b="1">
                <a:solidFill>
                  <a:schemeClr val="accent1"/>
                </a:solidFill>
              </a:rPr>
              <a:t>, </a:t>
            </a:r>
            <a:r>
              <a:rPr lang="ko-KR" altLang="en-US" sz="1200" b="1">
                <a:solidFill>
                  <a:schemeClr val="accent1"/>
                </a:solidFill>
              </a:rPr>
              <a:t>낮을수록 더 정확도 높은 모형임</a:t>
            </a:r>
            <a:r>
              <a:rPr lang="en-US" altLang="ko-KR" sz="1200" b="1">
                <a:solidFill>
                  <a:schemeClr val="accent1"/>
                </a:solidFill>
              </a:rPr>
              <a:t>.</a:t>
            </a:r>
            <a:br>
              <a:rPr lang="en-US" altLang="ko-KR" sz="1200" b="1">
                <a:solidFill>
                  <a:schemeClr val="accent1"/>
                </a:solidFill>
              </a:rPr>
            </a:br>
            <a:r>
              <a:rPr lang="en-US" altLang="ko-KR" sz="1200" b="1"/>
              <a:t>       * 1) </a:t>
            </a:r>
            <a:r>
              <a:rPr lang="ko-KR" altLang="en-US" sz="1200" b="1"/>
              <a:t>독립변수</a:t>
            </a:r>
            <a:r>
              <a:rPr lang="en-US" altLang="ko-KR" sz="1200" b="1"/>
              <a:t>(k)</a:t>
            </a:r>
            <a:r>
              <a:rPr lang="ko-KR" altLang="en-US" sz="1200" b="1"/>
              <a:t>가 많아질수록</a:t>
            </a:r>
            <a:r>
              <a:rPr lang="en-US" altLang="ko-KR" sz="1200" b="1"/>
              <a:t> (4</a:t>
            </a:r>
            <a:r>
              <a:rPr lang="ko-KR" altLang="en-US" sz="1200" b="1"/>
              <a:t>개</a:t>
            </a:r>
            <a:r>
              <a:rPr lang="en-US" altLang="ko-KR" sz="1200" b="1"/>
              <a:t>(</a:t>
            </a:r>
            <a:r>
              <a:rPr lang="ko-KR" altLang="en-US" sz="1200" b="1"/>
              <a:t>수정모형</a:t>
            </a:r>
            <a:r>
              <a:rPr lang="en-US" altLang="ko-KR" sz="1200" b="1"/>
              <a:t>3)&gt;3</a:t>
            </a:r>
            <a:r>
              <a:rPr lang="ko-KR" altLang="en-US" sz="1200" b="1"/>
              <a:t>개</a:t>
            </a:r>
            <a:r>
              <a:rPr lang="en-US" altLang="ko-KR" sz="1200" b="1"/>
              <a:t>(</a:t>
            </a:r>
            <a:r>
              <a:rPr lang="ko-KR" altLang="en-US" sz="1200" b="1"/>
              <a:t>수정모형</a:t>
            </a:r>
            <a:r>
              <a:rPr lang="en-US" altLang="ko-KR" sz="1200" b="1"/>
              <a:t>4))</a:t>
            </a:r>
            <a:r>
              <a:rPr lang="ko-KR" altLang="en-US" sz="1200" b="1"/>
              <a:t> </a:t>
            </a:r>
            <a:r>
              <a:rPr lang="en-US" altLang="ko-KR" sz="1200" b="1">
                <a:sym typeface="Wingdings" panose="05000000000000000000" pitchFamily="2" charset="2"/>
              </a:rPr>
              <a:t>  2) </a:t>
            </a:r>
            <a:r>
              <a:rPr lang="ko-KR" altLang="en-US" sz="1200" b="1"/>
              <a:t>모형적합도</a:t>
            </a:r>
            <a:r>
              <a:rPr lang="en-US" altLang="ko-KR" sz="1200" b="1"/>
              <a:t>(</a:t>
            </a:r>
            <a:r>
              <a:rPr lang="ko-KR" altLang="en-US" sz="1000" b="1"/>
              <a:t>수정결정계수</a:t>
            </a:r>
            <a:r>
              <a:rPr lang="en-US" altLang="ko-KR" sz="1200" b="1"/>
              <a:t>)</a:t>
            </a:r>
            <a:r>
              <a:rPr lang="ko-KR" altLang="en-US" sz="1200" b="1"/>
              <a:t>가 유리</a:t>
            </a:r>
            <a:r>
              <a:rPr lang="en-US" altLang="ko-KR" sz="1200" b="1"/>
              <a:t> (0.9122(</a:t>
            </a:r>
            <a:r>
              <a:rPr lang="ko-KR" altLang="en-US" sz="1200" b="1"/>
              <a:t>수정모형</a:t>
            </a:r>
            <a:r>
              <a:rPr lang="en-US" altLang="ko-KR" sz="1200" b="1"/>
              <a:t>3)&gt;0.9112(</a:t>
            </a:r>
            <a:r>
              <a:rPr lang="ko-KR" altLang="en-US" sz="1200" b="1"/>
              <a:t>수정모형</a:t>
            </a:r>
            <a:r>
              <a:rPr lang="en-US" altLang="ko-KR" sz="1200" b="1"/>
              <a:t>4))</a:t>
            </a:r>
            <a:r>
              <a:rPr lang="ko-KR" altLang="en-US" sz="1200" b="1"/>
              <a:t> 해지는 것에 대한 </a:t>
            </a:r>
            <a:br>
              <a:rPr lang="en-US" altLang="ko-KR" sz="1200" b="1"/>
            </a:br>
            <a:r>
              <a:rPr lang="en-US" altLang="ko-KR" sz="1200" b="1"/>
              <a:t>          3) </a:t>
            </a:r>
            <a:r>
              <a:rPr lang="ko-KR" altLang="en-US" sz="1200" b="1"/>
              <a:t>패널티 부여하는 모형성능 평가 지표임</a:t>
            </a:r>
            <a:r>
              <a:rPr lang="en-US" altLang="ko-KR" sz="1200" b="1"/>
              <a:t>.  [</a:t>
            </a:r>
            <a:r>
              <a:rPr lang="ko-KR" altLang="en-US" sz="1200" b="1"/>
              <a:t>즉</a:t>
            </a:r>
            <a:r>
              <a:rPr lang="en-US" altLang="ko-KR" sz="1200" b="1"/>
              <a:t>, </a:t>
            </a:r>
            <a:r>
              <a:rPr lang="ko-KR" altLang="en-US" sz="1200" b="1"/>
              <a:t> </a:t>
            </a:r>
            <a:r>
              <a:rPr lang="en-US" altLang="ko-KR" sz="1200" b="1"/>
              <a:t>AIC*</a:t>
            </a:r>
            <a:r>
              <a:rPr lang="ko-KR" altLang="en-US" sz="1200" b="1"/>
              <a:t>가 </a:t>
            </a:r>
            <a:r>
              <a:rPr lang="ko-KR" altLang="en-US" sz="1200" b="1">
                <a:solidFill>
                  <a:srgbClr val="C00000"/>
                </a:solidFill>
              </a:rPr>
              <a:t>낮을수록</a:t>
            </a:r>
            <a:r>
              <a:rPr lang="ko-KR" altLang="en-US" sz="1200" b="1"/>
              <a:t> 더 좋은모형임</a:t>
            </a:r>
            <a:r>
              <a:rPr lang="en-US" altLang="ko-KR" sz="1200" b="1"/>
              <a:t> (93.02(</a:t>
            </a:r>
            <a:r>
              <a:rPr lang="ko-KR" altLang="en-US" sz="1200" b="1"/>
              <a:t>수정모형</a:t>
            </a:r>
            <a:r>
              <a:rPr lang="en-US" altLang="ko-KR" sz="1200" b="1"/>
              <a:t>3)</a:t>
            </a:r>
            <a:r>
              <a:rPr lang="en-US" altLang="ko-KR" sz="1200" b="1">
                <a:solidFill>
                  <a:srgbClr val="C00000"/>
                </a:solidFill>
              </a:rPr>
              <a:t>&lt;92.63*</a:t>
            </a:r>
            <a:r>
              <a:rPr lang="en-US" altLang="ko-KR" sz="1200" b="1"/>
              <a:t>(</a:t>
            </a:r>
            <a:r>
              <a:rPr lang="ko-KR" altLang="en-US" sz="1200" b="1"/>
              <a:t>수정모형</a:t>
            </a:r>
            <a:r>
              <a:rPr lang="en-US" altLang="ko-KR" sz="1200" b="1"/>
              <a:t>4))</a:t>
            </a:r>
            <a:r>
              <a:rPr lang="ko-KR" altLang="en-US" sz="1200" b="1"/>
              <a:t>  </a:t>
            </a:r>
            <a:r>
              <a:rPr lang="en-US" altLang="ko-KR" sz="1200" b="1"/>
              <a:t>]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303153C-1529-49D8-8621-76B0AD3DF323}"/>
              </a:ext>
            </a:extLst>
          </p:cNvPr>
          <p:cNvCxnSpPr>
            <a:cxnSpLocks/>
          </p:cNvCxnSpPr>
          <p:nvPr/>
        </p:nvCxnSpPr>
        <p:spPr>
          <a:xfrm>
            <a:off x="514403" y="5507897"/>
            <a:ext cx="8324797" cy="0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1">
            <a:extLst>
              <a:ext uri="{FF2B5EF4-FFF2-40B4-BE49-F238E27FC236}">
                <a16:creationId xmlns:a16="http://schemas.microsoft.com/office/drawing/2014/main" id="{E2DBE69A-6BEF-48A8-BA47-18EC7BC1D6CD}"/>
              </a:ext>
            </a:extLst>
          </p:cNvPr>
          <p:cNvSpPr txBox="1">
            <a:spLocks/>
          </p:cNvSpPr>
          <p:nvPr/>
        </p:nvSpPr>
        <p:spPr>
          <a:xfrm>
            <a:off x="-127835" y="1866953"/>
            <a:ext cx="11496622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97500"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800" b="1" kern="1200" noProof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defRPr>
            </a:lvl1pPr>
          </a:lstStyle>
          <a:p>
            <a:endParaRPr lang="ko-KR" altLang="en-US" sz="1800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EBBAF7CB-9EFA-4D29-BC85-34BA75551F67}"/>
              </a:ext>
            </a:extLst>
          </p:cNvPr>
          <p:cNvSpPr txBox="1">
            <a:spLocks/>
          </p:cNvSpPr>
          <p:nvPr/>
        </p:nvSpPr>
        <p:spPr>
          <a:xfrm>
            <a:off x="490527" y="448056"/>
            <a:ext cx="11127319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800" b="1" kern="1200" noProof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defRPr>
            </a:lvl1pPr>
          </a:lstStyle>
          <a:p>
            <a:r>
              <a:rPr lang="en-US" altLang="ko-KR"/>
              <a:t>2.4. </a:t>
            </a:r>
            <a:r>
              <a:rPr lang="ko-KR" altLang="en-US"/>
              <a:t>다중회귀분석 </a:t>
            </a:r>
            <a:r>
              <a:rPr lang="en-US" altLang="ko-KR"/>
              <a:t>: </a:t>
            </a:r>
            <a:br>
              <a:rPr lang="en-US" altLang="ko-KR"/>
            </a:br>
            <a:r>
              <a:rPr lang="en-US" altLang="ko-KR"/>
              <a:t>     </a:t>
            </a:r>
            <a:r>
              <a:rPr lang="en-US" altLang="ko-KR">
                <a:solidFill>
                  <a:schemeClr val="accent1"/>
                </a:solidFill>
              </a:rPr>
              <a:t>AIC</a:t>
            </a:r>
            <a:r>
              <a:rPr lang="ko-KR" altLang="en-US"/>
              <a:t>값이 최소인 수정모형</a:t>
            </a:r>
            <a:r>
              <a:rPr lang="en-US" altLang="ko-KR"/>
              <a:t>4</a:t>
            </a:r>
            <a:r>
              <a:rPr lang="ko-KR" altLang="en-US"/>
              <a:t>에 대한 다중공선성 이슈해결 및 정리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54009E9-3AC9-4727-8A4C-FA35531FD5C8}"/>
              </a:ext>
            </a:extLst>
          </p:cNvPr>
          <p:cNvGrpSpPr/>
          <p:nvPr/>
        </p:nvGrpSpPr>
        <p:grpSpPr>
          <a:xfrm>
            <a:off x="4676801" y="5987633"/>
            <a:ext cx="680400" cy="483068"/>
            <a:chOff x="5656628" y="2014620"/>
            <a:chExt cx="680400" cy="483068"/>
          </a:xfrm>
        </p:grpSpPr>
        <p:sp>
          <p:nvSpPr>
            <p:cNvPr id="24" name="타원 23" descr="작은 원">
              <a:extLst>
                <a:ext uri="{FF2B5EF4-FFF2-40B4-BE49-F238E27FC236}">
                  <a16:creationId xmlns:a16="http://schemas.microsoft.com/office/drawing/2014/main" id="{E45997C7-B144-46AD-9CC3-52A4D0FE08A8}"/>
                </a:ext>
              </a:extLst>
            </p:cNvPr>
            <p:cNvSpPr/>
            <p:nvPr/>
          </p:nvSpPr>
          <p:spPr bwMode="blackWhite">
            <a:xfrm>
              <a:off x="5747039" y="2014620"/>
              <a:ext cx="499578" cy="483068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텍스트 상자 19" descr="숫자 1">
              <a:extLst>
                <a:ext uri="{FF2B5EF4-FFF2-40B4-BE49-F238E27FC236}">
                  <a16:creationId xmlns:a16="http://schemas.microsoft.com/office/drawing/2014/main" id="{08C87011-2075-44FC-A201-D1E7040CD167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5656628" y="2040711"/>
              <a:ext cx="680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ko-KR" altLang="en-US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수정</a:t>
              </a:r>
              <a:endParaRPr lang="en-US" altLang="ko-KR"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  <a:p>
              <a:pPr algn="ctr" rtl="0"/>
              <a:r>
                <a:rPr lang="ko-KR" altLang="en-US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모형</a:t>
              </a:r>
              <a:r>
                <a:rPr lang="en-US" altLang="ko-KR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4</a:t>
              </a:r>
              <a:endPara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BC7E4C58-E19E-45FD-A2EF-DCF763465FE7}"/>
              </a:ext>
            </a:extLst>
          </p:cNvPr>
          <p:cNvGrpSpPr/>
          <p:nvPr/>
        </p:nvGrpSpPr>
        <p:grpSpPr>
          <a:xfrm>
            <a:off x="4926590" y="5285556"/>
            <a:ext cx="680400" cy="483068"/>
            <a:chOff x="4926590" y="5285556"/>
            <a:chExt cx="680400" cy="483068"/>
          </a:xfrm>
        </p:grpSpPr>
        <p:sp>
          <p:nvSpPr>
            <p:cNvPr id="27" name="타원 26" descr="작은 원">
              <a:extLst>
                <a:ext uri="{FF2B5EF4-FFF2-40B4-BE49-F238E27FC236}">
                  <a16:creationId xmlns:a16="http://schemas.microsoft.com/office/drawing/2014/main" id="{1C823BA2-13F0-437C-B473-5EDD4837CD7E}"/>
                </a:ext>
              </a:extLst>
            </p:cNvPr>
            <p:cNvSpPr/>
            <p:nvPr/>
          </p:nvSpPr>
          <p:spPr bwMode="blackWhite">
            <a:xfrm>
              <a:off x="5017001" y="5285556"/>
              <a:ext cx="499578" cy="483068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8" name="텍스트 상자 19" descr="숫자 1">
              <a:extLst>
                <a:ext uri="{FF2B5EF4-FFF2-40B4-BE49-F238E27FC236}">
                  <a16:creationId xmlns:a16="http://schemas.microsoft.com/office/drawing/2014/main" id="{DE68B360-1C23-4526-A851-52D493064868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4926590" y="5312515"/>
              <a:ext cx="680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ko-KR" altLang="en-US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수정</a:t>
              </a:r>
              <a:endParaRPr lang="en-US" altLang="ko-KR"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  <a:p>
              <a:pPr algn="ctr" rtl="0"/>
              <a:r>
                <a:rPr lang="ko-KR" altLang="en-US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모형</a:t>
              </a:r>
              <a:r>
                <a:rPr lang="en-US" altLang="ko-KR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3</a:t>
              </a:r>
              <a:endPara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  <p:sp>
        <p:nvSpPr>
          <p:cNvPr id="2" name="타원 1">
            <a:extLst>
              <a:ext uri="{FF2B5EF4-FFF2-40B4-BE49-F238E27FC236}">
                <a16:creationId xmlns:a16="http://schemas.microsoft.com/office/drawing/2014/main" id="{74D70656-AD6D-4CB8-9415-3BA97830A51F}"/>
              </a:ext>
            </a:extLst>
          </p:cNvPr>
          <p:cNvSpPr/>
          <p:nvPr/>
        </p:nvSpPr>
        <p:spPr>
          <a:xfrm>
            <a:off x="4009584" y="6085030"/>
            <a:ext cx="414633" cy="414633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4D00F60-EA2D-4EA1-B515-0854769D3D86}"/>
              </a:ext>
            </a:extLst>
          </p:cNvPr>
          <p:cNvSpPr/>
          <p:nvPr/>
        </p:nvSpPr>
        <p:spPr>
          <a:xfrm>
            <a:off x="8302705" y="2908043"/>
            <a:ext cx="533699" cy="3698768"/>
          </a:xfrm>
          <a:prstGeom prst="rect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A54592C8-A915-40E6-AB8F-6A7C6076CE64}"/>
              </a:ext>
            </a:extLst>
          </p:cNvPr>
          <p:cNvSpPr/>
          <p:nvPr/>
        </p:nvSpPr>
        <p:spPr>
          <a:xfrm>
            <a:off x="11161470" y="3326279"/>
            <a:ext cx="414633" cy="414633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778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583A075-B6F4-49D1-9BFF-D3D174AB7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56" y="1962083"/>
            <a:ext cx="2832390" cy="4184624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2A26CCCF-1783-4ECE-BB02-8AE070755E6D}"/>
              </a:ext>
            </a:extLst>
          </p:cNvPr>
          <p:cNvSpPr/>
          <p:nvPr/>
        </p:nvSpPr>
        <p:spPr>
          <a:xfrm>
            <a:off x="5625739" y="2241397"/>
            <a:ext cx="1215713" cy="871303"/>
          </a:xfrm>
          <a:prstGeom prst="rect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0229EA-ACB6-4E31-B858-4BDB79B32C7B}"/>
              </a:ext>
            </a:extLst>
          </p:cNvPr>
          <p:cNvSpPr txBox="1"/>
          <p:nvPr/>
        </p:nvSpPr>
        <p:spPr>
          <a:xfrm>
            <a:off x="7632992" y="2241396"/>
            <a:ext cx="4119734" cy="1892826"/>
          </a:xfrm>
          <a:prstGeom prst="rect">
            <a:avLst/>
          </a:prstGeom>
          <a:solidFill>
            <a:srgbClr val="F8CFB6"/>
          </a:solidFill>
        </p:spPr>
        <p:txBody>
          <a:bodyPr wrap="square" rtlCol="0">
            <a:spAutoFit/>
          </a:bodyPr>
          <a:lstStyle/>
          <a:p>
            <a:r>
              <a:rPr lang="ko-KR" altLang="en-US" sz="1300" b="1"/>
              <a:t>낮은 상관관계 </a:t>
            </a:r>
            <a:r>
              <a:rPr lang="en-US" altLang="ko-KR" sz="1300" b="1"/>
              <a:t>0.23</a:t>
            </a:r>
            <a:r>
              <a:rPr lang="ko-KR" altLang="en-US" sz="1300" b="1"/>
              <a:t>에 대한 상관관계 검증 </a:t>
            </a:r>
            <a:r>
              <a:rPr lang="en-US" altLang="ko-KR" sz="1300" b="1"/>
              <a:t>: cor.test(Murder, Area)</a:t>
            </a:r>
          </a:p>
          <a:p>
            <a:r>
              <a:rPr lang="en-US" altLang="ko-KR" sz="1300" b="1"/>
              <a:t># Pearson's product-moment correlation</a:t>
            </a:r>
          </a:p>
          <a:p>
            <a:r>
              <a:rPr lang="en-US" altLang="ko-KR" sz="1300" b="1"/>
              <a:t># data:  state.x77_df$Murder and state.x77_df$Area</a:t>
            </a:r>
          </a:p>
          <a:p>
            <a:r>
              <a:rPr lang="en-US" altLang="ko-KR" sz="1300" b="1"/>
              <a:t># t = 1.6253, df = 48, p-value = 0.1106 &gt;</a:t>
            </a:r>
            <a:r>
              <a:rPr lang="en-US" altLang="ko-KR" sz="1300" b="1">
                <a:solidFill>
                  <a:srgbClr val="FF0000"/>
                </a:solidFill>
              </a:rPr>
              <a:t>0.05 </a:t>
            </a:r>
            <a:r>
              <a:rPr lang="ko-KR" altLang="en-US" sz="1300" b="1">
                <a:solidFill>
                  <a:srgbClr val="FF0000"/>
                </a:solidFill>
              </a:rPr>
              <a:t>이므로</a:t>
            </a:r>
            <a:r>
              <a:rPr lang="en-US" altLang="ko-KR" sz="1300" b="1">
                <a:solidFill>
                  <a:srgbClr val="FF0000"/>
                </a:solidFill>
              </a:rPr>
              <a:t>,</a:t>
            </a:r>
          </a:p>
          <a:p>
            <a:r>
              <a:rPr lang="en-US" altLang="ko-KR" sz="1300" b="1">
                <a:solidFill>
                  <a:srgbClr val="FF0000"/>
                </a:solidFill>
              </a:rPr>
              <a:t># ((95% ci) </a:t>
            </a:r>
            <a:r>
              <a:rPr lang="ko-KR" altLang="en-US" sz="1300" b="1">
                <a:solidFill>
                  <a:srgbClr val="FF0000"/>
                </a:solidFill>
              </a:rPr>
              <a:t>차이없다는 </a:t>
            </a:r>
            <a:r>
              <a:rPr lang="en-US" altLang="ko-KR" sz="1300" b="1">
                <a:solidFill>
                  <a:srgbClr val="FF0000"/>
                </a:solidFill>
              </a:rPr>
              <a:t>Ho </a:t>
            </a:r>
            <a:r>
              <a:rPr lang="ko-KR" altLang="en-US" sz="1300" b="1">
                <a:solidFill>
                  <a:srgbClr val="FF0000"/>
                </a:solidFill>
              </a:rPr>
              <a:t>채택</a:t>
            </a:r>
            <a:r>
              <a:rPr lang="en-US" altLang="ko-KR" sz="1300" b="1">
                <a:solidFill>
                  <a:srgbClr val="FF0000"/>
                </a:solidFill>
              </a:rPr>
              <a:t>)</a:t>
            </a:r>
          </a:p>
          <a:p>
            <a:r>
              <a:rPr lang="en-US" altLang="ko-KR" sz="1300" b="1">
                <a:solidFill>
                  <a:srgbClr val="FF0000"/>
                </a:solidFill>
              </a:rPr>
              <a:t># ==&gt; Murder</a:t>
            </a:r>
            <a:r>
              <a:rPr lang="ko-KR" altLang="en-US" sz="1300" b="1">
                <a:solidFill>
                  <a:srgbClr val="FF0000"/>
                </a:solidFill>
              </a:rPr>
              <a:t>와 </a:t>
            </a:r>
            <a:r>
              <a:rPr lang="en-US" altLang="ko-KR" sz="1300" b="1">
                <a:solidFill>
                  <a:srgbClr val="FF0000"/>
                </a:solidFill>
              </a:rPr>
              <a:t>Area </a:t>
            </a:r>
            <a:r>
              <a:rPr lang="ko-KR" altLang="en-US" sz="1300" b="1">
                <a:solidFill>
                  <a:srgbClr val="FF0000"/>
                </a:solidFill>
              </a:rPr>
              <a:t>두 변수간 상관관계 없다</a:t>
            </a:r>
            <a:r>
              <a:rPr lang="en-US" altLang="ko-KR" sz="1300" b="1"/>
              <a:t>. </a:t>
            </a:r>
            <a:endParaRPr lang="ko-KR" altLang="en-US" sz="1300" b="1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87E6D0A-70F7-4993-B365-C7A0D2B21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2101075"/>
            <a:ext cx="3971544" cy="22155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923AD279-B5F6-4048-90AB-B68FAC6AEC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4411243"/>
            <a:ext cx="3971544" cy="2090737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0E1A48D1-4D63-4648-BA72-31BB6926BE51}"/>
              </a:ext>
            </a:extLst>
          </p:cNvPr>
          <p:cNvGrpSpPr/>
          <p:nvPr/>
        </p:nvGrpSpPr>
        <p:grpSpPr>
          <a:xfrm>
            <a:off x="472441" y="2838382"/>
            <a:ext cx="4924096" cy="670584"/>
            <a:chOff x="612668" y="2499868"/>
            <a:chExt cx="4924096" cy="29238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1B94FD7-E607-466A-8AB7-DB649ABCFA67}"/>
                </a:ext>
              </a:extLst>
            </p:cNvPr>
            <p:cNvSpPr txBox="1"/>
            <p:nvPr/>
          </p:nvSpPr>
          <p:spPr>
            <a:xfrm>
              <a:off x="3734140" y="2509823"/>
              <a:ext cx="1802624" cy="2751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/>
                <a:t>Illiteracy</a:t>
              </a:r>
              <a:r>
                <a:rPr lang="ko-KR" altLang="en-US" sz="1200" b="1"/>
                <a:t>와 </a:t>
              </a:r>
              <a:r>
                <a:rPr lang="en-US" altLang="ko-KR" sz="1200" b="1"/>
                <a:t>Y</a:t>
              </a:r>
              <a:r>
                <a:rPr lang="ko-KR" altLang="en-US" sz="1200" b="1"/>
                <a:t>변수간의 유효 상관관계 존재함</a:t>
              </a:r>
              <a:r>
                <a:rPr lang="en-US" altLang="ko-KR" sz="1200" b="1"/>
                <a:t>  </a:t>
              </a:r>
            </a:p>
            <a:p>
              <a:pPr algn="ctr"/>
              <a:r>
                <a:rPr lang="en-US" altLang="ko-KR" sz="1100" b="1"/>
                <a:t>(p-value =0.00000001)</a:t>
              </a:r>
              <a:endParaRPr lang="ko-KR" altLang="en-US" sz="1100" b="1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3CFFFD0-938F-4079-9019-468A8E604762}"/>
                </a:ext>
              </a:extLst>
            </p:cNvPr>
            <p:cNvSpPr/>
            <p:nvPr/>
          </p:nvSpPr>
          <p:spPr>
            <a:xfrm>
              <a:off x="612668" y="2499868"/>
              <a:ext cx="4912944" cy="292386"/>
            </a:xfrm>
            <a:prstGeom prst="rect">
              <a:avLst/>
            </a:prstGeom>
            <a:noFill/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6C9291FE-1FD2-4CBA-92A3-56FEC411598F}"/>
              </a:ext>
            </a:extLst>
          </p:cNvPr>
          <p:cNvGrpSpPr/>
          <p:nvPr/>
        </p:nvGrpSpPr>
        <p:grpSpPr>
          <a:xfrm>
            <a:off x="504282" y="5053993"/>
            <a:ext cx="4924096" cy="670584"/>
            <a:chOff x="612668" y="2499868"/>
            <a:chExt cx="4924096" cy="29238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092446-AB3B-4B9F-8AB3-1FAA9B006543}"/>
                </a:ext>
              </a:extLst>
            </p:cNvPr>
            <p:cNvSpPr txBox="1"/>
            <p:nvPr/>
          </p:nvSpPr>
          <p:spPr>
            <a:xfrm>
              <a:off x="3734140" y="2509823"/>
              <a:ext cx="1802624" cy="27510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b="1"/>
                <a:t>Population</a:t>
              </a:r>
              <a:r>
                <a:rPr lang="ko-KR" altLang="en-US" sz="1200" b="1"/>
                <a:t>와 </a:t>
              </a:r>
              <a:r>
                <a:rPr lang="en-US" altLang="ko-KR" sz="1200" b="1"/>
                <a:t>Y</a:t>
              </a:r>
              <a:r>
                <a:rPr lang="ko-KR" altLang="en-US" sz="1200" b="1"/>
                <a:t>변수간의 유효 상관관계 존재함</a:t>
              </a:r>
              <a:r>
                <a:rPr lang="en-US" altLang="ko-KR" sz="1200" b="1"/>
                <a:t>  </a:t>
              </a:r>
            </a:p>
            <a:p>
              <a:pPr algn="ctr"/>
              <a:r>
                <a:rPr lang="en-US" altLang="ko-KR" sz="1100" b="1"/>
                <a:t>(p-value =0.01455)</a:t>
              </a:r>
              <a:endParaRPr lang="ko-KR" altLang="en-US" sz="1100" b="1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E64ABA5C-D45E-4BEA-B9FE-AFBFC6ADCBC4}"/>
                </a:ext>
              </a:extLst>
            </p:cNvPr>
            <p:cNvSpPr/>
            <p:nvPr/>
          </p:nvSpPr>
          <p:spPr>
            <a:xfrm>
              <a:off x="612668" y="2499868"/>
              <a:ext cx="4912944" cy="292386"/>
            </a:xfrm>
            <a:prstGeom prst="rect">
              <a:avLst/>
            </a:prstGeom>
            <a:noFill/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7" name="그림 26">
            <a:extLst>
              <a:ext uri="{FF2B5EF4-FFF2-40B4-BE49-F238E27FC236}">
                <a16:creationId xmlns:a16="http://schemas.microsoft.com/office/drawing/2014/main" id="{6DC85A17-C757-4853-B833-6F36B8DC6C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2992" y="4215862"/>
            <a:ext cx="4132288" cy="2286118"/>
          </a:xfrm>
          <a:prstGeom prst="rect">
            <a:avLst/>
          </a:prstGeom>
        </p:spPr>
      </p:pic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B023DC12-893F-4DD2-8401-5883AC809954}"/>
              </a:ext>
            </a:extLst>
          </p:cNvPr>
          <p:cNvSpPr/>
          <p:nvPr/>
        </p:nvSpPr>
        <p:spPr>
          <a:xfrm>
            <a:off x="6863489" y="2241396"/>
            <a:ext cx="4912944" cy="4260584"/>
          </a:xfrm>
          <a:custGeom>
            <a:avLst/>
            <a:gdLst>
              <a:gd name="connsiteX0" fmla="*/ 0 w 4870535"/>
              <a:gd name="connsiteY0" fmla="*/ 0 h 4260584"/>
              <a:gd name="connsiteX1" fmla="*/ 4859383 w 4870535"/>
              <a:gd name="connsiteY1" fmla="*/ 0 h 4260584"/>
              <a:gd name="connsiteX2" fmla="*/ 4859383 w 4870535"/>
              <a:gd name="connsiteY2" fmla="*/ 3640 h 4260584"/>
              <a:gd name="connsiteX3" fmla="*/ 4870535 w 4870535"/>
              <a:gd name="connsiteY3" fmla="*/ 3640 h 4260584"/>
              <a:gd name="connsiteX4" fmla="*/ 4870535 w 4870535"/>
              <a:gd name="connsiteY4" fmla="*/ 4260584 h 4260584"/>
              <a:gd name="connsiteX5" fmla="*/ 727095 w 4870535"/>
              <a:gd name="connsiteY5" fmla="*/ 4260584 h 4260584"/>
              <a:gd name="connsiteX6" fmla="*/ 727095 w 4870535"/>
              <a:gd name="connsiteY6" fmla="*/ 1892826 h 4260584"/>
              <a:gd name="connsiteX7" fmla="*/ 0 w 4870535"/>
              <a:gd name="connsiteY7" fmla="*/ 1892826 h 4260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0535" h="4260584">
                <a:moveTo>
                  <a:pt x="0" y="0"/>
                </a:moveTo>
                <a:lnTo>
                  <a:pt x="4859383" y="0"/>
                </a:lnTo>
                <a:lnTo>
                  <a:pt x="4859383" y="3640"/>
                </a:lnTo>
                <a:lnTo>
                  <a:pt x="4870535" y="3640"/>
                </a:lnTo>
                <a:lnTo>
                  <a:pt x="4870535" y="4260584"/>
                </a:lnTo>
                <a:lnTo>
                  <a:pt x="727095" y="4260584"/>
                </a:lnTo>
                <a:lnTo>
                  <a:pt x="727095" y="1892826"/>
                </a:lnTo>
                <a:lnTo>
                  <a:pt x="0" y="1892826"/>
                </a:lnTo>
                <a:close/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9" name="제목 1">
            <a:extLst>
              <a:ext uri="{FF2B5EF4-FFF2-40B4-BE49-F238E27FC236}">
                <a16:creationId xmlns:a16="http://schemas.microsoft.com/office/drawing/2014/main" id="{E856E53F-ABDE-4F62-B045-1C86D679E7BA}"/>
              </a:ext>
            </a:extLst>
          </p:cNvPr>
          <p:cNvSpPr txBox="1">
            <a:spLocks/>
          </p:cNvSpPr>
          <p:nvPr/>
        </p:nvSpPr>
        <p:spPr>
          <a:xfrm>
            <a:off x="490527" y="448056"/>
            <a:ext cx="11127319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800" b="1" kern="1200" noProof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defRPr>
            </a:lvl1pPr>
          </a:lstStyle>
          <a:p>
            <a:r>
              <a:rPr lang="en-US" altLang="ko-KR"/>
              <a:t>2.5. </a:t>
            </a:r>
            <a:r>
              <a:rPr lang="ko-KR" altLang="en-US"/>
              <a:t>다중회귀분석 </a:t>
            </a:r>
            <a:r>
              <a:rPr lang="en-US" altLang="ko-KR"/>
              <a:t>: (</a:t>
            </a:r>
            <a:r>
              <a:rPr lang="ko-KR" altLang="en-US"/>
              <a:t>이상치 제거 전</a:t>
            </a:r>
            <a:r>
              <a:rPr lang="en-US" altLang="ko-KR"/>
              <a:t>) </a:t>
            </a:r>
            <a:r>
              <a:rPr lang="ko-KR" altLang="en-US" b="1">
                <a:cs typeface="Segoe UI Light" panose="020B0502040204020203" pitchFamily="34" charset="0"/>
              </a:rPr>
              <a:t>잠정적 최우선모형식 도출</a:t>
            </a:r>
            <a:endParaRPr lang="en-US" altLang="ko-KR" b="1">
              <a:cs typeface="Segoe UI Light" panose="020B0502040204020203" pitchFamily="34" charset="0"/>
            </a:endParaRPr>
          </a:p>
          <a:p>
            <a:r>
              <a:rPr lang="en-US" altLang="ko-KR" sz="2400"/>
              <a:t> </a:t>
            </a:r>
            <a:r>
              <a:rPr lang="en-US" altLang="ko-KR" sz="240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en-US" altLang="ko-KR" sz="2400" b="1">
                <a:solidFill>
                  <a:schemeClr val="accent2">
                    <a:lumMod val="75000"/>
                  </a:schemeClr>
                </a:solidFill>
              </a:rPr>
              <a:t>[Area</a:t>
            </a:r>
            <a:r>
              <a:rPr lang="ko-KR" altLang="en-US" sz="2400" b="1">
                <a:solidFill>
                  <a:schemeClr val="accent2">
                    <a:lumMod val="75000"/>
                  </a:schemeClr>
                </a:solidFill>
              </a:rPr>
              <a:t>는 채택하지 않음</a:t>
            </a:r>
            <a:r>
              <a:rPr lang="en-US" altLang="ko-KR" sz="2400" b="1">
                <a:solidFill>
                  <a:schemeClr val="accent2">
                    <a:lumMod val="75000"/>
                  </a:schemeClr>
                </a:solidFill>
              </a:rPr>
              <a:t>]</a:t>
            </a:r>
            <a:r>
              <a:rPr lang="ko-KR" altLang="en-US" sz="2400" b="1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ko-KR" altLang="en-US" sz="2400" b="1">
                <a:solidFill>
                  <a:srgbClr val="FF0000"/>
                </a:solidFill>
              </a:rPr>
              <a:t>낮은 상관관계 </a:t>
            </a:r>
            <a:r>
              <a:rPr lang="en-US" altLang="ko-KR" sz="2400" b="1">
                <a:solidFill>
                  <a:srgbClr val="FF0000"/>
                </a:solidFill>
              </a:rPr>
              <a:t>0.23</a:t>
            </a:r>
            <a:r>
              <a:rPr lang="ko-KR" altLang="en-US" sz="2400" b="1">
                <a:solidFill>
                  <a:srgbClr val="FF0000"/>
                </a:solidFill>
              </a:rPr>
              <a:t>에 대한 상관관계 검증 결과 반영</a:t>
            </a:r>
            <a:endParaRPr lang="ko-KR" altLang="en-US" sz="2400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5C249D4B-90CA-48D8-B1D4-3EFDB413144F}"/>
              </a:ext>
            </a:extLst>
          </p:cNvPr>
          <p:cNvSpPr txBox="1">
            <a:spLocks/>
          </p:cNvSpPr>
          <p:nvPr/>
        </p:nvSpPr>
        <p:spPr>
          <a:xfrm>
            <a:off x="510346" y="1235341"/>
            <a:ext cx="11345218" cy="7239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1400" b="1"/>
              <a:t>최종모형도출을 위한 유효채택변수 검증 </a:t>
            </a:r>
            <a:r>
              <a:rPr lang="en-US" altLang="ko-KR" sz="1400" b="1"/>
              <a:t>: Y</a:t>
            </a:r>
            <a:r>
              <a:rPr lang="ko-KR" altLang="en-US" sz="1400" b="1"/>
              <a:t>변수와 유효한 상관관계가 있는 </a:t>
            </a:r>
            <a:r>
              <a:rPr lang="en-US" altLang="ko-KR" sz="1400" b="1"/>
              <a:t>Illiteracy</a:t>
            </a:r>
            <a:r>
              <a:rPr lang="ko-KR" altLang="en-US" sz="1400" b="1"/>
              <a:t>와 </a:t>
            </a:r>
            <a:r>
              <a:rPr lang="en-US" altLang="ko-KR" sz="1400" b="1"/>
              <a:t>Population</a:t>
            </a:r>
            <a:r>
              <a:rPr lang="ko-KR" altLang="en-US" sz="1400" b="1"/>
              <a:t>변수를 최종선택변수로 결정함</a:t>
            </a:r>
            <a:br>
              <a:rPr lang="en-US" altLang="ko-KR" sz="1400" b="1"/>
            </a:br>
            <a:r>
              <a:rPr lang="en-US" altLang="ko-KR" sz="1400" b="1"/>
              <a:t>([Area</a:t>
            </a:r>
            <a:r>
              <a:rPr lang="ko-KR" altLang="en-US" sz="1400" b="1"/>
              <a:t>는채택하지 않음</a:t>
            </a:r>
            <a:r>
              <a:rPr lang="en-US" altLang="ko-KR" sz="1400" b="1"/>
              <a:t>]</a:t>
            </a:r>
            <a:r>
              <a:rPr lang="ko-KR" altLang="en-US" sz="1400" b="1"/>
              <a:t> </a:t>
            </a:r>
            <a:r>
              <a:rPr lang="en-US" altLang="ko-KR" sz="1400" b="1"/>
              <a:t> cor.test(Murder, Area) </a:t>
            </a:r>
            <a:r>
              <a:rPr lang="ko-KR" altLang="en-US" sz="1400" b="1">
                <a:solidFill>
                  <a:srgbClr val="FF0000"/>
                </a:solidFill>
              </a:rPr>
              <a:t>낮은 상관관계 </a:t>
            </a:r>
            <a:r>
              <a:rPr lang="en-US" altLang="ko-KR" sz="1400" b="1">
                <a:solidFill>
                  <a:srgbClr val="FF0000"/>
                </a:solidFill>
              </a:rPr>
              <a:t>0.23</a:t>
            </a:r>
            <a:r>
              <a:rPr lang="ko-KR" altLang="en-US" sz="1400" b="1">
                <a:solidFill>
                  <a:srgbClr val="FF0000"/>
                </a:solidFill>
              </a:rPr>
              <a:t>에 대한 상관관계 검증 결과</a:t>
            </a:r>
            <a:r>
              <a:rPr lang="en-US" altLang="ko-KR" sz="1400" b="1">
                <a:solidFill>
                  <a:srgbClr val="FF0000"/>
                </a:solidFill>
              </a:rPr>
              <a:t>, p-value = 0.1106 &gt;0.05 </a:t>
            </a:r>
            <a:r>
              <a:rPr lang="ko-KR" altLang="en-US" sz="1400" b="1">
                <a:solidFill>
                  <a:srgbClr val="FF0000"/>
                </a:solidFill>
              </a:rPr>
              <a:t>이므로</a:t>
            </a:r>
            <a:r>
              <a:rPr lang="en-US" altLang="ko-KR" sz="1400" b="1">
                <a:solidFill>
                  <a:srgbClr val="FF0000"/>
                </a:solidFill>
              </a:rPr>
              <a:t> ((95% ci) </a:t>
            </a:r>
            <a:r>
              <a:rPr lang="ko-KR" altLang="en-US" sz="1400" b="1">
                <a:solidFill>
                  <a:srgbClr val="FF0000"/>
                </a:solidFill>
              </a:rPr>
              <a:t>차이없다는 </a:t>
            </a:r>
            <a:r>
              <a:rPr lang="en-US" altLang="ko-KR" sz="1400" b="1">
                <a:solidFill>
                  <a:srgbClr val="FF0000"/>
                </a:solidFill>
              </a:rPr>
              <a:t>Ho </a:t>
            </a:r>
            <a:r>
              <a:rPr lang="ko-KR" altLang="en-US" sz="1400" b="1">
                <a:solidFill>
                  <a:srgbClr val="FF0000"/>
                </a:solidFill>
              </a:rPr>
              <a:t>채택</a:t>
            </a:r>
            <a:r>
              <a:rPr lang="en-US" altLang="ko-KR" sz="1400" b="1">
                <a:solidFill>
                  <a:srgbClr val="FF0000"/>
                </a:solidFill>
              </a:rPr>
              <a:t>. </a:t>
            </a:r>
            <a:r>
              <a:rPr lang="ko-KR" altLang="en-US" sz="1400" b="1">
                <a:solidFill>
                  <a:srgbClr val="FF0000"/>
                </a:solidFill>
              </a:rPr>
              <a:t>즉</a:t>
            </a:r>
            <a:r>
              <a:rPr lang="en-US" altLang="ko-KR" sz="1400" b="1">
                <a:solidFill>
                  <a:srgbClr val="FF0000"/>
                </a:solidFill>
              </a:rPr>
              <a:t>, Murder</a:t>
            </a:r>
            <a:r>
              <a:rPr lang="ko-KR" altLang="en-US" sz="1400" b="1">
                <a:solidFill>
                  <a:srgbClr val="FF0000"/>
                </a:solidFill>
              </a:rPr>
              <a:t>와 </a:t>
            </a:r>
            <a:r>
              <a:rPr lang="en-US" altLang="ko-KR" sz="1400" b="1">
                <a:solidFill>
                  <a:srgbClr val="FF0000"/>
                </a:solidFill>
              </a:rPr>
              <a:t>Area </a:t>
            </a:r>
            <a:r>
              <a:rPr lang="ko-KR" altLang="en-US" sz="1400" b="1">
                <a:solidFill>
                  <a:srgbClr val="FF0000"/>
                </a:solidFill>
              </a:rPr>
              <a:t>두 변수간 상관관계 없음으로 </a:t>
            </a:r>
            <a:r>
              <a:rPr lang="en-US" altLang="ko-KR" sz="1400" b="1">
                <a:solidFill>
                  <a:srgbClr val="FF0000"/>
                </a:solidFill>
              </a:rPr>
              <a:t>Area</a:t>
            </a:r>
            <a:r>
              <a:rPr lang="ko-KR" altLang="en-US" sz="1400" b="1">
                <a:solidFill>
                  <a:srgbClr val="FF0000"/>
                </a:solidFill>
              </a:rPr>
              <a:t>변수는 최종선택변수로 선택하지 않음</a:t>
            </a:r>
            <a:r>
              <a:rPr lang="en-US" altLang="ko-KR" sz="1400" b="1">
                <a:solidFill>
                  <a:srgbClr val="FF0000"/>
                </a:solidFill>
              </a:rPr>
              <a:t> </a:t>
            </a:r>
            <a:br>
              <a:rPr lang="en-US" altLang="ko-KR" sz="1400" b="1"/>
            </a:br>
            <a:endParaRPr lang="ko-KR" altLang="en-US" sz="1400" b="1"/>
          </a:p>
        </p:txBody>
      </p:sp>
    </p:spTree>
    <p:extLst>
      <p:ext uri="{BB962C8B-B14F-4D97-AF65-F5344CB8AC3E}">
        <p14:creationId xmlns:p14="http://schemas.microsoft.com/office/powerpoint/2010/main" val="2340512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E13609D6-9394-4BEA-91A5-3843181DE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980" y="2651894"/>
            <a:ext cx="4079338" cy="3645125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93059B-C616-4221-8BA0-341E4E7E66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245898"/>
              </p:ext>
            </p:extLst>
          </p:nvPr>
        </p:nvGraphicFramePr>
        <p:xfrm>
          <a:off x="4749585" y="2651894"/>
          <a:ext cx="7210395" cy="1898435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509465">
                  <a:extLst>
                    <a:ext uri="{9D8B030D-6E8A-4147-A177-3AD203B41FA5}">
                      <a16:colId xmlns:a16="http://schemas.microsoft.com/office/drawing/2014/main" val="1702442515"/>
                    </a:ext>
                  </a:extLst>
                </a:gridCol>
                <a:gridCol w="375814">
                  <a:extLst>
                    <a:ext uri="{9D8B030D-6E8A-4147-A177-3AD203B41FA5}">
                      <a16:colId xmlns:a16="http://schemas.microsoft.com/office/drawing/2014/main" val="4132375681"/>
                    </a:ext>
                  </a:extLst>
                </a:gridCol>
                <a:gridCol w="1033489">
                  <a:extLst>
                    <a:ext uri="{9D8B030D-6E8A-4147-A177-3AD203B41FA5}">
                      <a16:colId xmlns:a16="http://schemas.microsoft.com/office/drawing/2014/main" val="734610881"/>
                    </a:ext>
                  </a:extLst>
                </a:gridCol>
                <a:gridCol w="2427132">
                  <a:extLst>
                    <a:ext uri="{9D8B030D-6E8A-4147-A177-3AD203B41FA5}">
                      <a16:colId xmlns:a16="http://schemas.microsoft.com/office/drawing/2014/main" val="1712803380"/>
                    </a:ext>
                  </a:extLst>
                </a:gridCol>
                <a:gridCol w="548062">
                  <a:extLst>
                    <a:ext uri="{9D8B030D-6E8A-4147-A177-3AD203B41FA5}">
                      <a16:colId xmlns:a16="http://schemas.microsoft.com/office/drawing/2014/main" val="3530510961"/>
                    </a:ext>
                  </a:extLst>
                </a:gridCol>
                <a:gridCol w="634186">
                  <a:extLst>
                    <a:ext uri="{9D8B030D-6E8A-4147-A177-3AD203B41FA5}">
                      <a16:colId xmlns:a16="http://schemas.microsoft.com/office/drawing/2014/main" val="1764567006"/>
                    </a:ext>
                  </a:extLst>
                </a:gridCol>
                <a:gridCol w="900388">
                  <a:extLst>
                    <a:ext uri="{9D8B030D-6E8A-4147-A177-3AD203B41FA5}">
                      <a16:colId xmlns:a16="http://schemas.microsoft.com/office/drawing/2014/main" val="837202480"/>
                    </a:ext>
                  </a:extLst>
                </a:gridCol>
                <a:gridCol w="398682">
                  <a:extLst>
                    <a:ext uri="{9D8B030D-6E8A-4147-A177-3AD203B41FA5}">
                      <a16:colId xmlns:a16="http://schemas.microsoft.com/office/drawing/2014/main" val="2944592704"/>
                    </a:ext>
                  </a:extLst>
                </a:gridCol>
                <a:gridCol w="383177">
                  <a:extLst>
                    <a:ext uri="{9D8B030D-6E8A-4147-A177-3AD203B41FA5}">
                      <a16:colId xmlns:a16="http://schemas.microsoft.com/office/drawing/2014/main" val="732966984"/>
                    </a:ext>
                  </a:extLst>
                </a:gridCol>
              </a:tblGrid>
              <a:tr h="39049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모형명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X</a:t>
                      </a:r>
                      <a:r>
                        <a:rPr lang="ko-KR" altLang="en-US" sz="900" u="none" strike="noStrike">
                          <a:effectLst/>
                        </a:rPr>
                        <a:t>변수 </a:t>
                      </a:r>
                      <a:endParaRPr lang="en-US" altLang="ko-KR" sz="900" u="none" strike="noStrike">
                        <a:effectLst/>
                      </a:endParaRPr>
                    </a:p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개수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사용된 </a:t>
                      </a:r>
                      <a:r>
                        <a:rPr lang="en-US" altLang="ko-KR" sz="900" u="none" strike="noStrike">
                          <a:effectLst/>
                        </a:rPr>
                        <a:t>X</a:t>
                      </a:r>
                      <a:r>
                        <a:rPr lang="ko-KR" altLang="en-US" sz="900" u="none" strike="noStrike">
                          <a:effectLst/>
                        </a:rPr>
                        <a:t>변수명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다중공선성 체크</a:t>
                      </a:r>
                      <a:r>
                        <a:rPr lang="en-US" altLang="ko-KR" sz="900" u="none" strike="noStrike">
                          <a:effectLst/>
                        </a:rPr>
                        <a:t>(car::vif(</a:t>
                      </a:r>
                      <a:r>
                        <a:rPr lang="ko-KR" altLang="en-US" sz="900" u="none" strike="noStrike">
                          <a:effectLst/>
                        </a:rPr>
                        <a:t>모형식명</a:t>
                      </a:r>
                      <a:r>
                        <a:rPr lang="en-US" altLang="ko-KR" sz="900" u="none" strike="noStrike">
                          <a:effectLst/>
                        </a:rPr>
                        <a:t>)</a:t>
                      </a:r>
                      <a:r>
                        <a:rPr lang="ko-KR" altLang="en-US" sz="900" u="none" strike="noStrike">
                          <a:effectLst/>
                        </a:rPr>
                        <a:t>산출결과</a:t>
                      </a:r>
                      <a:r>
                        <a:rPr lang="en-US" altLang="ko-KR" sz="900" u="none" strike="noStrike">
                          <a:effectLst/>
                        </a:rPr>
                        <a:t>)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제거된 </a:t>
                      </a:r>
                      <a:endParaRPr lang="en-US" altLang="ko-KR" sz="900" u="none" strike="noStrike">
                        <a:effectLst/>
                      </a:endParaRPr>
                    </a:p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변수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(b)</a:t>
                      </a:r>
                      <a:r>
                        <a:rPr lang="ko-KR" altLang="en-US" sz="900" u="none" strike="noStrike">
                          <a:effectLst/>
                        </a:rPr>
                        <a:t>결정계수</a:t>
                      </a:r>
                      <a:endParaRPr lang="en-US" altLang="ko-KR" sz="900" u="none" strike="noStrike">
                        <a:effectLst/>
                      </a:endParaRPr>
                    </a:p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(</a:t>
                      </a:r>
                      <a:r>
                        <a:rPr lang="en-US" sz="900" u="none" strike="noStrike">
                          <a:effectLst/>
                        </a:rPr>
                        <a:t>R-squared)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(a)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수정결정계수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Adj R-squared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(b)-(a)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AIC</a:t>
                      </a:r>
                    </a:p>
                  </a:txBody>
                  <a:tcPr marL="7647" marR="7647" marT="7647" marB="0" anchor="ctr"/>
                </a:tc>
                <a:extLst>
                  <a:ext uri="{0D108BD9-81ED-4DB2-BD59-A6C34878D82A}">
                    <a16:rowId xmlns:a16="http://schemas.microsoft.com/office/drawing/2014/main" val="1462850901"/>
                  </a:ext>
                </a:extLst>
              </a:tr>
              <a:tr h="76771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모형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Population,</a:t>
                      </a:r>
                    </a:p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Illiteracy, Area 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Population  Illiteracy    Area </a:t>
                      </a:r>
                    </a:p>
                    <a:p>
                      <a:pPr algn="l" fontAlgn="t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1.758783    2.164385   1.58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>
                          <a:solidFill>
                            <a:schemeClr val="tx1"/>
                          </a:solidFill>
                          <a:effectLst/>
                        </a:rPr>
                        <a:t>Frost</a:t>
                      </a:r>
                      <a:endParaRPr lang="en-US" sz="9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0.9166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0.9112 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0.0054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92.63</a:t>
                      </a:r>
                    </a:p>
                  </a:txBody>
                  <a:tcPr marL="7647" marR="7647" marT="7647" marB="0" anchor="ctr"/>
                </a:tc>
                <a:extLst>
                  <a:ext uri="{0D108BD9-81ED-4DB2-BD59-A6C34878D82A}">
                    <a16:rowId xmlns:a16="http://schemas.microsoft.com/office/drawing/2014/main" val="144412137"/>
                  </a:ext>
                </a:extLst>
              </a:tr>
              <a:tr h="74022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  <a:endParaRPr lang="en-US" altLang="ko-KR" sz="900" b="0" i="0" u="none" strike="noStrike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모형</a:t>
                      </a:r>
                      <a:r>
                        <a:rPr lang="en-US" altLang="ko-KR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Population, </a:t>
                      </a:r>
                    </a:p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Illiteracy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Population   Illiteracy</a:t>
                      </a:r>
                    </a:p>
                    <a:p>
                      <a:pPr algn="l" fontAlgn="t"/>
                      <a:r>
                        <a:rPr lang="en-US" altLang="ko-KR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1.737906     1.737906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>
                          <a:solidFill>
                            <a:srgbClr val="C00000"/>
                          </a:solidFill>
                          <a:effectLst/>
                        </a:rPr>
                        <a:t>Area</a:t>
                      </a:r>
                      <a:endParaRPr lang="en-US" sz="900" b="1" i="0" u="none" strike="noStrike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0.9071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0.9032 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0.0039</a:t>
                      </a:r>
                    </a:p>
                  </a:txBody>
                  <a:tcPr marL="7647" marR="7647" marT="76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96</a:t>
                      </a:r>
                    </a:p>
                  </a:txBody>
                  <a:tcPr marL="7647" marR="7647" marT="7647" marB="0" anchor="ctr"/>
                </a:tc>
                <a:extLst>
                  <a:ext uri="{0D108BD9-81ED-4DB2-BD59-A6C34878D82A}">
                    <a16:rowId xmlns:a16="http://schemas.microsoft.com/office/drawing/2014/main" val="1258294649"/>
                  </a:ext>
                </a:extLst>
              </a:tr>
            </a:tbl>
          </a:graphicData>
        </a:graphic>
      </p:graphicFrame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A60A867-DE49-4808-AD15-AEAD1B05266F}"/>
              </a:ext>
            </a:extLst>
          </p:cNvPr>
          <p:cNvCxnSpPr>
            <a:cxnSpLocks/>
          </p:cNvCxnSpPr>
          <p:nvPr/>
        </p:nvCxnSpPr>
        <p:spPr>
          <a:xfrm>
            <a:off x="4749581" y="3827900"/>
            <a:ext cx="7210399" cy="0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81C59F5-50B2-48DB-9BFD-0B3D232C91B9}"/>
              </a:ext>
            </a:extLst>
          </p:cNvPr>
          <p:cNvSpPr/>
          <p:nvPr/>
        </p:nvSpPr>
        <p:spPr>
          <a:xfrm>
            <a:off x="580980" y="2651894"/>
            <a:ext cx="4079338" cy="408543"/>
          </a:xfrm>
          <a:prstGeom prst="rect">
            <a:avLst/>
          </a:prstGeom>
          <a:noFill/>
          <a:ln w="28575">
            <a:solidFill>
              <a:srgbClr val="FF9B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7BEA43E-547D-4FC6-B07F-5289E01980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1548" y="5203141"/>
            <a:ext cx="3011105" cy="1093878"/>
          </a:xfrm>
          <a:prstGeom prst="rect">
            <a:avLst/>
          </a:prstGeom>
        </p:spPr>
      </p:pic>
      <p:sp>
        <p:nvSpPr>
          <p:cNvPr id="21" name="제목 1">
            <a:extLst>
              <a:ext uri="{FF2B5EF4-FFF2-40B4-BE49-F238E27FC236}">
                <a16:creationId xmlns:a16="http://schemas.microsoft.com/office/drawing/2014/main" id="{D2BE7049-9260-40C9-A44E-D099AE401679}"/>
              </a:ext>
            </a:extLst>
          </p:cNvPr>
          <p:cNvSpPr txBox="1">
            <a:spLocks/>
          </p:cNvSpPr>
          <p:nvPr/>
        </p:nvSpPr>
        <p:spPr>
          <a:xfrm>
            <a:off x="490527" y="448056"/>
            <a:ext cx="11127319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800" b="1" kern="1200" noProof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defRPr>
            </a:lvl1pPr>
          </a:lstStyle>
          <a:p>
            <a:r>
              <a:rPr lang="en-US" altLang="ko-KR"/>
              <a:t>2.5. </a:t>
            </a:r>
            <a:r>
              <a:rPr lang="ko-KR" altLang="en-US"/>
              <a:t>다중회귀분석 </a:t>
            </a:r>
            <a:r>
              <a:rPr lang="en-US" altLang="ko-KR"/>
              <a:t>: </a:t>
            </a:r>
            <a:r>
              <a:rPr lang="ko-KR" altLang="en-US" b="1">
                <a:cs typeface="Segoe UI Light" panose="020B0502040204020203" pitchFamily="34" charset="0"/>
              </a:rPr>
              <a:t>잠정적 최우선모형식 도출</a:t>
            </a:r>
            <a:endParaRPr lang="ko-KR" altLang="en-US" sz="2800"/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59F6F4EF-F626-4A94-9724-75595488DB65}"/>
              </a:ext>
            </a:extLst>
          </p:cNvPr>
          <p:cNvSpPr txBox="1">
            <a:spLocks/>
          </p:cNvSpPr>
          <p:nvPr/>
        </p:nvSpPr>
        <p:spPr>
          <a:xfrm>
            <a:off x="510346" y="1235341"/>
            <a:ext cx="11345218" cy="7239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1400" b="1"/>
              <a:t>잠정적 최우선 다중회귀모형식 산출</a:t>
            </a:r>
            <a:r>
              <a:rPr lang="en-US" altLang="ko-KR" sz="1400" b="1"/>
              <a:t>(Murder =   5.0340248191 * Illiteracy + 0.0002775158 * Population )</a:t>
            </a:r>
            <a:r>
              <a:rPr lang="ko-KR" altLang="en-US" sz="1400" b="1"/>
              <a:t>되었으나</a:t>
            </a:r>
            <a:r>
              <a:rPr lang="en-US" altLang="ko-KR" sz="1400" b="1"/>
              <a:t>, </a:t>
            </a:r>
            <a:br>
              <a:rPr lang="en-US" altLang="ko-KR" sz="1400" b="1"/>
            </a:br>
            <a:r>
              <a:rPr lang="ko-KR" altLang="en-US" sz="1800" b="1">
                <a:solidFill>
                  <a:schemeClr val="accent2">
                    <a:lumMod val="75000"/>
                  </a:schemeClr>
                </a:solidFill>
              </a:rPr>
              <a:t>수정결정계수는 더 낮아지고</a:t>
            </a:r>
            <a:r>
              <a:rPr lang="en-US" altLang="ko-KR" sz="1800" b="1">
                <a:solidFill>
                  <a:schemeClr val="accent2">
                    <a:lumMod val="75000"/>
                  </a:schemeClr>
                </a:solidFill>
              </a:rPr>
              <a:t>,</a:t>
            </a:r>
            <a:r>
              <a:rPr lang="ko-KR" altLang="en-US" sz="1800" b="1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ko-KR" sz="1800" b="1">
                <a:solidFill>
                  <a:schemeClr val="accent2">
                    <a:lumMod val="75000"/>
                  </a:schemeClr>
                </a:solidFill>
              </a:rPr>
              <a:t>AIC </a:t>
            </a:r>
            <a:r>
              <a:rPr lang="ko-KR" altLang="en-US" sz="1800" b="1">
                <a:solidFill>
                  <a:schemeClr val="accent2">
                    <a:lumMod val="75000"/>
                  </a:schemeClr>
                </a:solidFill>
              </a:rPr>
              <a:t>더 높아져서</a:t>
            </a:r>
            <a:r>
              <a:rPr lang="en-US" altLang="ko-KR" sz="1800" b="1">
                <a:solidFill>
                  <a:schemeClr val="accent2">
                    <a:lumMod val="75000"/>
                  </a:schemeClr>
                </a:solidFill>
              </a:rPr>
              <a:t>, </a:t>
            </a:r>
            <a:br>
              <a:rPr lang="en-US" altLang="ko-KR" sz="1800" b="1">
                <a:solidFill>
                  <a:schemeClr val="accent2">
                    <a:lumMod val="75000"/>
                  </a:schemeClr>
                </a:solidFill>
              </a:rPr>
            </a:br>
            <a:r>
              <a:rPr lang="ko-KR" altLang="en-US" sz="1800" b="1">
                <a:solidFill>
                  <a:schemeClr val="accent2">
                    <a:lumMod val="75000"/>
                  </a:schemeClr>
                </a:solidFill>
              </a:rPr>
              <a:t>다른 변동 원인 중 하나인</a:t>
            </a:r>
            <a:r>
              <a:rPr lang="en-US" altLang="ko-KR" sz="1800" b="1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ko-KR" altLang="en-US" sz="1800" b="1">
                <a:solidFill>
                  <a:schemeClr val="accent2">
                    <a:lumMod val="75000"/>
                  </a:schemeClr>
                </a:solidFill>
              </a:rPr>
              <a:t>이상치에 대한 검증 및 모형성능 개선을 수행할 필요성 있음</a:t>
            </a:r>
            <a:r>
              <a:rPr lang="en-US" altLang="ko-KR" sz="1800" b="1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ko-KR" altLang="en-US" sz="1800" b="1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altLang="ko-KR" sz="1400" b="1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4FE1B31-FA0A-4965-B8C1-C6656D82AFAC}"/>
              </a:ext>
            </a:extLst>
          </p:cNvPr>
          <p:cNvGrpSpPr/>
          <p:nvPr/>
        </p:nvGrpSpPr>
        <p:grpSpPr>
          <a:xfrm>
            <a:off x="3480346" y="2892733"/>
            <a:ext cx="680400" cy="483068"/>
            <a:chOff x="4926590" y="5285556"/>
            <a:chExt cx="680400" cy="483068"/>
          </a:xfrm>
        </p:grpSpPr>
        <p:sp>
          <p:nvSpPr>
            <p:cNvPr id="22" name="타원 21" descr="작은 원">
              <a:extLst>
                <a:ext uri="{FF2B5EF4-FFF2-40B4-BE49-F238E27FC236}">
                  <a16:creationId xmlns:a16="http://schemas.microsoft.com/office/drawing/2014/main" id="{07D91BED-175A-46A2-85F6-BBC3E83AB1BE}"/>
                </a:ext>
              </a:extLst>
            </p:cNvPr>
            <p:cNvSpPr/>
            <p:nvPr/>
          </p:nvSpPr>
          <p:spPr bwMode="blackWhite">
            <a:xfrm>
              <a:off x="5017001" y="5285556"/>
              <a:ext cx="499578" cy="48306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텍스트 상자 19" descr="숫자 1">
              <a:extLst>
                <a:ext uri="{FF2B5EF4-FFF2-40B4-BE49-F238E27FC236}">
                  <a16:creationId xmlns:a16="http://schemas.microsoft.com/office/drawing/2014/main" id="{603DD6A9-D148-44D0-B294-F90CF7090625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4926590" y="5312515"/>
              <a:ext cx="680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ko-KR" altLang="en-US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수정</a:t>
              </a:r>
              <a:endParaRPr lang="en-US" altLang="ko-KR"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  <a:p>
              <a:pPr algn="ctr" rtl="0"/>
              <a:r>
                <a:rPr lang="ko-KR" altLang="en-US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모형</a:t>
              </a:r>
              <a:r>
                <a:rPr lang="en-US" altLang="ko-KR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5</a:t>
              </a:r>
              <a:endPara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B97A34E9-4779-44DE-965A-E5D241A52AB0}"/>
              </a:ext>
            </a:extLst>
          </p:cNvPr>
          <p:cNvGrpSpPr/>
          <p:nvPr/>
        </p:nvGrpSpPr>
        <p:grpSpPr>
          <a:xfrm>
            <a:off x="8252653" y="3175088"/>
            <a:ext cx="680400" cy="483068"/>
            <a:chOff x="4926590" y="5285556"/>
            <a:chExt cx="680400" cy="483068"/>
          </a:xfrm>
        </p:grpSpPr>
        <p:sp>
          <p:nvSpPr>
            <p:cNvPr id="25" name="타원 24" descr="작은 원">
              <a:extLst>
                <a:ext uri="{FF2B5EF4-FFF2-40B4-BE49-F238E27FC236}">
                  <a16:creationId xmlns:a16="http://schemas.microsoft.com/office/drawing/2014/main" id="{18F91402-7476-4331-A02D-0E369AB70810}"/>
                </a:ext>
              </a:extLst>
            </p:cNvPr>
            <p:cNvSpPr/>
            <p:nvPr/>
          </p:nvSpPr>
          <p:spPr bwMode="blackWhite">
            <a:xfrm>
              <a:off x="5017001" y="5285556"/>
              <a:ext cx="499578" cy="483068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6" name="텍스트 상자 19" descr="숫자 1">
              <a:extLst>
                <a:ext uri="{FF2B5EF4-FFF2-40B4-BE49-F238E27FC236}">
                  <a16:creationId xmlns:a16="http://schemas.microsoft.com/office/drawing/2014/main" id="{6858BEAB-5ACE-481A-B432-48405700F468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4926590" y="5312515"/>
              <a:ext cx="680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ko-KR" altLang="en-US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수정</a:t>
              </a:r>
              <a:endParaRPr lang="en-US" altLang="ko-KR"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  <a:p>
              <a:pPr algn="ctr" rtl="0"/>
              <a:r>
                <a:rPr lang="ko-KR" altLang="en-US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모형</a:t>
              </a:r>
              <a:r>
                <a:rPr lang="en-US" altLang="ko-KR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4</a:t>
              </a:r>
              <a:endPara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9F5975B0-3B66-4A01-901A-C0DE715E560A}"/>
              </a:ext>
            </a:extLst>
          </p:cNvPr>
          <p:cNvGrpSpPr/>
          <p:nvPr/>
        </p:nvGrpSpPr>
        <p:grpSpPr>
          <a:xfrm>
            <a:off x="8252653" y="3912773"/>
            <a:ext cx="680400" cy="483068"/>
            <a:chOff x="4926590" y="5285556"/>
            <a:chExt cx="680400" cy="483068"/>
          </a:xfrm>
        </p:grpSpPr>
        <p:sp>
          <p:nvSpPr>
            <p:cNvPr id="28" name="타원 27" descr="작은 원">
              <a:extLst>
                <a:ext uri="{FF2B5EF4-FFF2-40B4-BE49-F238E27FC236}">
                  <a16:creationId xmlns:a16="http://schemas.microsoft.com/office/drawing/2014/main" id="{2D399970-D4DD-4BA6-85A1-4FE87D14F3AF}"/>
                </a:ext>
              </a:extLst>
            </p:cNvPr>
            <p:cNvSpPr/>
            <p:nvPr/>
          </p:nvSpPr>
          <p:spPr bwMode="blackWhite">
            <a:xfrm>
              <a:off x="5017001" y="5285556"/>
              <a:ext cx="499578" cy="48306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텍스트 상자 19" descr="숫자 1">
              <a:extLst>
                <a:ext uri="{FF2B5EF4-FFF2-40B4-BE49-F238E27FC236}">
                  <a16:creationId xmlns:a16="http://schemas.microsoft.com/office/drawing/2014/main" id="{51870FE4-E377-402D-AE7A-CA4F71640A07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4926590" y="5312515"/>
              <a:ext cx="680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ko-KR" altLang="en-US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수정</a:t>
              </a:r>
              <a:endParaRPr lang="en-US" altLang="ko-KR"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  <a:p>
              <a:pPr algn="ctr" rtl="0"/>
              <a:r>
                <a:rPr lang="ko-KR" altLang="en-US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모형</a:t>
              </a:r>
              <a:r>
                <a:rPr lang="en-US" altLang="ko-KR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5</a:t>
              </a:r>
              <a:endPara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1890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그림 53">
            <a:extLst>
              <a:ext uri="{FF2B5EF4-FFF2-40B4-BE49-F238E27FC236}">
                <a16:creationId xmlns:a16="http://schemas.microsoft.com/office/drawing/2014/main" id="{6D10A7DA-4C79-4456-B7FC-F0887205C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160" y="4105492"/>
            <a:ext cx="4998516" cy="2434646"/>
          </a:xfrm>
          <a:prstGeom prst="rect">
            <a:avLst/>
          </a:prstGeom>
        </p:spPr>
      </p:pic>
      <p:sp>
        <p:nvSpPr>
          <p:cNvPr id="8" name="제목 3">
            <a:extLst>
              <a:ext uri="{FF2B5EF4-FFF2-40B4-BE49-F238E27FC236}">
                <a16:creationId xmlns:a16="http://schemas.microsoft.com/office/drawing/2014/main" id="{27FEBB20-7D28-476C-800C-B267FD367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1" y="448056"/>
            <a:ext cx="11513820" cy="640080"/>
          </a:xfrm>
        </p:spPr>
        <p:txBody>
          <a:bodyPr rtlCol="0">
            <a:normAutofit/>
          </a:bodyPr>
          <a:lstStyle/>
          <a:p>
            <a:r>
              <a:rPr lang="en-US" altLang="ko-KR" b="1">
                <a:cs typeface="Segoe UI Light" panose="020B0502040204020203" pitchFamily="34" charset="0"/>
              </a:rPr>
              <a:t>2.6 </a:t>
            </a:r>
            <a:r>
              <a:rPr lang="ko-KR" altLang="en-US" b="1">
                <a:cs typeface="Segoe UI Light" panose="020B0502040204020203" pitchFamily="34" charset="0"/>
              </a:rPr>
              <a:t>이상치</a:t>
            </a:r>
            <a:r>
              <a:rPr lang="en-US" altLang="ko-KR" b="1">
                <a:cs typeface="Segoe UI Light" panose="020B0502040204020203" pitchFamily="34" charset="0"/>
              </a:rPr>
              <a:t> </a:t>
            </a:r>
            <a:r>
              <a:rPr lang="ko-KR" altLang="en-US" b="1">
                <a:cs typeface="Segoe UI Light" panose="020B0502040204020203" pitchFamily="34" charset="0"/>
              </a:rPr>
              <a:t>여부 체크 </a:t>
            </a:r>
            <a:r>
              <a:rPr lang="en-US" altLang="ko-KR">
                <a:cs typeface="Segoe UI Light" panose="020B0502040204020203" pitchFamily="34" charset="0"/>
              </a:rPr>
              <a:t>: car::outlierTest(fit</a:t>
            </a:r>
            <a:r>
              <a:rPr lang="ko-KR" altLang="en-US">
                <a:cs typeface="Segoe UI Light" panose="020B0502040204020203" pitchFamily="34" charset="0"/>
              </a:rPr>
              <a:t>모형식</a:t>
            </a:r>
            <a:r>
              <a:rPr lang="en-US" altLang="ko-KR">
                <a:cs typeface="Segoe UI Light" panose="020B0502040204020203" pitchFamily="34" charset="0"/>
              </a:rPr>
              <a:t>)</a:t>
            </a:r>
            <a:endParaRPr lang="ko-KR" altLang="en-US" b="1" dirty="0">
              <a:cs typeface="Segoe UI Light" panose="020B0502040204020203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036A951-2BA1-48DD-A0E9-5AC72F1C6C64}"/>
              </a:ext>
            </a:extLst>
          </p:cNvPr>
          <p:cNvGrpSpPr/>
          <p:nvPr/>
        </p:nvGrpSpPr>
        <p:grpSpPr>
          <a:xfrm>
            <a:off x="846909" y="3207916"/>
            <a:ext cx="4630782" cy="3008376"/>
            <a:chOff x="3490872" y="1215282"/>
            <a:chExt cx="5569279" cy="261649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617318D-5938-4D03-8FC4-A56F757EE0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49631"/>
            <a:stretch/>
          </p:blipFill>
          <p:spPr>
            <a:xfrm>
              <a:off x="3490872" y="1215282"/>
              <a:ext cx="5569279" cy="2616490"/>
            </a:xfrm>
            <a:prstGeom prst="rect">
              <a:avLst/>
            </a:prstGeom>
          </p:spPr>
        </p:pic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A2C4B5B2-5E0F-49FE-84D5-DA1B9429338A}"/>
                </a:ext>
              </a:extLst>
            </p:cNvPr>
            <p:cNvSpPr/>
            <p:nvPr/>
          </p:nvSpPr>
          <p:spPr>
            <a:xfrm>
              <a:off x="3744686" y="1598022"/>
              <a:ext cx="583475" cy="31786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7442F182-9D54-4481-BF44-97D046F89CA9}"/>
                </a:ext>
              </a:extLst>
            </p:cNvPr>
            <p:cNvSpPr/>
            <p:nvPr/>
          </p:nvSpPr>
          <p:spPr>
            <a:xfrm>
              <a:off x="8476676" y="1598021"/>
              <a:ext cx="583475" cy="31786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2B6C8D70-20F9-45AE-A8E6-45AEAFB4598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85214" y="1267093"/>
            <a:ext cx="4737167" cy="105508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ko-KR" altLang="en-US" sz="1400" b="1"/>
              <a:t>잔차들의 분포를 본 것 </a:t>
            </a:r>
            <a:r>
              <a:rPr lang="en-US" altLang="ko-KR" sz="1400" b="1"/>
              <a:t>: </a:t>
            </a:r>
            <a:r>
              <a:rPr lang="ko-KR" altLang="en-US" sz="1400" b="1"/>
              <a:t>안정적임 </a:t>
            </a:r>
            <a:r>
              <a:rPr lang="en-US" altLang="ko-KR" sz="1400" b="1"/>
              <a:t>==&gt; </a:t>
            </a:r>
            <a:r>
              <a:rPr lang="ko-KR" altLang="en-US" sz="1400" b="1"/>
              <a:t>동분산성 보여짐</a:t>
            </a:r>
            <a:br>
              <a:rPr lang="en-US" altLang="ko-KR" sz="1400" b="1"/>
            </a:br>
            <a:r>
              <a:rPr lang="en-US" altLang="ko-KR" sz="1400" b="1"/>
              <a:t>(</a:t>
            </a:r>
            <a:r>
              <a:rPr lang="ko-KR" altLang="en-US" sz="1400" b="1"/>
              <a:t>단</a:t>
            </a:r>
            <a:r>
              <a:rPr lang="en-US" altLang="ko-KR" sz="1400" b="1"/>
              <a:t>,  Nevada(</a:t>
            </a:r>
            <a:r>
              <a:rPr lang="ko-KR" altLang="en-US" sz="1400" b="1"/>
              <a:t>오차 거의 </a:t>
            </a:r>
            <a:r>
              <a:rPr lang="en-US" altLang="ko-KR" sz="1400" b="1"/>
              <a:t>9</a:t>
            </a:r>
            <a:r>
              <a:rPr lang="ko-KR" altLang="en-US" sz="1400" b="1"/>
              <a:t>정도</a:t>
            </a:r>
            <a:r>
              <a:rPr lang="en-US" altLang="ko-KR" sz="1400" b="1"/>
              <a:t>), Rhode Islands (</a:t>
            </a:r>
            <a:r>
              <a:rPr lang="ko-KR" altLang="en-US" sz="1400" b="1"/>
              <a:t>오차 거의 </a:t>
            </a:r>
            <a:r>
              <a:rPr lang="en-US" altLang="ko-KR" sz="1400" b="1"/>
              <a:t>-5</a:t>
            </a:r>
            <a:r>
              <a:rPr lang="ko-KR" altLang="en-US" sz="1400" b="1"/>
              <a:t>정도</a:t>
            </a:r>
            <a:r>
              <a:rPr lang="en-US" altLang="ko-KR" sz="1400" b="1"/>
              <a:t>)</a:t>
            </a:r>
            <a:br>
              <a:rPr lang="en-US" altLang="ko-KR" sz="1400" b="1"/>
            </a:br>
            <a:r>
              <a:rPr lang="en-US" altLang="ko-KR" sz="1400" b="1"/>
              <a:t>(</a:t>
            </a:r>
            <a:r>
              <a:rPr lang="ko-KR" altLang="en-US" sz="1400" b="1"/>
              <a:t>이상치</a:t>
            </a:r>
            <a:r>
              <a:rPr lang="en-US" altLang="ko-KR" sz="1400" b="1"/>
              <a:t>=</a:t>
            </a:r>
            <a:r>
              <a:rPr lang="ko-KR" altLang="en-US" sz="1400" b="1"/>
              <a:t>특이치</a:t>
            </a:r>
            <a:r>
              <a:rPr lang="en-US" altLang="ko-KR" sz="1400" b="1"/>
              <a:t>=outlier</a:t>
            </a:r>
            <a:r>
              <a:rPr lang="ko-KR" altLang="en-US" sz="1400" b="1"/>
              <a:t>인지 의심이 됨</a:t>
            </a:r>
            <a:r>
              <a:rPr lang="en-US" altLang="ko-KR" sz="1400" b="1"/>
              <a:t>. </a:t>
            </a:r>
            <a:r>
              <a:rPr lang="ko-KR" altLang="en-US" sz="1400" b="1"/>
              <a:t>이상치 확정 아니나 체크 필요</a:t>
            </a:r>
            <a:r>
              <a:rPr lang="en-US" altLang="ko-KR" sz="1400" b="1"/>
              <a:t>)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99CC166-9938-4F0A-B8EF-841EBD5C1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628" y="2002752"/>
            <a:ext cx="5038048" cy="1205164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2FC85437-6796-4402-AF3F-F57F844C404C}"/>
              </a:ext>
            </a:extLst>
          </p:cNvPr>
          <p:cNvGrpSpPr/>
          <p:nvPr/>
        </p:nvGrpSpPr>
        <p:grpSpPr>
          <a:xfrm>
            <a:off x="5899711" y="1270103"/>
            <a:ext cx="5577626" cy="657809"/>
            <a:chOff x="5899711" y="1270103"/>
            <a:chExt cx="5577626" cy="65780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BA3A365-D7A0-421C-9448-68D4DDFF063B}"/>
                </a:ext>
              </a:extLst>
            </p:cNvPr>
            <p:cNvSpPr txBox="1"/>
            <p:nvPr/>
          </p:nvSpPr>
          <p:spPr>
            <a:xfrm>
              <a:off x="6439290" y="1270103"/>
              <a:ext cx="5038047" cy="6578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400" b="1" u="sng"/>
                <a:t>Nevada </a:t>
              </a:r>
              <a:r>
                <a:rPr lang="ko-KR" altLang="en-US" sz="1400" b="1" u="sng"/>
                <a:t>가 이상치라는 것 확인하기</a:t>
              </a:r>
              <a:r>
                <a:rPr lang="en-US" altLang="ko-KR" sz="1400" b="1" u="sng"/>
                <a:t>: car::outlierTest() (</a:t>
              </a:r>
              <a:r>
                <a:rPr lang="ko-KR" altLang="en-US" sz="1400" b="1" u="sng"/>
                <a:t>검증</a:t>
              </a:r>
              <a:r>
                <a:rPr lang="en-US" altLang="ko-KR" sz="1400" b="1" u="sng"/>
                <a:t>) 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200"/>
                <a:t> : car </a:t>
              </a:r>
              <a:r>
                <a:rPr lang="ko-KR" altLang="en-US" sz="1200"/>
                <a:t>이라는 </a:t>
              </a:r>
              <a:r>
                <a:rPr lang="en-US" altLang="ko-KR" sz="1200"/>
                <a:t>R</a:t>
              </a:r>
              <a:r>
                <a:rPr lang="ko-KR" altLang="en-US" sz="1200"/>
                <a:t>패키지의 </a:t>
              </a:r>
              <a:r>
                <a:rPr lang="en-US" altLang="ko-KR" sz="1200"/>
                <a:t>outlierTest </a:t>
              </a:r>
              <a:r>
                <a:rPr lang="ko-KR" altLang="en-US" sz="1200"/>
                <a:t>함수 사용</a:t>
              </a:r>
            </a:p>
          </p:txBody>
        </p:sp>
        <p:grpSp>
          <p:nvGrpSpPr>
            <p:cNvPr id="17" name="그룹 16" descr="1단계를 나타내는 숫자 1이 표시된 작은 원">
              <a:extLst>
                <a:ext uri="{FF2B5EF4-FFF2-40B4-BE49-F238E27FC236}">
                  <a16:creationId xmlns:a16="http://schemas.microsoft.com/office/drawing/2014/main" id="{9A68AB4A-4C68-40D2-8924-43263B23DC9C}"/>
                </a:ext>
              </a:extLst>
            </p:cNvPr>
            <p:cNvGrpSpPr/>
            <p:nvPr/>
          </p:nvGrpSpPr>
          <p:grpSpPr bwMode="blackWhite">
            <a:xfrm>
              <a:off x="5899711" y="1394088"/>
              <a:ext cx="558179" cy="409838"/>
              <a:chOff x="6953426" y="711274"/>
              <a:chExt cx="558179" cy="409838"/>
            </a:xfrm>
          </p:grpSpPr>
          <p:sp>
            <p:nvSpPr>
              <p:cNvPr id="18" name="타원 17" descr="작은 원">
                <a:extLst>
                  <a:ext uri="{FF2B5EF4-FFF2-40B4-BE49-F238E27FC236}">
                    <a16:creationId xmlns:a16="http://schemas.microsoft.com/office/drawing/2014/main" id="{A00B2618-1DA8-4420-BE2C-FDFEFFBA0911}"/>
                  </a:ext>
                </a:extLst>
              </p:cNvPr>
              <p:cNvSpPr/>
              <p:nvPr/>
            </p:nvSpPr>
            <p:spPr bwMode="blackWhite">
              <a:xfrm>
                <a:off x="7025069" y="711274"/>
                <a:ext cx="409838" cy="409838"/>
              </a:xfrm>
              <a:prstGeom prst="ellipse">
                <a:avLst/>
              </a:prstGeom>
              <a:solidFill>
                <a:srgbClr val="D247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9" name="텍스트 상자 19" descr="숫자 1">
                <a:extLst>
                  <a:ext uri="{FF2B5EF4-FFF2-40B4-BE49-F238E27FC236}">
                    <a16:creationId xmlns:a16="http://schemas.microsoft.com/office/drawing/2014/main" id="{B03DC7CB-D64B-4202-BA3F-0D54892E092D}"/>
                  </a:ext>
                </a:extLst>
              </p:cNvPr>
              <p:cNvSpPr txBox="1">
                <a:spLocks noChangeAspect="1"/>
              </p:cNvSpPr>
              <p:nvPr/>
            </p:nvSpPr>
            <p:spPr bwMode="blackWhite">
              <a:xfrm>
                <a:off x="6953426" y="727564"/>
                <a:ext cx="558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altLang="ko-KR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2</a:t>
                </a:r>
                <a:endParaRPr lang="ko-KR" altLang="en-US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endParaRPr>
              </a:p>
            </p:txBody>
          </p:sp>
        </p:grpSp>
      </p:grpSp>
      <p:grpSp>
        <p:nvGrpSpPr>
          <p:cNvPr id="20" name="그룹 19" descr="1단계를 나타내는 숫자 1이 표시된 작은 원">
            <a:extLst>
              <a:ext uri="{FF2B5EF4-FFF2-40B4-BE49-F238E27FC236}">
                <a16:creationId xmlns:a16="http://schemas.microsoft.com/office/drawing/2014/main" id="{099B9E65-574D-44B4-AC6E-3A81DC6C8FE0}"/>
              </a:ext>
            </a:extLst>
          </p:cNvPr>
          <p:cNvGrpSpPr/>
          <p:nvPr/>
        </p:nvGrpSpPr>
        <p:grpSpPr bwMode="blackWhite">
          <a:xfrm>
            <a:off x="288730" y="1435367"/>
            <a:ext cx="558179" cy="409838"/>
            <a:chOff x="6953426" y="711274"/>
            <a:chExt cx="558179" cy="409838"/>
          </a:xfrm>
        </p:grpSpPr>
        <p:sp>
          <p:nvSpPr>
            <p:cNvPr id="21" name="타원 20" descr="작은 원">
              <a:extLst>
                <a:ext uri="{FF2B5EF4-FFF2-40B4-BE49-F238E27FC236}">
                  <a16:creationId xmlns:a16="http://schemas.microsoft.com/office/drawing/2014/main" id="{CE5D5632-CB0D-411C-8CC0-72842ABD29C9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" name="텍스트 상자 19" descr="숫자 1">
              <a:extLst>
                <a:ext uri="{FF2B5EF4-FFF2-40B4-BE49-F238E27FC236}">
                  <a16:creationId xmlns:a16="http://schemas.microsoft.com/office/drawing/2014/main" id="{55C65054-8BAF-4A80-A8F7-6DFAA3D5FDC9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-KR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1</a:t>
              </a:r>
              <a:endPara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1ABA156-1FFF-4A47-9894-68C83C68FC77}"/>
              </a:ext>
            </a:extLst>
          </p:cNvPr>
          <p:cNvSpPr txBox="1"/>
          <p:nvPr/>
        </p:nvSpPr>
        <p:spPr>
          <a:xfrm>
            <a:off x="846909" y="2688360"/>
            <a:ext cx="2253342" cy="4616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/>
              <a:t>등분산성 검토 </a:t>
            </a:r>
            <a:r>
              <a:rPr lang="en-US" altLang="ko-KR" sz="1200" b="1"/>
              <a:t>: </a:t>
            </a:r>
            <a:r>
              <a:rPr lang="ko-KR" altLang="en-US" sz="1200" b="1"/>
              <a:t>안정적</a:t>
            </a:r>
            <a:endParaRPr lang="en-US" altLang="ko-KR" sz="1200" b="1"/>
          </a:p>
          <a:p>
            <a:pPr algn="ctr"/>
            <a:r>
              <a:rPr lang="en-US" altLang="ko-KR" sz="1200" b="1"/>
              <a:t>Nevada </a:t>
            </a:r>
            <a:r>
              <a:rPr lang="ko-KR" altLang="en-US" sz="1200" b="1"/>
              <a:t>이상치 확인 필요</a:t>
            </a:r>
            <a:endParaRPr lang="ko-KR" altLang="en-US" sz="1100" b="1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5F11117-1A6A-4FB5-B6D2-6B5F2C55D640}"/>
              </a:ext>
            </a:extLst>
          </p:cNvPr>
          <p:cNvSpPr/>
          <p:nvPr/>
        </p:nvSpPr>
        <p:spPr>
          <a:xfrm>
            <a:off x="700251" y="2501136"/>
            <a:ext cx="4913121" cy="3988294"/>
          </a:xfrm>
          <a:prstGeom prst="rect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C5AB68F-6A93-47FB-92D7-C26EC361BFB8}"/>
              </a:ext>
            </a:extLst>
          </p:cNvPr>
          <p:cNvSpPr/>
          <p:nvPr/>
        </p:nvSpPr>
        <p:spPr>
          <a:xfrm>
            <a:off x="1141343" y="4336731"/>
            <a:ext cx="1872343" cy="1254176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262D28FB-6C93-4AB9-B623-26906411A76C}"/>
              </a:ext>
            </a:extLst>
          </p:cNvPr>
          <p:cNvCxnSpPr>
            <a:cxnSpLocks/>
          </p:cNvCxnSpPr>
          <p:nvPr/>
        </p:nvCxnSpPr>
        <p:spPr>
          <a:xfrm>
            <a:off x="1141343" y="4933313"/>
            <a:ext cx="1872343" cy="0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09D232E-2D90-4597-AF2F-E2B5D7F0F7F8}"/>
              </a:ext>
            </a:extLst>
          </p:cNvPr>
          <p:cNvSpPr txBox="1"/>
          <p:nvPr/>
        </p:nvSpPr>
        <p:spPr>
          <a:xfrm>
            <a:off x="925596" y="3211840"/>
            <a:ext cx="2303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/>
              <a:t>안정적인 잔차 분포 </a:t>
            </a:r>
            <a:r>
              <a:rPr lang="en-US" altLang="ko-KR" sz="1200" b="1"/>
              <a:t>= </a:t>
            </a:r>
            <a:r>
              <a:rPr lang="ko-KR" altLang="en-US" sz="1200" b="1"/>
              <a:t>등분산성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17C3FA-7385-4873-8CCE-BD72BA1B6360}"/>
              </a:ext>
            </a:extLst>
          </p:cNvPr>
          <p:cNvSpPr txBox="1"/>
          <p:nvPr/>
        </p:nvSpPr>
        <p:spPr>
          <a:xfrm>
            <a:off x="3224349" y="2685225"/>
            <a:ext cx="2253342" cy="4616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/>
              <a:t>정규성 검토 </a:t>
            </a:r>
            <a:r>
              <a:rPr lang="en-US" altLang="ko-KR" sz="1200" b="1"/>
              <a:t>: </a:t>
            </a:r>
            <a:r>
              <a:rPr lang="ko-KR" altLang="en-US" sz="1200" b="1"/>
              <a:t>안정적</a:t>
            </a:r>
            <a:endParaRPr lang="en-US" altLang="ko-KR" sz="1200" b="1"/>
          </a:p>
          <a:p>
            <a:pPr algn="ctr"/>
            <a:r>
              <a:rPr lang="en-US" altLang="ko-KR" sz="1200" b="1"/>
              <a:t>Nevada </a:t>
            </a:r>
            <a:r>
              <a:rPr lang="ko-KR" altLang="en-US" sz="1200" b="1"/>
              <a:t>이상치 확인 필요</a:t>
            </a:r>
            <a:endParaRPr lang="ko-KR" altLang="en-US" sz="1100" b="1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3B03D50-901C-4B03-93F1-CA65152C9D40}"/>
              </a:ext>
            </a:extLst>
          </p:cNvPr>
          <p:cNvSpPr txBox="1"/>
          <p:nvPr/>
        </p:nvSpPr>
        <p:spPr>
          <a:xfrm>
            <a:off x="3235904" y="3212688"/>
            <a:ext cx="2303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/>
              <a:t>안정적인 잔차 분포 </a:t>
            </a:r>
            <a:r>
              <a:rPr lang="en-US" altLang="ko-KR" sz="1200" b="1"/>
              <a:t>= </a:t>
            </a:r>
            <a:r>
              <a:rPr lang="ko-KR" altLang="en-US" sz="1200" b="1"/>
              <a:t>등분산성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0BF9004-BAF8-4DEB-BD10-62DA1783E75D}"/>
              </a:ext>
            </a:extLst>
          </p:cNvPr>
          <p:cNvGrpSpPr/>
          <p:nvPr/>
        </p:nvGrpSpPr>
        <p:grpSpPr>
          <a:xfrm>
            <a:off x="5899711" y="3429000"/>
            <a:ext cx="5649269" cy="657809"/>
            <a:chOff x="5899711" y="3429000"/>
            <a:chExt cx="5649269" cy="657809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B498EB5-1279-4D60-89CF-237A5B873144}"/>
                </a:ext>
              </a:extLst>
            </p:cNvPr>
            <p:cNvSpPr txBox="1"/>
            <p:nvPr/>
          </p:nvSpPr>
          <p:spPr>
            <a:xfrm>
              <a:off x="6510933" y="3429000"/>
              <a:ext cx="5038047" cy="6578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400" b="1" u="sng"/>
                <a:t>이상치인 </a:t>
              </a:r>
              <a:r>
                <a:rPr lang="en-US" altLang="ko-KR" sz="1400" b="1" u="sng"/>
                <a:t>Nevada </a:t>
              </a:r>
              <a:r>
                <a:rPr lang="ko-KR" altLang="en-US" sz="1400" b="1" u="sng"/>
                <a:t>제거 후 재모형화</a:t>
              </a:r>
              <a:r>
                <a:rPr lang="en-US" altLang="ko-KR" sz="1400" b="1" u="sng"/>
                <a:t> 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200"/>
                <a:t> : car </a:t>
              </a:r>
              <a:r>
                <a:rPr lang="ko-KR" altLang="en-US" sz="1200"/>
                <a:t>이라는 </a:t>
              </a:r>
              <a:r>
                <a:rPr lang="en-US" altLang="ko-KR" sz="1200"/>
                <a:t>R</a:t>
              </a:r>
              <a:r>
                <a:rPr lang="ko-KR" altLang="en-US" sz="1200"/>
                <a:t>패키지의 </a:t>
              </a:r>
              <a:r>
                <a:rPr lang="en-US" altLang="ko-KR" sz="1200"/>
                <a:t>outlierTest </a:t>
              </a:r>
              <a:r>
                <a:rPr lang="ko-KR" altLang="en-US" sz="1200"/>
                <a:t>함수 사용</a:t>
              </a:r>
            </a:p>
          </p:txBody>
        </p:sp>
        <p:grpSp>
          <p:nvGrpSpPr>
            <p:cNvPr id="46" name="그룹 45" descr="1단계를 나타내는 숫자 1이 표시된 작은 원">
              <a:extLst>
                <a:ext uri="{FF2B5EF4-FFF2-40B4-BE49-F238E27FC236}">
                  <a16:creationId xmlns:a16="http://schemas.microsoft.com/office/drawing/2014/main" id="{80D6B694-6148-4854-B51E-0275D8DA5050}"/>
                </a:ext>
              </a:extLst>
            </p:cNvPr>
            <p:cNvGrpSpPr/>
            <p:nvPr/>
          </p:nvGrpSpPr>
          <p:grpSpPr bwMode="blackWhite">
            <a:xfrm>
              <a:off x="5899711" y="3552985"/>
              <a:ext cx="558179" cy="409838"/>
              <a:chOff x="6953426" y="711274"/>
              <a:chExt cx="558179" cy="409838"/>
            </a:xfrm>
          </p:grpSpPr>
          <p:sp>
            <p:nvSpPr>
              <p:cNvPr id="47" name="타원 46" descr="작은 원">
                <a:extLst>
                  <a:ext uri="{FF2B5EF4-FFF2-40B4-BE49-F238E27FC236}">
                    <a16:creationId xmlns:a16="http://schemas.microsoft.com/office/drawing/2014/main" id="{1E20FEAD-C575-4BD7-816F-CD0D784D958B}"/>
                  </a:ext>
                </a:extLst>
              </p:cNvPr>
              <p:cNvSpPr/>
              <p:nvPr/>
            </p:nvSpPr>
            <p:spPr bwMode="blackWhite">
              <a:xfrm>
                <a:off x="7025069" y="711274"/>
                <a:ext cx="409838" cy="409838"/>
              </a:xfrm>
              <a:prstGeom prst="ellipse">
                <a:avLst/>
              </a:prstGeom>
              <a:solidFill>
                <a:srgbClr val="D247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48" name="텍스트 상자 19" descr="숫자 1">
                <a:extLst>
                  <a:ext uri="{FF2B5EF4-FFF2-40B4-BE49-F238E27FC236}">
                    <a16:creationId xmlns:a16="http://schemas.microsoft.com/office/drawing/2014/main" id="{7D4D57C6-A755-42C5-9113-E8540101184D}"/>
                  </a:ext>
                </a:extLst>
              </p:cNvPr>
              <p:cNvSpPr txBox="1">
                <a:spLocks noChangeAspect="1"/>
              </p:cNvSpPr>
              <p:nvPr/>
            </p:nvSpPr>
            <p:spPr bwMode="blackWhite">
              <a:xfrm>
                <a:off x="6953426" y="727564"/>
                <a:ext cx="558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altLang="ko-KR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3</a:t>
                </a:r>
                <a:endParaRPr lang="ko-KR" altLang="en-US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endParaRPr>
              </a:p>
            </p:txBody>
          </p:sp>
        </p:grpSp>
      </p:grp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8AF411E-F85F-48AB-82F1-A1A5B2B9D03C}"/>
              </a:ext>
            </a:extLst>
          </p:cNvPr>
          <p:cNvSpPr/>
          <p:nvPr/>
        </p:nvSpPr>
        <p:spPr>
          <a:xfrm>
            <a:off x="10628571" y="5396956"/>
            <a:ext cx="844172" cy="226422"/>
          </a:xfrm>
          <a:prstGeom prst="rect">
            <a:avLst/>
          </a:prstGeom>
          <a:noFill/>
          <a:ln w="28575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8858A59-163D-4606-BF0E-F33DEDA1218E}"/>
              </a:ext>
            </a:extLst>
          </p:cNvPr>
          <p:cNvSpPr/>
          <p:nvPr/>
        </p:nvSpPr>
        <p:spPr>
          <a:xfrm>
            <a:off x="10197734" y="5903235"/>
            <a:ext cx="557349" cy="222067"/>
          </a:xfrm>
          <a:prstGeom prst="rect">
            <a:avLst/>
          </a:prstGeom>
          <a:noFill/>
          <a:ln w="28575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68980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3">
            <a:extLst>
              <a:ext uri="{FF2B5EF4-FFF2-40B4-BE49-F238E27FC236}">
                <a16:creationId xmlns:a16="http://schemas.microsoft.com/office/drawing/2014/main" id="{8BEBE70D-A3AF-4C2A-9778-03592DD35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1" y="448056"/>
            <a:ext cx="11513820" cy="640080"/>
          </a:xfrm>
        </p:spPr>
        <p:txBody>
          <a:bodyPr rtlCol="0">
            <a:normAutofit fontScale="90000"/>
          </a:bodyPr>
          <a:lstStyle/>
          <a:p>
            <a:r>
              <a:rPr lang="en-US" altLang="ko-KR" b="1">
                <a:cs typeface="Segoe UI Light" panose="020B0502040204020203" pitchFamily="34" charset="0"/>
              </a:rPr>
              <a:t>2.6 </a:t>
            </a:r>
            <a:r>
              <a:rPr lang="ko-KR" altLang="en-US" b="1">
                <a:cs typeface="Segoe UI Light" panose="020B0502040204020203" pitchFamily="34" charset="0"/>
              </a:rPr>
              <a:t>모형성능개선 </a:t>
            </a:r>
            <a:r>
              <a:rPr lang="en-US" altLang="ko-KR" b="1">
                <a:cs typeface="Segoe UI Light" panose="020B0502040204020203" pitchFamily="34" charset="0"/>
              </a:rPr>
              <a:t>:</a:t>
            </a:r>
            <a:br>
              <a:rPr lang="en-US" altLang="ko-KR" b="1">
                <a:cs typeface="Segoe UI Light" panose="020B0502040204020203" pitchFamily="34" charset="0"/>
              </a:rPr>
            </a:br>
            <a:r>
              <a:rPr lang="en-US" altLang="ko-KR" b="1">
                <a:cs typeface="Segoe UI Light" panose="020B0502040204020203" pitchFamily="34" charset="0"/>
              </a:rPr>
              <a:t>   </a:t>
            </a:r>
            <a:r>
              <a:rPr lang="ko-KR" altLang="en-US" b="1">
                <a:solidFill>
                  <a:schemeClr val="accent2">
                    <a:lumMod val="75000"/>
                  </a:schemeClr>
                </a:solidFill>
                <a:cs typeface="Segoe UI Light" panose="020B0502040204020203" pitchFamily="34" charset="0"/>
              </a:rPr>
              <a:t>이상치 제거 후 </a:t>
            </a:r>
            <a:r>
              <a:rPr lang="en-US" altLang="ko-KR" b="1">
                <a:solidFill>
                  <a:schemeClr val="accent2">
                    <a:lumMod val="75000"/>
                  </a:schemeClr>
                </a:solidFill>
                <a:cs typeface="Segoe UI Light" panose="020B0502040204020203" pitchFamily="34" charset="0"/>
              </a:rPr>
              <a:t>+2.08% </a:t>
            </a:r>
            <a:r>
              <a:rPr lang="ko-KR" altLang="en-US" b="1">
                <a:solidFill>
                  <a:schemeClr val="accent2">
                    <a:lumMod val="75000"/>
                  </a:schemeClr>
                </a:solidFill>
                <a:cs typeface="Segoe UI Light" panose="020B0502040204020203" pitchFamily="34" charset="0"/>
              </a:rPr>
              <a:t>모형설명력 개선</a:t>
            </a:r>
            <a:r>
              <a:rPr lang="en-US" altLang="ko-KR" b="1">
                <a:solidFill>
                  <a:schemeClr val="accent2">
                    <a:lumMod val="75000"/>
                  </a:schemeClr>
                </a:solidFill>
                <a:cs typeface="Segoe UI Light" panose="020B0502040204020203" pitchFamily="34" charset="0"/>
              </a:rPr>
              <a:t>(</a:t>
            </a:r>
            <a:r>
              <a:rPr lang="ko-KR" altLang="en-US" b="1">
                <a:solidFill>
                  <a:schemeClr val="accent2">
                    <a:lumMod val="75000"/>
                  </a:schemeClr>
                </a:solidFill>
                <a:cs typeface="Segoe UI Light" panose="020B0502040204020203" pitchFamily="34" charset="0"/>
              </a:rPr>
              <a:t>다중공선성 문제없음</a:t>
            </a:r>
            <a:r>
              <a:rPr lang="en-US" altLang="ko-KR" b="1">
                <a:solidFill>
                  <a:schemeClr val="accent2">
                    <a:lumMod val="75000"/>
                  </a:schemeClr>
                </a:solidFill>
                <a:cs typeface="Segoe UI Light" panose="020B0502040204020203" pitchFamily="34" charset="0"/>
              </a:rPr>
              <a:t>)</a:t>
            </a:r>
            <a:endParaRPr lang="ko-KR" altLang="en-US" b="1" dirty="0">
              <a:solidFill>
                <a:schemeClr val="accent2">
                  <a:lumMod val="75000"/>
                </a:schemeClr>
              </a:solidFill>
              <a:cs typeface="Segoe UI Light" panose="020B0502040204020203" pitchFamily="34" charset="0"/>
            </a:endParaRP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9D4F7BE0-5188-4091-BF94-A00EE2C1BD2B}"/>
              </a:ext>
            </a:extLst>
          </p:cNvPr>
          <p:cNvSpPr txBox="1">
            <a:spLocks/>
          </p:cNvSpPr>
          <p:nvPr/>
        </p:nvSpPr>
        <p:spPr>
          <a:xfrm>
            <a:off x="510346" y="1235341"/>
            <a:ext cx="11345218" cy="7239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1400" b="1"/>
              <a:t>모형 개선 효과 </a:t>
            </a:r>
            <a:r>
              <a:rPr lang="en-US" altLang="ko-KR" sz="1400" b="1"/>
              <a:t>: </a:t>
            </a:r>
            <a:r>
              <a:rPr lang="ko-KR" altLang="en-US" sz="1400" b="1"/>
              <a:t>모형 성능</a:t>
            </a:r>
            <a:r>
              <a:rPr lang="en-US" altLang="ko-KR" sz="1400" b="1"/>
              <a:t>(</a:t>
            </a:r>
            <a:r>
              <a:rPr lang="ko-KR" altLang="en-US" sz="1400" b="1"/>
              <a:t>정확도</a:t>
            </a:r>
            <a:r>
              <a:rPr lang="en-US" altLang="ko-KR" sz="1400" b="1"/>
              <a:t>) </a:t>
            </a:r>
            <a:r>
              <a:rPr lang="ko-KR" altLang="en-US" sz="1400" b="1"/>
              <a:t>개선하여 수정결정계수가 추가상승함 </a:t>
            </a:r>
            <a:r>
              <a:rPr lang="en-US" altLang="ko-KR" sz="1400" b="1"/>
              <a:t>: </a:t>
            </a:r>
            <a:br>
              <a:rPr lang="en-US" altLang="ko-KR" sz="1400" b="1"/>
            </a:br>
            <a:r>
              <a:rPr lang="en-US" altLang="ko-KR" sz="1400" b="1"/>
              <a:t>			(</a:t>
            </a:r>
            <a:r>
              <a:rPr lang="ko-KR" altLang="en-US" sz="1400" b="1"/>
              <a:t>개선후</a:t>
            </a:r>
            <a:r>
              <a:rPr lang="en-US" altLang="ko-KR" sz="1400" b="1"/>
              <a:t>:</a:t>
            </a:r>
            <a:r>
              <a:rPr lang="ko-KR" altLang="en-US" sz="1400" b="1"/>
              <a:t>최종모형</a:t>
            </a:r>
            <a:r>
              <a:rPr lang="en-US" altLang="ko-KR" sz="1400" b="1"/>
              <a:t>) 0.924 - (</a:t>
            </a:r>
            <a:r>
              <a:rPr lang="ko-KR" altLang="en-US" sz="1400" b="1"/>
              <a:t>개선 전</a:t>
            </a:r>
            <a:r>
              <a:rPr lang="en-US" altLang="ko-KR" sz="1400" b="1"/>
              <a:t>:</a:t>
            </a:r>
            <a:r>
              <a:rPr lang="ko-KR" altLang="en-US" sz="1400" b="1"/>
              <a:t>모형</a:t>
            </a:r>
            <a:r>
              <a:rPr lang="en-US" altLang="ko-KR" sz="1400" b="1"/>
              <a:t>5)0.9032 = 0.0208 ( 2.08% </a:t>
            </a:r>
            <a:r>
              <a:rPr lang="ko-KR" altLang="en-US" sz="1400" b="1"/>
              <a:t>상승</a:t>
            </a:r>
            <a:r>
              <a:rPr lang="en-US" altLang="ko-KR" sz="1400" b="1"/>
              <a:t>)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177F96A-614C-4105-AC57-70F7F7DEF7E8}"/>
              </a:ext>
            </a:extLst>
          </p:cNvPr>
          <p:cNvGrpSpPr/>
          <p:nvPr/>
        </p:nvGrpSpPr>
        <p:grpSpPr>
          <a:xfrm>
            <a:off x="437605" y="1847369"/>
            <a:ext cx="8001001" cy="4403414"/>
            <a:chOff x="437605" y="1847369"/>
            <a:chExt cx="9846634" cy="4403414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7B4F56C2-AD30-4844-8C3C-C3C39764687E}"/>
                </a:ext>
              </a:extLst>
            </p:cNvPr>
            <p:cNvGrpSpPr/>
            <p:nvPr/>
          </p:nvGrpSpPr>
          <p:grpSpPr>
            <a:xfrm>
              <a:off x="437605" y="1875021"/>
              <a:ext cx="4595751" cy="4375762"/>
              <a:chOff x="472441" y="1875021"/>
              <a:chExt cx="4595751" cy="4375762"/>
            </a:xfrm>
          </p:grpSpPr>
          <p:pic>
            <p:nvPicPr>
              <p:cNvPr id="26" name="그림 25">
                <a:extLst>
                  <a:ext uri="{FF2B5EF4-FFF2-40B4-BE49-F238E27FC236}">
                    <a16:creationId xmlns:a16="http://schemas.microsoft.com/office/drawing/2014/main" id="{A5CCEB7D-4B20-4A83-B7D8-BFE998DE63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27754" y="1875021"/>
                <a:ext cx="3940438" cy="4375762"/>
              </a:xfrm>
              <a:prstGeom prst="rect">
                <a:avLst/>
              </a:prstGeom>
            </p:spPr>
          </p:pic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96BDB566-FEC8-4533-B885-13326004012E}"/>
                  </a:ext>
                </a:extLst>
              </p:cNvPr>
              <p:cNvSpPr/>
              <p:nvPr/>
            </p:nvSpPr>
            <p:spPr>
              <a:xfrm>
                <a:off x="2785661" y="5640374"/>
                <a:ext cx="1385745" cy="279387"/>
              </a:xfrm>
              <a:prstGeom prst="rect">
                <a:avLst/>
              </a:prstGeom>
              <a:noFill/>
              <a:ln w="381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EEB06182-4249-4BB2-8D05-1AA0F6A097EA}"/>
                  </a:ext>
                </a:extLst>
              </p:cNvPr>
              <p:cNvSpPr/>
              <p:nvPr/>
            </p:nvSpPr>
            <p:spPr>
              <a:xfrm>
                <a:off x="472441" y="1875022"/>
                <a:ext cx="653274" cy="510632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/>
                  <a:t>모형</a:t>
                </a:r>
                <a:r>
                  <a:rPr lang="en-US" altLang="ko-KR" sz="1200"/>
                  <a:t>5</a:t>
                </a:r>
                <a:endParaRPr lang="ko-KR" altLang="en-US" sz="1200"/>
              </a:p>
            </p:txBody>
          </p:sp>
        </p:grp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84832221-1820-42BD-94AF-927D76A250B9}"/>
                </a:ext>
              </a:extLst>
            </p:cNvPr>
            <p:cNvGrpSpPr/>
            <p:nvPr/>
          </p:nvGrpSpPr>
          <p:grpSpPr>
            <a:xfrm>
              <a:off x="5159552" y="1847369"/>
              <a:ext cx="5124687" cy="4375762"/>
              <a:chOff x="6544215" y="1847369"/>
              <a:chExt cx="5124687" cy="4375762"/>
            </a:xfrm>
          </p:grpSpPr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635FDD26-1A3B-401F-9FF7-81EFFF711A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92109" y="1847369"/>
                <a:ext cx="4476793" cy="4375762"/>
              </a:xfrm>
              <a:prstGeom prst="rect">
                <a:avLst/>
              </a:prstGeom>
            </p:spPr>
          </p:pic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29BC6FEB-3F3E-4223-B1EF-9CE8F1AC049E}"/>
                  </a:ext>
                </a:extLst>
              </p:cNvPr>
              <p:cNvSpPr/>
              <p:nvPr/>
            </p:nvSpPr>
            <p:spPr>
              <a:xfrm>
                <a:off x="6544215" y="1850158"/>
                <a:ext cx="653274" cy="535495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/>
                  <a:t>최종</a:t>
                </a:r>
                <a:endParaRPr lang="en-US" altLang="ko-KR" sz="1200"/>
              </a:p>
              <a:p>
                <a:pPr algn="ctr"/>
                <a:r>
                  <a:rPr lang="ko-KR" altLang="en-US" sz="1200"/>
                  <a:t>모형</a:t>
                </a: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771FAF6F-6A0E-4595-A9DF-3B7E10FDF174}"/>
                  </a:ext>
                </a:extLst>
              </p:cNvPr>
              <p:cNvSpPr/>
              <p:nvPr/>
            </p:nvSpPr>
            <p:spPr>
              <a:xfrm>
                <a:off x="8798929" y="5853734"/>
                <a:ext cx="1512020" cy="279387"/>
              </a:xfrm>
              <a:prstGeom prst="rect">
                <a:avLst/>
              </a:prstGeom>
              <a:noFill/>
              <a:ln w="381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3AB758B8-B62D-477B-8144-4CD00F73E170}"/>
                </a:ext>
              </a:extLst>
            </p:cNvPr>
            <p:cNvGrpSpPr/>
            <p:nvPr/>
          </p:nvGrpSpPr>
          <p:grpSpPr>
            <a:xfrm>
              <a:off x="3747115" y="4224738"/>
              <a:ext cx="6247474" cy="952102"/>
              <a:chOff x="4368272" y="4670557"/>
              <a:chExt cx="6247474" cy="952102"/>
            </a:xfrm>
          </p:grpSpPr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AA83A830-55D9-4A79-AEE5-32EE95308F8B}"/>
                  </a:ext>
                </a:extLst>
              </p:cNvPr>
              <p:cNvGrpSpPr/>
              <p:nvPr/>
            </p:nvGrpSpPr>
            <p:grpSpPr>
              <a:xfrm>
                <a:off x="8544961" y="4670557"/>
                <a:ext cx="2070785" cy="952102"/>
                <a:chOff x="8798929" y="4809057"/>
                <a:chExt cx="1970722" cy="952102"/>
              </a:xfrm>
            </p:grpSpPr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345DFAA9-66DF-4CF8-AC9D-726F8E3B0565}"/>
                    </a:ext>
                  </a:extLst>
                </p:cNvPr>
                <p:cNvSpPr txBox="1"/>
                <p:nvPr/>
              </p:nvSpPr>
              <p:spPr>
                <a:xfrm>
                  <a:off x="8798929" y="4809057"/>
                  <a:ext cx="1479221" cy="892552"/>
                </a:xfrm>
                <a:prstGeom prst="rect">
                  <a:avLst/>
                </a:prstGeom>
                <a:ln w="571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600"/>
                    <a:t>모형</a:t>
                  </a:r>
                  <a:endParaRPr lang="en-US" altLang="ko-KR" sz="1600"/>
                </a:p>
                <a:p>
                  <a:pPr algn="ctr"/>
                  <a:r>
                    <a:rPr lang="ko-KR" altLang="en-US" sz="1600"/>
                    <a:t>성능 개선율</a:t>
                  </a:r>
                  <a:endParaRPr lang="en-US" altLang="ko-KR" sz="1600"/>
                </a:p>
                <a:p>
                  <a:pPr algn="ctr"/>
                  <a:r>
                    <a:rPr lang="en-US" altLang="ko-KR" sz="2000" b="1">
                      <a:solidFill>
                        <a:schemeClr val="accent1">
                          <a:lumMod val="75000"/>
                        </a:schemeClr>
                      </a:solidFill>
                    </a:rPr>
                    <a:t>+2.08%</a:t>
                  </a:r>
                  <a:endParaRPr lang="ko-KR" altLang="en-US" sz="2000" b="1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40" name="화살표: 오른쪽 39">
                  <a:extLst>
                    <a:ext uri="{FF2B5EF4-FFF2-40B4-BE49-F238E27FC236}">
                      <a16:creationId xmlns:a16="http://schemas.microsoft.com/office/drawing/2014/main" id="{84A1AA51-BE03-4A91-83C6-0FED20E8277A}"/>
                    </a:ext>
                  </a:extLst>
                </p:cNvPr>
                <p:cNvSpPr/>
                <p:nvPr/>
              </p:nvSpPr>
              <p:spPr>
                <a:xfrm rot="16200000">
                  <a:off x="10128147" y="5119654"/>
                  <a:ext cx="885196" cy="397813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B3547F1-72DB-449A-9FDD-5E05A112739F}"/>
                  </a:ext>
                </a:extLst>
              </p:cNvPr>
              <p:cNvSpPr txBox="1"/>
              <p:nvPr/>
            </p:nvSpPr>
            <p:spPr>
              <a:xfrm>
                <a:off x="4368272" y="4670557"/>
                <a:ext cx="1908561" cy="892552"/>
              </a:xfrm>
              <a:prstGeom prst="rect">
                <a:avLst/>
              </a:prstGeom>
              <a:ln w="5715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600"/>
                  <a:t>모형</a:t>
                </a:r>
                <a:r>
                  <a:rPr lang="en-US" altLang="ko-KR" sz="1600"/>
                  <a:t>5 </a:t>
                </a:r>
                <a:r>
                  <a:rPr lang="ko-KR" altLang="en-US" sz="1600"/>
                  <a:t>수정결정계수</a:t>
                </a:r>
                <a:endParaRPr lang="en-US" altLang="ko-KR" sz="1600"/>
              </a:p>
              <a:p>
                <a:pPr algn="ctr"/>
                <a:r>
                  <a:rPr lang="en-US" altLang="ko-KR" sz="2000" b="1">
                    <a:solidFill>
                      <a:schemeClr val="accent1">
                        <a:lumMod val="75000"/>
                      </a:schemeClr>
                    </a:solidFill>
                  </a:rPr>
                  <a:t>90.32%</a:t>
                </a:r>
                <a:endParaRPr lang="ko-KR" altLang="en-US" sz="2000" b="1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51A5C31-C06A-48DF-871C-1965AEA330FB}"/>
                  </a:ext>
                </a:extLst>
              </p:cNvPr>
              <p:cNvSpPr txBox="1"/>
              <p:nvPr/>
            </p:nvSpPr>
            <p:spPr>
              <a:xfrm>
                <a:off x="6463495" y="4670557"/>
                <a:ext cx="1908561" cy="892552"/>
              </a:xfrm>
              <a:prstGeom prst="rect">
                <a:avLst/>
              </a:prstGeom>
              <a:ln w="5715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600"/>
                  <a:t>최종모형</a:t>
                </a:r>
                <a:r>
                  <a:rPr lang="en-US" altLang="ko-KR" sz="1600"/>
                  <a:t> </a:t>
                </a:r>
                <a:r>
                  <a:rPr lang="ko-KR" altLang="en-US" sz="1600"/>
                  <a:t>수정결정계수</a:t>
                </a:r>
                <a:endParaRPr lang="en-US" altLang="ko-KR" sz="1600"/>
              </a:p>
              <a:p>
                <a:pPr algn="ctr"/>
                <a:r>
                  <a:rPr lang="en-US" altLang="ko-KR" sz="2000" b="1">
                    <a:solidFill>
                      <a:schemeClr val="accent1">
                        <a:lumMod val="75000"/>
                      </a:schemeClr>
                    </a:solidFill>
                  </a:rPr>
                  <a:t>92.40%</a:t>
                </a:r>
                <a:endParaRPr lang="ko-KR" altLang="en-US" sz="2000" b="1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9BC93C34-FEFF-4941-8335-EA2296EBC7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256" y="2385653"/>
            <a:ext cx="3637672" cy="88519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B52D13D-D939-4622-9A5F-1E8ADD254187}"/>
              </a:ext>
            </a:extLst>
          </p:cNvPr>
          <p:cNvSpPr txBox="1"/>
          <p:nvPr/>
        </p:nvSpPr>
        <p:spPr>
          <a:xfrm>
            <a:off x="8410431" y="1875021"/>
            <a:ext cx="3581322" cy="584775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600"/>
              <a:t>최종모형 다중공선성 검증결과</a:t>
            </a:r>
            <a:endParaRPr lang="en-US" altLang="ko-KR" sz="1600"/>
          </a:p>
          <a:p>
            <a:pPr algn="ctr"/>
            <a:r>
              <a:rPr lang="ko-KR" altLang="en-US" sz="1600" b="1">
                <a:solidFill>
                  <a:schemeClr val="accent1">
                    <a:lumMod val="75000"/>
                  </a:schemeClr>
                </a:solidFill>
              </a:rPr>
              <a:t>다중공선성 문제없음</a:t>
            </a:r>
            <a:endParaRPr lang="ko-KR" altLang="en-US" sz="20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3F76800-8DA8-465C-891D-6F65ECC504CF}"/>
              </a:ext>
            </a:extLst>
          </p:cNvPr>
          <p:cNvSpPr txBox="1"/>
          <p:nvPr/>
        </p:nvSpPr>
        <p:spPr>
          <a:xfrm>
            <a:off x="8438606" y="3742862"/>
            <a:ext cx="3581322" cy="954107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600"/>
              <a:t>최종모형식</a:t>
            </a:r>
            <a:endParaRPr lang="en-US" altLang="ko-KR" sz="1600"/>
          </a:p>
          <a:p>
            <a:pPr algn="ctr"/>
            <a:r>
              <a:rPr lang="fr-FR" altLang="ko-KR" sz="2000" b="1">
                <a:solidFill>
                  <a:schemeClr val="accent1">
                    <a:lumMod val="75000"/>
                  </a:schemeClr>
                </a:solidFill>
              </a:rPr>
              <a:t>Murder= 4.96 * Illiteracy + 0.00029 * Population</a:t>
            </a:r>
            <a:endParaRPr lang="ko-KR" altLang="en-US" sz="2000" b="1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50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CD9D1A-45AF-4454-8D96-29F3C9424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2.6 </a:t>
            </a:r>
            <a:r>
              <a:rPr lang="ko-KR" altLang="en-US"/>
              <a:t>다중회귀분석 최종 예측 모형식 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619C166-F0D6-4F37-A094-6ED7E6AB770A}"/>
              </a:ext>
            </a:extLst>
          </p:cNvPr>
          <p:cNvSpPr txBox="1">
            <a:spLocks/>
          </p:cNvSpPr>
          <p:nvPr/>
        </p:nvSpPr>
        <p:spPr>
          <a:xfrm>
            <a:off x="510345" y="1270177"/>
            <a:ext cx="11333311" cy="3089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600" b="1"/>
              <a:t>[</a:t>
            </a:r>
            <a:r>
              <a:rPr lang="ko-KR" altLang="en-US" sz="1600" b="1"/>
              <a:t>결론</a:t>
            </a:r>
            <a:r>
              <a:rPr lang="en-US" altLang="ko-KR" sz="1600" b="1"/>
              <a:t>] </a:t>
            </a:r>
            <a:r>
              <a:rPr lang="ko-KR" altLang="en-US" sz="1600" b="1"/>
              <a:t>이상치</a:t>
            </a:r>
            <a:r>
              <a:rPr lang="en-US" altLang="ko-KR" sz="1600" b="1"/>
              <a:t>(Nevada)</a:t>
            </a:r>
            <a:r>
              <a:rPr lang="ko-KR" altLang="en-US" sz="1600" b="1"/>
              <a:t>제거 및 추가상관관계 검증 통한 무상관변수인 </a:t>
            </a:r>
            <a:r>
              <a:rPr lang="en-US" altLang="ko-KR" sz="1600" b="1"/>
              <a:t>Area</a:t>
            </a:r>
            <a:r>
              <a:rPr lang="ko-KR" altLang="en-US" sz="1600" b="1"/>
              <a:t>변수제거후</a:t>
            </a:r>
            <a:r>
              <a:rPr lang="en-US" altLang="ko-KR" sz="1600" b="1"/>
              <a:t>, </a:t>
            </a:r>
            <a:r>
              <a:rPr lang="ko-KR" altLang="en-US" sz="1600" b="1"/>
              <a:t>보다 더 적은수의 변수로   </a:t>
            </a:r>
            <a:br>
              <a:rPr lang="en-US" altLang="ko-KR" sz="1600" b="1"/>
            </a:br>
            <a:r>
              <a:rPr lang="en-US" altLang="ko-KR" sz="1600" b="1"/>
              <a:t>        </a:t>
            </a:r>
            <a:r>
              <a:rPr lang="ko-KR" altLang="en-US" sz="1600" b="1"/>
              <a:t>     간략</a:t>
            </a:r>
            <a:r>
              <a:rPr lang="en-US" altLang="ko-KR" sz="1600" b="1"/>
              <a:t>/</a:t>
            </a:r>
            <a:r>
              <a:rPr lang="ko-KR" altLang="en-US" sz="1600" b="1"/>
              <a:t>효율적인 </a:t>
            </a:r>
            <a:r>
              <a:rPr lang="en-US" altLang="ko-KR" sz="1600" b="1"/>
              <a:t>[</a:t>
            </a:r>
            <a:r>
              <a:rPr lang="ko-KR" altLang="en-US" sz="1600" b="1"/>
              <a:t>최적다중회귀분석 예측모형식</a:t>
            </a:r>
            <a:r>
              <a:rPr lang="en-US" altLang="ko-KR" sz="1600" b="1"/>
              <a:t>]</a:t>
            </a:r>
            <a:r>
              <a:rPr lang="ko-KR" altLang="en-US" sz="1600" b="1"/>
              <a:t> 도출함</a:t>
            </a:r>
            <a:r>
              <a:rPr lang="en-US" altLang="ko-KR" sz="1600" b="1"/>
              <a:t>. </a:t>
            </a:r>
            <a:br>
              <a:rPr lang="en-US" altLang="ko-KR" sz="1600" b="1"/>
            </a:br>
            <a:r>
              <a:rPr lang="en-US" altLang="ko-KR" sz="1600" b="1"/>
              <a:t>[</a:t>
            </a:r>
            <a:r>
              <a:rPr lang="ko-KR" altLang="en-US" sz="1600" b="1"/>
              <a:t>효과</a:t>
            </a:r>
            <a:r>
              <a:rPr lang="en-US" altLang="ko-KR" sz="1600" b="1"/>
              <a:t>] (1) </a:t>
            </a:r>
            <a:r>
              <a:rPr lang="ko-KR" altLang="en-US" sz="1600" b="1"/>
              <a:t>모형 성능 개선 </a:t>
            </a:r>
            <a:r>
              <a:rPr lang="en-US" altLang="ko-KR" sz="1600" b="1"/>
              <a:t>: AIC</a:t>
            </a:r>
            <a:r>
              <a:rPr lang="ko-KR" altLang="en-US" sz="1600" b="1"/>
              <a:t>최소화</a:t>
            </a:r>
            <a:r>
              <a:rPr lang="en-US" altLang="ko-KR" sz="1600" b="1"/>
              <a:t>(81.19)+ </a:t>
            </a:r>
            <a:r>
              <a:rPr lang="ko-KR" altLang="en-US" sz="1600" b="1"/>
              <a:t>최종모형 수정 결정계수 개선</a:t>
            </a:r>
            <a:r>
              <a:rPr lang="en-US" altLang="ko-KR" sz="1600" b="1"/>
              <a:t>(92.4%), </a:t>
            </a:r>
            <a:r>
              <a:rPr lang="ko-KR" altLang="en-US" sz="1600" b="1"/>
              <a:t>다중공선성 이슈해결 확인 완료</a:t>
            </a:r>
            <a:endParaRPr lang="en-US" altLang="ko-KR" sz="1600" b="1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D443A83-9628-4AF2-8696-44BB353BED2C}"/>
              </a:ext>
            </a:extLst>
          </p:cNvPr>
          <p:cNvGrpSpPr/>
          <p:nvPr/>
        </p:nvGrpSpPr>
        <p:grpSpPr>
          <a:xfrm>
            <a:off x="521207" y="2157587"/>
            <a:ext cx="5740256" cy="4534988"/>
            <a:chOff x="756339" y="1770018"/>
            <a:chExt cx="6193291" cy="453498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A9CD4C5-EDC8-4C3F-A94A-3D46EE264C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6339" y="1770018"/>
              <a:ext cx="6193291" cy="4534988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9C8DD18-EBBF-477F-9C35-417805692F4A}"/>
                </a:ext>
              </a:extLst>
            </p:cNvPr>
            <p:cNvSpPr/>
            <p:nvPr/>
          </p:nvSpPr>
          <p:spPr>
            <a:xfrm>
              <a:off x="883361" y="5442857"/>
              <a:ext cx="5939246" cy="566057"/>
            </a:xfrm>
            <a:prstGeom prst="rect">
              <a:avLst/>
            </a:prstGeom>
            <a:noFill/>
            <a:ln w="38100">
              <a:solidFill>
                <a:schemeClr val="accent1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BEDBDABA-A7CC-4E13-AB87-3BAF7C58D656}"/>
              </a:ext>
            </a:extLst>
          </p:cNvPr>
          <p:cNvSpPr txBox="1">
            <a:spLocks/>
          </p:cNvSpPr>
          <p:nvPr/>
        </p:nvSpPr>
        <p:spPr>
          <a:xfrm>
            <a:off x="6783977" y="2906763"/>
            <a:ext cx="4994365" cy="30331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1600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8635FC-3C87-4848-8656-EC26F5E8AE40}"/>
              </a:ext>
            </a:extLst>
          </p:cNvPr>
          <p:cNvSpPr txBox="1"/>
          <p:nvPr/>
        </p:nvSpPr>
        <p:spPr>
          <a:xfrm>
            <a:off x="6657052" y="2157587"/>
            <a:ext cx="5186605" cy="4534988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endParaRPr lang="en-US" altLang="ko-KR" sz="1700" b="1">
              <a:solidFill>
                <a:schemeClr val="accent1">
                  <a:lumMod val="75000"/>
                </a:schemeClr>
              </a:solidFill>
            </a:endParaRPr>
          </a:p>
          <a:p>
            <a:pPr>
              <a:tabLst>
                <a:tab pos="182563" algn="l"/>
              </a:tabLst>
            </a:pPr>
            <a:r>
              <a:rPr lang="en-US" altLang="ko-KR" sz="1700" b="1">
                <a:solidFill>
                  <a:schemeClr val="tx1"/>
                </a:solidFill>
              </a:rPr>
              <a:t>1. </a:t>
            </a:r>
            <a:r>
              <a:rPr lang="ko-KR" altLang="en-US" sz="1700" b="1">
                <a:solidFill>
                  <a:schemeClr val="tx1"/>
                </a:solidFill>
              </a:rPr>
              <a:t>다중회귀분석 최종예측모형식 </a:t>
            </a:r>
            <a:r>
              <a:rPr lang="en-US" altLang="ko-KR" sz="1700" b="1">
                <a:solidFill>
                  <a:schemeClr val="tx1"/>
                </a:solidFill>
              </a:rPr>
              <a:t>: </a:t>
            </a:r>
          </a:p>
          <a:p>
            <a:pPr>
              <a:tabLst>
                <a:tab pos="182563" algn="l"/>
              </a:tabLst>
            </a:pPr>
            <a:r>
              <a:rPr lang="en-US" altLang="ko-KR" sz="1700" b="1">
                <a:solidFill>
                  <a:schemeClr val="tx1"/>
                </a:solidFill>
              </a:rPr>
              <a:t>   Murder</a:t>
            </a:r>
            <a:r>
              <a:rPr lang="en-US" altLang="ko-KR" sz="1700">
                <a:solidFill>
                  <a:schemeClr val="tx1"/>
                </a:solidFill>
              </a:rPr>
              <a:t>(</a:t>
            </a:r>
            <a:r>
              <a:rPr lang="ko-KR" altLang="en-US" sz="1700">
                <a:solidFill>
                  <a:schemeClr val="tx1"/>
                </a:solidFill>
              </a:rPr>
              <a:t>미국</a:t>
            </a:r>
            <a:r>
              <a:rPr lang="en-US" altLang="ko-KR" sz="1700">
                <a:solidFill>
                  <a:schemeClr val="tx1"/>
                </a:solidFill>
              </a:rPr>
              <a:t>50</a:t>
            </a:r>
            <a:r>
              <a:rPr lang="ko-KR" altLang="en-US" sz="1700">
                <a:solidFill>
                  <a:schemeClr val="tx1"/>
                </a:solidFill>
              </a:rPr>
              <a:t>개</a:t>
            </a:r>
            <a:r>
              <a:rPr lang="en-US" altLang="ko-KR" sz="1700">
                <a:solidFill>
                  <a:schemeClr val="tx1"/>
                </a:solidFill>
              </a:rPr>
              <a:t> </a:t>
            </a:r>
            <a:r>
              <a:rPr lang="ko-KR" altLang="en-US" sz="1700">
                <a:solidFill>
                  <a:schemeClr val="tx1"/>
                </a:solidFill>
              </a:rPr>
              <a:t>주별 살인율</a:t>
            </a:r>
            <a:r>
              <a:rPr lang="en-US" altLang="ko-KR" sz="1700">
                <a:solidFill>
                  <a:schemeClr val="tx1"/>
                </a:solidFill>
              </a:rPr>
              <a:t>)</a:t>
            </a:r>
            <a:r>
              <a:rPr lang="ko-KR" altLang="en-US" sz="1700">
                <a:solidFill>
                  <a:schemeClr val="tx1"/>
                </a:solidFill>
              </a:rPr>
              <a:t> </a:t>
            </a:r>
            <a:br>
              <a:rPr lang="en-US" altLang="ko-KR" sz="1700">
                <a:solidFill>
                  <a:schemeClr val="tx1"/>
                </a:solidFill>
              </a:rPr>
            </a:br>
            <a:r>
              <a:rPr lang="en-US" altLang="ko-KR" sz="1700">
                <a:solidFill>
                  <a:schemeClr val="tx1"/>
                </a:solidFill>
              </a:rPr>
              <a:t>   = </a:t>
            </a:r>
            <a:r>
              <a:rPr lang="en-US" altLang="ko-KR" sz="1700" b="1">
                <a:solidFill>
                  <a:schemeClr val="tx1"/>
                </a:solidFill>
              </a:rPr>
              <a:t>4.95996 * Illiteracy</a:t>
            </a:r>
            <a:r>
              <a:rPr lang="en-US" altLang="ko-KR" sz="1700">
                <a:solidFill>
                  <a:schemeClr val="tx1"/>
                </a:solidFill>
              </a:rPr>
              <a:t>(</a:t>
            </a:r>
            <a:r>
              <a:rPr lang="ko-KR" altLang="en-US" sz="1700">
                <a:solidFill>
                  <a:schemeClr val="tx1"/>
                </a:solidFill>
              </a:rPr>
              <a:t>문맹율</a:t>
            </a:r>
            <a:r>
              <a:rPr lang="en-US" altLang="ko-KR" sz="1700">
                <a:solidFill>
                  <a:schemeClr val="tx1"/>
                </a:solidFill>
              </a:rPr>
              <a:t>) </a:t>
            </a:r>
            <a:br>
              <a:rPr lang="en-US" altLang="ko-KR" sz="1700">
                <a:solidFill>
                  <a:schemeClr val="tx1"/>
                </a:solidFill>
              </a:rPr>
            </a:br>
            <a:r>
              <a:rPr lang="en-US" altLang="ko-KR" sz="1700">
                <a:solidFill>
                  <a:schemeClr val="tx1"/>
                </a:solidFill>
              </a:rPr>
              <a:t>            + </a:t>
            </a:r>
            <a:r>
              <a:rPr lang="en-US" altLang="ko-KR" sz="1700" b="1">
                <a:solidFill>
                  <a:schemeClr val="tx1"/>
                </a:solidFill>
              </a:rPr>
              <a:t>0.00029 * Population</a:t>
            </a:r>
            <a:r>
              <a:rPr lang="en-US" altLang="ko-KR" sz="1700">
                <a:solidFill>
                  <a:schemeClr val="tx1"/>
                </a:solidFill>
              </a:rPr>
              <a:t>(</a:t>
            </a:r>
            <a:r>
              <a:rPr lang="ko-KR" altLang="en-US" sz="1700">
                <a:solidFill>
                  <a:schemeClr val="tx1"/>
                </a:solidFill>
              </a:rPr>
              <a:t>주별 인구수</a:t>
            </a:r>
            <a:r>
              <a:rPr lang="en-US" altLang="ko-KR" sz="1700">
                <a:solidFill>
                  <a:schemeClr val="tx1"/>
                </a:solidFill>
              </a:rPr>
              <a:t>)</a:t>
            </a:r>
          </a:p>
          <a:p>
            <a:endParaRPr lang="en-US" altLang="ko-KR" sz="1700">
              <a:solidFill>
                <a:schemeClr val="tx1"/>
              </a:solidFill>
            </a:endParaRPr>
          </a:p>
          <a:p>
            <a:r>
              <a:rPr lang="en-US" altLang="ko-KR" sz="1700">
                <a:solidFill>
                  <a:schemeClr val="tx1"/>
                </a:solidFill>
              </a:rPr>
              <a:t>2. </a:t>
            </a:r>
            <a:r>
              <a:rPr lang="ko-KR" altLang="en-US" sz="1700">
                <a:solidFill>
                  <a:schemeClr val="tx1"/>
                </a:solidFill>
              </a:rPr>
              <a:t>최종모형</a:t>
            </a:r>
            <a:r>
              <a:rPr lang="en-US" altLang="ko-KR" sz="1700">
                <a:solidFill>
                  <a:schemeClr val="tx1"/>
                </a:solidFill>
              </a:rPr>
              <a:t> </a:t>
            </a:r>
            <a:r>
              <a:rPr lang="ko-KR" altLang="en-US" sz="1700">
                <a:solidFill>
                  <a:schemeClr val="tx1"/>
                </a:solidFill>
              </a:rPr>
              <a:t>수정결정계수 </a:t>
            </a:r>
            <a:r>
              <a:rPr lang="en-US" altLang="ko-KR" sz="1700">
                <a:solidFill>
                  <a:schemeClr val="tx1"/>
                </a:solidFill>
              </a:rPr>
              <a:t>: </a:t>
            </a:r>
            <a:r>
              <a:rPr lang="en-US" altLang="ko-KR" sz="1700" b="1">
                <a:solidFill>
                  <a:schemeClr val="tx1"/>
                </a:solidFill>
              </a:rPr>
              <a:t>92.40%</a:t>
            </a:r>
            <a:br>
              <a:rPr lang="en-US" altLang="ko-KR" sz="1700">
                <a:solidFill>
                  <a:schemeClr val="tx1"/>
                </a:solidFill>
              </a:rPr>
            </a:br>
            <a:endParaRPr lang="en-US" altLang="ko-KR" sz="1700">
              <a:solidFill>
                <a:schemeClr val="tx1"/>
              </a:solidFill>
            </a:endParaRPr>
          </a:p>
          <a:p>
            <a:r>
              <a:rPr lang="en-US" altLang="ko-KR" sz="1700">
                <a:solidFill>
                  <a:srgbClr val="FF0000"/>
                </a:solidFill>
              </a:rPr>
              <a:t>3. AIC =81.19</a:t>
            </a:r>
            <a:r>
              <a:rPr lang="ko-KR" altLang="en-US" sz="1700">
                <a:solidFill>
                  <a:srgbClr val="FF0000"/>
                </a:solidFill>
              </a:rPr>
              <a:t>로 최소오차</a:t>
            </a:r>
            <a:r>
              <a:rPr lang="en-US" altLang="ko-KR" sz="1700">
                <a:solidFill>
                  <a:srgbClr val="FF0000"/>
                </a:solidFill>
              </a:rPr>
              <a:t>(</a:t>
            </a:r>
            <a:r>
              <a:rPr lang="ko-KR" altLang="en-US" sz="1700">
                <a:solidFill>
                  <a:srgbClr val="FF0000"/>
                </a:solidFill>
              </a:rPr>
              <a:t>최고 모형성능</a:t>
            </a:r>
            <a:r>
              <a:rPr lang="en-US" altLang="ko-KR" sz="1700">
                <a:solidFill>
                  <a:srgbClr val="FF0000"/>
                </a:solidFill>
              </a:rPr>
              <a:t>) </a:t>
            </a:r>
            <a:br>
              <a:rPr lang="en-US" altLang="ko-KR" sz="1700">
                <a:solidFill>
                  <a:srgbClr val="FF0000"/>
                </a:solidFill>
              </a:rPr>
            </a:br>
            <a:r>
              <a:rPr lang="en-US" altLang="ko-KR" sz="1700">
                <a:solidFill>
                  <a:srgbClr val="FF0000"/>
                </a:solidFill>
              </a:rPr>
              <a:t>  (1) </a:t>
            </a:r>
            <a:r>
              <a:rPr lang="ko-KR" altLang="en-US" sz="1700" b="1">
                <a:solidFill>
                  <a:srgbClr val="FF0000"/>
                </a:solidFill>
              </a:rPr>
              <a:t>이상치</a:t>
            </a:r>
            <a:r>
              <a:rPr lang="ko-KR" altLang="en-US" sz="1700">
                <a:solidFill>
                  <a:srgbClr val="FF0000"/>
                </a:solidFill>
              </a:rPr>
              <a:t> </a:t>
            </a:r>
            <a:r>
              <a:rPr lang="en-US" altLang="ko-KR" sz="1700">
                <a:solidFill>
                  <a:srgbClr val="FF0000"/>
                </a:solidFill>
              </a:rPr>
              <a:t>Nevada </a:t>
            </a:r>
            <a:r>
              <a:rPr lang="ko-KR" altLang="en-US" sz="1700" b="1">
                <a:solidFill>
                  <a:srgbClr val="FF0000"/>
                </a:solidFill>
              </a:rPr>
              <a:t>제거</a:t>
            </a:r>
            <a:r>
              <a:rPr lang="ko-KR" altLang="en-US" sz="1700">
                <a:solidFill>
                  <a:srgbClr val="FF0000"/>
                </a:solidFill>
              </a:rPr>
              <a:t> 후</a:t>
            </a:r>
            <a:r>
              <a:rPr lang="en-US" altLang="ko-KR" sz="1700">
                <a:solidFill>
                  <a:srgbClr val="FF0000"/>
                </a:solidFill>
              </a:rPr>
              <a:t>,</a:t>
            </a:r>
            <a:br>
              <a:rPr lang="en-US" altLang="ko-KR" sz="1700">
                <a:solidFill>
                  <a:srgbClr val="FF0000"/>
                </a:solidFill>
              </a:rPr>
            </a:br>
            <a:r>
              <a:rPr lang="en-US" altLang="ko-KR" sz="1700">
                <a:solidFill>
                  <a:srgbClr val="FF0000"/>
                </a:solidFill>
              </a:rPr>
              <a:t>  (2) </a:t>
            </a:r>
            <a:r>
              <a:rPr lang="ko-KR" altLang="en-US" sz="1700">
                <a:solidFill>
                  <a:srgbClr val="FF0000"/>
                </a:solidFill>
              </a:rPr>
              <a:t>선택변수 </a:t>
            </a:r>
            <a:r>
              <a:rPr lang="en-US" altLang="ko-KR" sz="1700">
                <a:solidFill>
                  <a:srgbClr val="FF0000"/>
                </a:solidFill>
              </a:rPr>
              <a:t>2</a:t>
            </a:r>
            <a:r>
              <a:rPr lang="ko-KR" altLang="en-US" sz="1700">
                <a:solidFill>
                  <a:srgbClr val="FF0000"/>
                </a:solidFill>
              </a:rPr>
              <a:t>개</a:t>
            </a:r>
            <a:r>
              <a:rPr lang="en-US" altLang="ko-KR" sz="1700">
                <a:solidFill>
                  <a:srgbClr val="FF0000"/>
                </a:solidFill>
              </a:rPr>
              <a:t>(</a:t>
            </a:r>
            <a:r>
              <a:rPr lang="en-US" altLang="ko-KR" sz="1700" b="1">
                <a:solidFill>
                  <a:srgbClr val="FF0000"/>
                </a:solidFill>
              </a:rPr>
              <a:t> Illiteracy ,Population)</a:t>
            </a:r>
            <a:br>
              <a:rPr lang="en-US" altLang="ko-KR" sz="1700" b="1">
                <a:solidFill>
                  <a:srgbClr val="FF0000"/>
                </a:solidFill>
              </a:rPr>
            </a:br>
            <a:r>
              <a:rPr lang="en-US" altLang="ko-KR" sz="1700" b="1">
                <a:solidFill>
                  <a:srgbClr val="FF0000"/>
                </a:solidFill>
              </a:rPr>
              <a:t>         - Area(</a:t>
            </a:r>
            <a:r>
              <a:rPr lang="ko-KR" altLang="en-US" sz="1700" b="1">
                <a:solidFill>
                  <a:srgbClr val="FF0000"/>
                </a:solidFill>
              </a:rPr>
              <a:t>상관관계 검증 후</a:t>
            </a:r>
            <a:r>
              <a:rPr lang="en-US" altLang="ko-KR" sz="1700" b="1">
                <a:solidFill>
                  <a:srgbClr val="FF0000"/>
                </a:solidFill>
              </a:rPr>
              <a:t>)</a:t>
            </a:r>
            <a:r>
              <a:rPr lang="ko-KR" altLang="en-US" sz="1700" b="1">
                <a:solidFill>
                  <a:srgbClr val="FF0000"/>
                </a:solidFill>
              </a:rPr>
              <a:t>제거 후</a:t>
            </a:r>
            <a:br>
              <a:rPr lang="en-US" altLang="ko-KR" sz="1700">
                <a:solidFill>
                  <a:schemeClr val="tx1"/>
                </a:solidFill>
              </a:rPr>
            </a:br>
            <a:r>
              <a:rPr lang="en-US" altLang="ko-KR" sz="1700">
                <a:solidFill>
                  <a:schemeClr val="tx1"/>
                </a:solidFill>
              </a:rPr>
              <a:t> </a:t>
            </a:r>
          </a:p>
          <a:p>
            <a:r>
              <a:rPr lang="en-US" altLang="ko-KR" sz="1700">
                <a:solidFill>
                  <a:schemeClr val="tx1"/>
                </a:solidFill>
              </a:rPr>
              <a:t>4. X</a:t>
            </a:r>
            <a:r>
              <a:rPr lang="ko-KR" altLang="en-US" sz="1700">
                <a:solidFill>
                  <a:schemeClr val="tx1"/>
                </a:solidFill>
              </a:rPr>
              <a:t>변수간 다중공선성 문제없음</a:t>
            </a:r>
          </a:p>
          <a:p>
            <a:endParaRPr lang="en-US" altLang="ko-KR" sz="1700" b="1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ko-KR" sz="1700" b="1">
                <a:solidFill>
                  <a:schemeClr val="tx2"/>
                </a:solidFill>
              </a:rPr>
              <a:t>5. </a:t>
            </a:r>
            <a:r>
              <a:rPr lang="ko-KR" altLang="en-US" sz="1700" b="1">
                <a:solidFill>
                  <a:schemeClr val="tx2"/>
                </a:solidFill>
              </a:rPr>
              <a:t>잔차</a:t>
            </a:r>
            <a:r>
              <a:rPr lang="en-US" altLang="ko-KR" sz="1700" b="1">
                <a:solidFill>
                  <a:schemeClr val="tx2"/>
                </a:solidFill>
              </a:rPr>
              <a:t>/</a:t>
            </a:r>
            <a:r>
              <a:rPr lang="ko-KR" altLang="en-US" sz="1700" b="1">
                <a:solidFill>
                  <a:schemeClr val="tx2"/>
                </a:solidFill>
              </a:rPr>
              <a:t>오차항에 관한 </a:t>
            </a:r>
            <a:r>
              <a:rPr lang="en-US" altLang="ko-KR" sz="1700" b="1">
                <a:solidFill>
                  <a:schemeClr val="tx2"/>
                </a:solidFill>
              </a:rPr>
              <a:t>4</a:t>
            </a:r>
            <a:r>
              <a:rPr lang="ko-KR" altLang="en-US" sz="1700" b="1">
                <a:solidFill>
                  <a:schemeClr val="tx2"/>
                </a:solidFill>
              </a:rPr>
              <a:t>가지 가정 검증 필요</a:t>
            </a:r>
            <a:endParaRPr lang="en-US" altLang="ko-KR" sz="1700" b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066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77476" y="686258"/>
            <a:ext cx="11837048" cy="440105"/>
          </a:xfrm>
        </p:spPr>
        <p:txBody>
          <a:bodyPr rtlCol="0">
            <a:normAutofit fontScale="90000"/>
          </a:bodyPr>
          <a:lstStyle/>
          <a:p>
            <a:r>
              <a:rPr lang="en-US" altLang="ko-KR" sz="2000" b="1">
                <a:cs typeface="Segoe UI Light" panose="020B0502040204020203" pitchFamily="34" charset="0"/>
              </a:rPr>
              <a:t>1. </a:t>
            </a:r>
            <a:r>
              <a:rPr lang="ko-KR" altLang="en-US" sz="2000" b="1">
                <a:cs typeface="Segoe UI Light" panose="020B0502040204020203" pitchFamily="34" charset="0"/>
              </a:rPr>
              <a:t>탐색적 데이터 분석                   </a:t>
            </a:r>
            <a:r>
              <a:rPr lang="en-US" altLang="ko-KR" sz="2000" b="1">
                <a:cs typeface="Segoe UI Light" panose="020B0502040204020203" pitchFamily="34" charset="0"/>
              </a:rPr>
              <a:t>2. </a:t>
            </a:r>
            <a:r>
              <a:rPr lang="ko-KR" altLang="en-US" sz="2000" b="1">
                <a:cs typeface="Segoe UI Light" panose="020B0502040204020203" pitchFamily="34" charset="0"/>
              </a:rPr>
              <a:t>다중회귀분석 모델링 순서                 </a:t>
            </a:r>
            <a:r>
              <a:rPr lang="en-US" altLang="ko-KR" sz="2000">
                <a:cs typeface="Segoe UI Light" panose="020B0502040204020203" pitchFamily="34" charset="0"/>
              </a:rPr>
              <a:t>3. </a:t>
            </a:r>
            <a:r>
              <a:rPr lang="ko-KR" altLang="en-US" sz="20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오차항에 관한 </a:t>
            </a:r>
            <a:r>
              <a:rPr lang="en-US" altLang="ko-KR" sz="20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4</a:t>
            </a:r>
            <a:r>
              <a:rPr lang="ko-KR" altLang="en-US" sz="20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가지 가정 검증</a:t>
            </a:r>
            <a:endParaRPr lang="ko-KR" altLang="en-US" sz="2000" b="1" dirty="0">
              <a:cs typeface="Segoe UI Light" panose="020B0502040204020203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6CE8648-320E-47A8-B69F-81794DDF297E}"/>
              </a:ext>
            </a:extLst>
          </p:cNvPr>
          <p:cNvGrpSpPr/>
          <p:nvPr/>
        </p:nvGrpSpPr>
        <p:grpSpPr>
          <a:xfrm>
            <a:off x="266555" y="1386617"/>
            <a:ext cx="3616724" cy="5330793"/>
            <a:chOff x="266555" y="1386617"/>
            <a:chExt cx="3616724" cy="5330793"/>
          </a:xfrm>
        </p:grpSpPr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BDC67CB3-F937-4EB0-A931-F0531BE4CA86}"/>
                </a:ext>
              </a:extLst>
            </p:cNvPr>
            <p:cNvGrpSpPr/>
            <p:nvPr/>
          </p:nvGrpSpPr>
          <p:grpSpPr>
            <a:xfrm>
              <a:off x="266555" y="6051761"/>
              <a:ext cx="484428" cy="438747"/>
              <a:chOff x="493337" y="1831975"/>
              <a:chExt cx="484428" cy="438747"/>
            </a:xfrm>
          </p:grpSpPr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7C472609-FC03-4AD9-9BB1-D69AEAE2828E}"/>
                  </a:ext>
                </a:extLst>
              </p:cNvPr>
              <p:cNvSpPr/>
              <p:nvPr/>
            </p:nvSpPr>
            <p:spPr>
              <a:xfrm>
                <a:off x="516178" y="1831975"/>
                <a:ext cx="438747" cy="43874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224305F-B682-4D40-9B0C-2994DF10A296}"/>
                  </a:ext>
                </a:extLst>
              </p:cNvPr>
              <p:cNvSpPr txBox="1"/>
              <p:nvPr/>
            </p:nvSpPr>
            <p:spPr>
              <a:xfrm>
                <a:off x="493337" y="1866682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1.3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CC85F1A-0C79-4F53-B218-1D36C1E2E039}"/>
                </a:ext>
              </a:extLst>
            </p:cNvPr>
            <p:cNvSpPr txBox="1"/>
            <p:nvPr/>
          </p:nvSpPr>
          <p:spPr>
            <a:xfrm>
              <a:off x="755500" y="5824858"/>
              <a:ext cx="1887055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Y</a:t>
              </a:r>
              <a:r>
                <a:rPr lang="ko-KR" altLang="en-US" sz="16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종속변수분석</a:t>
              </a:r>
              <a:br>
                <a:rPr lang="en-US" altLang="ko-KR" sz="16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2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Y</a:t>
              </a:r>
              <a:r>
                <a:rPr lang="ko-KR" altLang="en-US" sz="12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변수 탐색적 분석 </a:t>
              </a:r>
              <a:r>
                <a:rPr lang="en-US" altLang="ko-KR" sz="12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: </a:t>
              </a:r>
            </a:p>
            <a:p>
              <a:r>
                <a:rPr lang="ko-KR" altLang="en-US" sz="12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살인율 평균 </a:t>
              </a:r>
              <a:r>
                <a:rPr lang="en-US" altLang="ko-KR" sz="12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7.38% </a:t>
              </a:r>
              <a:r>
                <a:rPr lang="ko-KR" altLang="en-US" sz="12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등 </a:t>
              </a:r>
              <a:endParaRPr lang="en-US" altLang="ko-KR" sz="12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  <a:p>
              <a:r>
                <a:rPr lang="ko-KR" altLang="en-US" sz="12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요약통계량 및 분포 분석</a:t>
              </a:r>
            </a:p>
          </p:txBody>
        </p:sp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30B06436-94CA-499F-9E59-CBA64FEC68FB}"/>
                </a:ext>
              </a:extLst>
            </p:cNvPr>
            <p:cNvGrpSpPr/>
            <p:nvPr/>
          </p:nvGrpSpPr>
          <p:grpSpPr>
            <a:xfrm>
              <a:off x="266555" y="1590437"/>
              <a:ext cx="484428" cy="438747"/>
              <a:chOff x="493337" y="1831975"/>
              <a:chExt cx="484428" cy="438747"/>
            </a:xfrm>
          </p:grpSpPr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F95CD613-4E9C-4EC0-9821-0E52ADECB52A}"/>
                  </a:ext>
                </a:extLst>
              </p:cNvPr>
              <p:cNvSpPr/>
              <p:nvPr/>
            </p:nvSpPr>
            <p:spPr>
              <a:xfrm>
                <a:off x="516178" y="1831975"/>
                <a:ext cx="438747" cy="43874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5CE91D46-654E-440E-8D74-E3F3F748F6D7}"/>
                  </a:ext>
                </a:extLst>
              </p:cNvPr>
              <p:cNvSpPr txBox="1"/>
              <p:nvPr/>
            </p:nvSpPr>
            <p:spPr>
              <a:xfrm>
                <a:off x="493337" y="1866682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1.1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D7C68A9-21A9-48E3-8496-482C8E7F3612}"/>
                </a:ext>
              </a:extLst>
            </p:cNvPr>
            <p:cNvSpPr txBox="1"/>
            <p:nvPr/>
          </p:nvSpPr>
          <p:spPr>
            <a:xfrm>
              <a:off x="755500" y="1386617"/>
              <a:ext cx="3127779" cy="846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시각화</a:t>
              </a:r>
              <a:br>
                <a:rPr lang="en-US" altLang="ko-KR" sz="16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Y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변수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(Murder(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미국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50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개주 살인율 </a:t>
              </a:r>
              <a:b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예측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)) 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예측에 유효한 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X 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설명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(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원인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)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변수 파악 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:  </a:t>
              </a:r>
              <a:b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X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유효변수의 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Y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간 상관관계검증 활용방안</a:t>
              </a:r>
              <a:endParaRPr lang="ko-KR" altLang="en-US" sz="16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DBA6992B-6D07-4805-936E-A641719B6F00}"/>
                </a:ext>
              </a:extLst>
            </p:cNvPr>
            <p:cNvGrpSpPr/>
            <p:nvPr/>
          </p:nvGrpSpPr>
          <p:grpSpPr>
            <a:xfrm>
              <a:off x="266555" y="3809557"/>
              <a:ext cx="484428" cy="438747"/>
              <a:chOff x="493337" y="1831975"/>
              <a:chExt cx="484428" cy="438747"/>
            </a:xfrm>
          </p:grpSpPr>
          <p:sp>
            <p:nvSpPr>
              <p:cNvPr id="89" name="타원 88">
                <a:extLst>
                  <a:ext uri="{FF2B5EF4-FFF2-40B4-BE49-F238E27FC236}">
                    <a16:creationId xmlns:a16="http://schemas.microsoft.com/office/drawing/2014/main" id="{FDE91BC5-A9D7-47AE-BC50-017970778FC3}"/>
                  </a:ext>
                </a:extLst>
              </p:cNvPr>
              <p:cNvSpPr/>
              <p:nvPr/>
            </p:nvSpPr>
            <p:spPr>
              <a:xfrm>
                <a:off x="516178" y="1831975"/>
                <a:ext cx="438747" cy="43874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24AEB87-6FE2-40F9-B14E-F9ED8936F061}"/>
                  </a:ext>
                </a:extLst>
              </p:cNvPr>
              <p:cNvSpPr txBox="1"/>
              <p:nvPr/>
            </p:nvSpPr>
            <p:spPr>
              <a:xfrm>
                <a:off x="493337" y="1866682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1.2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57CDBCF-8A06-40DC-A36E-83B71EA96765}"/>
                </a:ext>
              </a:extLst>
            </p:cNvPr>
            <p:cNvSpPr txBox="1"/>
            <p:nvPr/>
          </p:nvSpPr>
          <p:spPr>
            <a:xfrm>
              <a:off x="755500" y="3605737"/>
              <a:ext cx="2990897" cy="846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상관관계분석</a:t>
              </a:r>
              <a:br>
                <a:rPr lang="en-US" altLang="ko-KR" sz="12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Y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변수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(Murder(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미국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50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개주 살인율 </a:t>
              </a:r>
              <a:b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예측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)) 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예측에 유효한 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X 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설명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(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원인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)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변수 파악 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:  </a:t>
              </a:r>
              <a:b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X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유효변수의 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Y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간 상관관계검증 활용방안</a:t>
              </a:r>
              <a:endParaRPr lang="ko-KR" altLang="en-US" sz="12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86530DF-F6F5-43C4-9793-A9382AFBFC44}"/>
              </a:ext>
            </a:extLst>
          </p:cNvPr>
          <p:cNvGrpSpPr/>
          <p:nvPr/>
        </p:nvGrpSpPr>
        <p:grpSpPr>
          <a:xfrm>
            <a:off x="0" y="-17527"/>
            <a:ext cx="2798618" cy="499454"/>
            <a:chOff x="0" y="-17527"/>
            <a:chExt cx="1985818" cy="499454"/>
          </a:xfrm>
        </p:grpSpPr>
        <p:sp>
          <p:nvSpPr>
            <p:cNvPr id="48" name="사각형: 둥근 한쪽 모서리 47">
              <a:extLst>
                <a:ext uri="{FF2B5EF4-FFF2-40B4-BE49-F238E27FC236}">
                  <a16:creationId xmlns:a16="http://schemas.microsoft.com/office/drawing/2014/main" id="{29E9CC8A-DF03-47D6-9854-04353B928A0D}"/>
                </a:ext>
              </a:extLst>
            </p:cNvPr>
            <p:cNvSpPr/>
            <p:nvPr/>
          </p:nvSpPr>
          <p:spPr>
            <a:xfrm rot="10800000" flipH="1">
              <a:off x="0" y="-1"/>
              <a:ext cx="1985818" cy="481928"/>
            </a:xfrm>
            <a:prstGeom prst="round1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0B2B052-6800-49F8-AECC-F55D59FDFCF6}"/>
                </a:ext>
              </a:extLst>
            </p:cNvPr>
            <p:cNvSpPr txBox="1"/>
            <p:nvPr/>
          </p:nvSpPr>
          <p:spPr>
            <a:xfrm>
              <a:off x="851351" y="-17527"/>
              <a:ext cx="10757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</a:rPr>
                <a:t>Contents</a:t>
              </a:r>
              <a:endParaRPr lang="ko-KR" altLang="en-US" sz="24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F6667CD5-76B4-4AF4-8F73-672E4DC7F038}"/>
              </a:ext>
            </a:extLst>
          </p:cNvPr>
          <p:cNvGrpSpPr/>
          <p:nvPr/>
        </p:nvGrpSpPr>
        <p:grpSpPr>
          <a:xfrm>
            <a:off x="8382930" y="1386617"/>
            <a:ext cx="2573693" cy="438747"/>
            <a:chOff x="8382930" y="1386617"/>
            <a:chExt cx="2573693" cy="438747"/>
          </a:xfrm>
        </p:grpSpPr>
        <p:sp>
          <p:nvSpPr>
            <p:cNvPr id="108" name="내용 개체 틀 17">
              <a:extLst>
                <a:ext uri="{FF2B5EF4-FFF2-40B4-BE49-F238E27FC236}">
                  <a16:creationId xmlns:a16="http://schemas.microsoft.com/office/drawing/2014/main" id="{7297C85F-46A3-4BAA-8E41-AE2E785DFF26}"/>
                </a:ext>
              </a:extLst>
            </p:cNvPr>
            <p:cNvSpPr txBox="1">
              <a:spLocks/>
            </p:cNvSpPr>
            <p:nvPr/>
          </p:nvSpPr>
          <p:spPr>
            <a:xfrm>
              <a:off x="8980280" y="1465230"/>
              <a:ext cx="1976343" cy="28152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오차 독립성 가정</a:t>
              </a:r>
              <a:endParaRPr lang="ko-KR" altLang="en-US" sz="13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FCD8C0E4-31B6-4B64-8BAE-60CD53C5167A}"/>
                </a:ext>
              </a:extLst>
            </p:cNvPr>
            <p:cNvGrpSpPr/>
            <p:nvPr/>
          </p:nvGrpSpPr>
          <p:grpSpPr>
            <a:xfrm>
              <a:off x="8382930" y="1386617"/>
              <a:ext cx="484428" cy="438747"/>
              <a:chOff x="493337" y="1831975"/>
              <a:chExt cx="484428" cy="438747"/>
            </a:xfrm>
          </p:grpSpPr>
          <p:sp>
            <p:nvSpPr>
              <p:cNvPr id="147" name="타원 146">
                <a:extLst>
                  <a:ext uri="{FF2B5EF4-FFF2-40B4-BE49-F238E27FC236}">
                    <a16:creationId xmlns:a16="http://schemas.microsoft.com/office/drawing/2014/main" id="{FD671DFA-5998-4F93-A1DA-8DD853C0B2AD}"/>
                  </a:ext>
                </a:extLst>
              </p:cNvPr>
              <p:cNvSpPr/>
              <p:nvPr/>
            </p:nvSpPr>
            <p:spPr>
              <a:xfrm>
                <a:off x="516178" y="1831975"/>
                <a:ext cx="438747" cy="438747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679BC914-F6E7-42C7-81EC-285BECFF0E30}"/>
                  </a:ext>
                </a:extLst>
              </p:cNvPr>
              <p:cNvSpPr txBox="1"/>
              <p:nvPr/>
            </p:nvSpPr>
            <p:spPr>
              <a:xfrm>
                <a:off x="493337" y="1866682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3.1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29E8CB5A-61AB-4557-944E-B890778ABC57}"/>
              </a:ext>
            </a:extLst>
          </p:cNvPr>
          <p:cNvGrpSpPr/>
          <p:nvPr/>
        </p:nvGrpSpPr>
        <p:grpSpPr>
          <a:xfrm>
            <a:off x="8382930" y="2157861"/>
            <a:ext cx="3223208" cy="438747"/>
            <a:chOff x="8382930" y="3017299"/>
            <a:chExt cx="3223208" cy="438747"/>
          </a:xfrm>
        </p:grpSpPr>
        <p:sp>
          <p:nvSpPr>
            <p:cNvPr id="111" name="내용 개체 틀 17">
              <a:extLst>
                <a:ext uri="{FF2B5EF4-FFF2-40B4-BE49-F238E27FC236}">
                  <a16:creationId xmlns:a16="http://schemas.microsoft.com/office/drawing/2014/main" id="{646DDC44-4189-4657-97DC-96338880A76E}"/>
                </a:ext>
              </a:extLst>
            </p:cNvPr>
            <p:cNvSpPr txBox="1">
              <a:spLocks/>
            </p:cNvSpPr>
            <p:nvPr/>
          </p:nvSpPr>
          <p:spPr>
            <a:xfrm>
              <a:off x="8980281" y="3095912"/>
              <a:ext cx="2625857" cy="28152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오차 간 자기상관관계가 없을 것</a:t>
              </a:r>
              <a:endParaRPr lang="ko-KR" altLang="en-US" sz="13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B02BAEA4-9859-41D4-9165-B374A20E0E76}"/>
                </a:ext>
              </a:extLst>
            </p:cNvPr>
            <p:cNvGrpSpPr/>
            <p:nvPr/>
          </p:nvGrpSpPr>
          <p:grpSpPr>
            <a:xfrm>
              <a:off x="8382930" y="3017299"/>
              <a:ext cx="484428" cy="438747"/>
              <a:chOff x="493337" y="1831975"/>
              <a:chExt cx="484428" cy="438747"/>
            </a:xfrm>
          </p:grpSpPr>
          <p:sp>
            <p:nvSpPr>
              <p:cNvPr id="150" name="타원 149">
                <a:extLst>
                  <a:ext uri="{FF2B5EF4-FFF2-40B4-BE49-F238E27FC236}">
                    <a16:creationId xmlns:a16="http://schemas.microsoft.com/office/drawing/2014/main" id="{9FDE21FB-B17B-4037-A9E4-C52B92BE3C5D}"/>
                  </a:ext>
                </a:extLst>
              </p:cNvPr>
              <p:cNvSpPr/>
              <p:nvPr/>
            </p:nvSpPr>
            <p:spPr>
              <a:xfrm>
                <a:off x="516178" y="1831975"/>
                <a:ext cx="438747" cy="438747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AFFA60F4-A606-4F7B-9DC4-4BBB26BFC360}"/>
                  </a:ext>
                </a:extLst>
              </p:cNvPr>
              <p:cNvSpPr txBox="1"/>
              <p:nvPr/>
            </p:nvSpPr>
            <p:spPr>
              <a:xfrm>
                <a:off x="493337" y="1866682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3.2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53C54743-E1E8-4F7B-9E1B-3880995DFFEA}"/>
              </a:ext>
            </a:extLst>
          </p:cNvPr>
          <p:cNvGrpSpPr/>
          <p:nvPr/>
        </p:nvGrpSpPr>
        <p:grpSpPr>
          <a:xfrm>
            <a:off x="8382930" y="2929105"/>
            <a:ext cx="2701680" cy="438747"/>
            <a:chOff x="8382930" y="4647981"/>
            <a:chExt cx="2701680" cy="438747"/>
          </a:xfrm>
        </p:grpSpPr>
        <p:sp>
          <p:nvSpPr>
            <p:cNvPr id="114" name="내용 개체 틀 17">
              <a:extLst>
                <a:ext uri="{FF2B5EF4-FFF2-40B4-BE49-F238E27FC236}">
                  <a16:creationId xmlns:a16="http://schemas.microsoft.com/office/drawing/2014/main" id="{2EA8733D-AFBC-40C7-A3FA-B9FC9948A7CB}"/>
                </a:ext>
              </a:extLst>
            </p:cNvPr>
            <p:cNvSpPr txBox="1">
              <a:spLocks/>
            </p:cNvSpPr>
            <p:nvPr/>
          </p:nvSpPr>
          <p:spPr>
            <a:xfrm>
              <a:off x="8980280" y="4726594"/>
              <a:ext cx="2104330" cy="28152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오차 등분산성 가정</a:t>
              </a:r>
              <a:endParaRPr lang="ko-KR" altLang="en-US" sz="13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162" name="그룹 161">
              <a:extLst>
                <a:ext uri="{FF2B5EF4-FFF2-40B4-BE49-F238E27FC236}">
                  <a16:creationId xmlns:a16="http://schemas.microsoft.com/office/drawing/2014/main" id="{B33A9944-5A9C-4500-BEF1-27DFFFCE2C9B}"/>
                </a:ext>
              </a:extLst>
            </p:cNvPr>
            <p:cNvGrpSpPr/>
            <p:nvPr/>
          </p:nvGrpSpPr>
          <p:grpSpPr>
            <a:xfrm>
              <a:off x="8382930" y="4647981"/>
              <a:ext cx="484428" cy="438747"/>
              <a:chOff x="8382930" y="4595703"/>
              <a:chExt cx="484428" cy="438747"/>
            </a:xfrm>
          </p:grpSpPr>
          <p:sp>
            <p:nvSpPr>
              <p:cNvPr id="153" name="타원 152">
                <a:extLst>
                  <a:ext uri="{FF2B5EF4-FFF2-40B4-BE49-F238E27FC236}">
                    <a16:creationId xmlns:a16="http://schemas.microsoft.com/office/drawing/2014/main" id="{44C45BB6-9C7C-4DBC-B270-AFEB0C372956}"/>
                  </a:ext>
                </a:extLst>
              </p:cNvPr>
              <p:cNvSpPr/>
              <p:nvPr/>
            </p:nvSpPr>
            <p:spPr>
              <a:xfrm>
                <a:off x="8405771" y="4595703"/>
                <a:ext cx="438747" cy="438747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A02A6CCF-29F1-4876-AF45-C5EEC8E542C3}"/>
                  </a:ext>
                </a:extLst>
              </p:cNvPr>
              <p:cNvSpPr txBox="1"/>
              <p:nvPr/>
            </p:nvSpPr>
            <p:spPr>
              <a:xfrm>
                <a:off x="8382930" y="4630410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3.3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D759DFAA-804C-44AC-A887-CC6F54A99F51}"/>
              </a:ext>
            </a:extLst>
          </p:cNvPr>
          <p:cNvGrpSpPr/>
          <p:nvPr/>
        </p:nvGrpSpPr>
        <p:grpSpPr>
          <a:xfrm>
            <a:off x="8382930" y="3700350"/>
            <a:ext cx="2872331" cy="438747"/>
            <a:chOff x="8382930" y="6278663"/>
            <a:chExt cx="2872331" cy="438747"/>
          </a:xfrm>
        </p:grpSpPr>
        <p:sp>
          <p:nvSpPr>
            <p:cNvPr id="117" name="내용 개체 틀 17">
              <a:extLst>
                <a:ext uri="{FF2B5EF4-FFF2-40B4-BE49-F238E27FC236}">
                  <a16:creationId xmlns:a16="http://schemas.microsoft.com/office/drawing/2014/main" id="{5FC5764B-8B07-4C05-A497-BD10FBBDC5A3}"/>
                </a:ext>
              </a:extLst>
            </p:cNvPr>
            <p:cNvSpPr txBox="1">
              <a:spLocks/>
            </p:cNvSpPr>
            <p:nvPr/>
          </p:nvSpPr>
          <p:spPr>
            <a:xfrm>
              <a:off x="8980281" y="6357276"/>
              <a:ext cx="2274980" cy="28152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오차 정규성 검증</a:t>
              </a:r>
              <a:endParaRPr lang="ko-KR" altLang="en-US" sz="13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161" name="그룹 160">
              <a:extLst>
                <a:ext uri="{FF2B5EF4-FFF2-40B4-BE49-F238E27FC236}">
                  <a16:creationId xmlns:a16="http://schemas.microsoft.com/office/drawing/2014/main" id="{DA97FD7E-9E4C-4684-BE66-BFB037D52B52}"/>
                </a:ext>
              </a:extLst>
            </p:cNvPr>
            <p:cNvGrpSpPr/>
            <p:nvPr/>
          </p:nvGrpSpPr>
          <p:grpSpPr>
            <a:xfrm>
              <a:off x="8382930" y="6278663"/>
              <a:ext cx="484428" cy="438747"/>
              <a:chOff x="8382930" y="5988957"/>
              <a:chExt cx="484428" cy="438747"/>
            </a:xfrm>
          </p:grpSpPr>
          <p:sp>
            <p:nvSpPr>
              <p:cNvPr id="156" name="타원 155">
                <a:extLst>
                  <a:ext uri="{FF2B5EF4-FFF2-40B4-BE49-F238E27FC236}">
                    <a16:creationId xmlns:a16="http://schemas.microsoft.com/office/drawing/2014/main" id="{F1683651-F3C3-4FA1-B23A-2D41C8DC4071}"/>
                  </a:ext>
                </a:extLst>
              </p:cNvPr>
              <p:cNvSpPr/>
              <p:nvPr/>
            </p:nvSpPr>
            <p:spPr>
              <a:xfrm>
                <a:off x="8405771" y="5988957"/>
                <a:ext cx="438747" cy="438747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238388E9-C1F3-409C-96FD-D423C543E4BB}"/>
                  </a:ext>
                </a:extLst>
              </p:cNvPr>
              <p:cNvSpPr txBox="1"/>
              <p:nvPr/>
            </p:nvSpPr>
            <p:spPr>
              <a:xfrm>
                <a:off x="8382930" y="6023664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3.4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08DD965F-6DFE-43C5-9C1F-4E4AF0CD449F}"/>
              </a:ext>
            </a:extLst>
          </p:cNvPr>
          <p:cNvGrpSpPr/>
          <p:nvPr/>
        </p:nvGrpSpPr>
        <p:grpSpPr>
          <a:xfrm>
            <a:off x="3949475" y="1386617"/>
            <a:ext cx="4323903" cy="5330793"/>
            <a:chOff x="3949475" y="1386617"/>
            <a:chExt cx="4323903" cy="5330793"/>
          </a:xfrm>
        </p:grpSpPr>
        <p:sp>
          <p:nvSpPr>
            <p:cNvPr id="21" name="내용 개체 틀 17"/>
            <p:cNvSpPr txBox="1">
              <a:spLocks/>
            </p:cNvSpPr>
            <p:nvPr/>
          </p:nvSpPr>
          <p:spPr>
            <a:xfrm>
              <a:off x="4492770" y="1386617"/>
              <a:ext cx="2815035" cy="45348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완전모형</a:t>
              </a:r>
              <a: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(</a:t>
              </a: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모든</a:t>
              </a:r>
              <a: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x</a:t>
              </a: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변수 투입</a:t>
              </a:r>
              <a: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)</a:t>
              </a: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으로 </a:t>
              </a:r>
              <a:b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1</a:t>
              </a: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차 선형모형식 산출</a:t>
              </a:r>
              <a:endParaRPr lang="ko-KR" altLang="en-US" sz="1300" b="1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1CAF7FF9-660E-4287-82B1-5D7A583ADBEC}"/>
                </a:ext>
              </a:extLst>
            </p:cNvPr>
            <p:cNvGrpSpPr/>
            <p:nvPr/>
          </p:nvGrpSpPr>
          <p:grpSpPr>
            <a:xfrm>
              <a:off x="3949475" y="1393985"/>
              <a:ext cx="484428" cy="438747"/>
              <a:chOff x="3949475" y="1766642"/>
              <a:chExt cx="484428" cy="438747"/>
            </a:xfrm>
          </p:grpSpPr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8D5D4736-EF5B-4105-AF73-DE3EF144994C}"/>
                  </a:ext>
                </a:extLst>
              </p:cNvPr>
              <p:cNvSpPr/>
              <p:nvPr/>
            </p:nvSpPr>
            <p:spPr>
              <a:xfrm>
                <a:off x="3972316" y="1766642"/>
                <a:ext cx="438747" cy="4387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BC35FAC9-10B8-4DB7-94D8-58D13F09AFD4}"/>
                  </a:ext>
                </a:extLst>
              </p:cNvPr>
              <p:cNvSpPr txBox="1"/>
              <p:nvPr/>
            </p:nvSpPr>
            <p:spPr>
              <a:xfrm>
                <a:off x="3949475" y="1801349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2.1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6" name="내용 개체 틀 17">
              <a:extLst>
                <a:ext uri="{FF2B5EF4-FFF2-40B4-BE49-F238E27FC236}">
                  <a16:creationId xmlns:a16="http://schemas.microsoft.com/office/drawing/2014/main" id="{AB205E41-8DA1-47D7-B55E-5381544160D5}"/>
                </a:ext>
              </a:extLst>
            </p:cNvPr>
            <p:cNvSpPr txBox="1">
              <a:spLocks/>
            </p:cNvSpPr>
            <p:nvPr/>
          </p:nvSpPr>
          <p:spPr>
            <a:xfrm>
              <a:off x="4530893" y="2061263"/>
              <a:ext cx="3593238" cy="126654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X</a:t>
              </a: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변수들간의 </a:t>
              </a:r>
              <a:r>
                <a:rPr lang="ko-KR" altLang="en-US" sz="1300" b="1" u="sng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다중공선성</a:t>
              </a: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 이슈 해결 </a:t>
              </a:r>
              <a:b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(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목적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) 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예측</a:t>
              </a:r>
              <a:r>
                <a:rPr lang="en-US" altLang="ko-KR" sz="1050" dirty="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/</a:t>
              </a:r>
              <a:r>
                <a:rPr lang="ko-KR" altLang="en-US" sz="1050" dirty="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추정 모형식 </a:t>
              </a:r>
              <a:r>
                <a:rPr lang="ko-KR" altLang="en-US" sz="1050" dirty="0" err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회귀계수값의</a:t>
              </a:r>
              <a:r>
                <a:rPr lang="ko-KR" altLang="en-US" sz="1050" dirty="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 신뢰도 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하락 방지</a:t>
              </a:r>
              <a:b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(1) car:vif(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모형식명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)&gt;10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인 변수 제거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, 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잔여후보변수들이</a:t>
              </a:r>
              <a:b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    car:vif(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모형식명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)&lt;10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이 될 때까지 변수 제거 </a:t>
              </a:r>
              <a:b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(2) 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최종후보모형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/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채택변수가 됨</a:t>
              </a:r>
              <a:endParaRPr lang="en-US" altLang="ko-KR" sz="11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131" name="그룹 130">
              <a:extLst>
                <a:ext uri="{FF2B5EF4-FFF2-40B4-BE49-F238E27FC236}">
                  <a16:creationId xmlns:a16="http://schemas.microsoft.com/office/drawing/2014/main" id="{FE6FD0DE-2401-492E-A2CB-B715B0AE1F09}"/>
                </a:ext>
              </a:extLst>
            </p:cNvPr>
            <p:cNvGrpSpPr/>
            <p:nvPr/>
          </p:nvGrpSpPr>
          <p:grpSpPr>
            <a:xfrm>
              <a:off x="3949475" y="2475161"/>
              <a:ext cx="484428" cy="438747"/>
              <a:chOff x="3949475" y="1766642"/>
              <a:chExt cx="484428" cy="438747"/>
            </a:xfrm>
          </p:grpSpPr>
          <p:sp>
            <p:nvSpPr>
              <p:cNvPr id="132" name="타원 131">
                <a:extLst>
                  <a:ext uri="{FF2B5EF4-FFF2-40B4-BE49-F238E27FC236}">
                    <a16:creationId xmlns:a16="http://schemas.microsoft.com/office/drawing/2014/main" id="{650638A1-6FC6-47A8-9039-D927CA410E87}"/>
                  </a:ext>
                </a:extLst>
              </p:cNvPr>
              <p:cNvSpPr/>
              <p:nvPr/>
            </p:nvSpPr>
            <p:spPr>
              <a:xfrm>
                <a:off x="3972316" y="1766642"/>
                <a:ext cx="438747" cy="4387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8B4A58B3-5BD3-4796-B6F5-D4B2562A9818}"/>
                  </a:ext>
                </a:extLst>
              </p:cNvPr>
              <p:cNvSpPr txBox="1"/>
              <p:nvPr/>
            </p:nvSpPr>
            <p:spPr>
              <a:xfrm>
                <a:off x="3949475" y="1801349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2.2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4" name="내용 개체 틀 17">
              <a:extLst>
                <a:ext uri="{FF2B5EF4-FFF2-40B4-BE49-F238E27FC236}">
                  <a16:creationId xmlns:a16="http://schemas.microsoft.com/office/drawing/2014/main" id="{376453AC-B87E-4223-9FEF-F4018F4A0655}"/>
                </a:ext>
              </a:extLst>
            </p:cNvPr>
            <p:cNvSpPr txBox="1">
              <a:spLocks/>
            </p:cNvSpPr>
            <p:nvPr/>
          </p:nvSpPr>
          <p:spPr>
            <a:xfrm>
              <a:off x="4530893" y="3548969"/>
              <a:ext cx="3742485" cy="45348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변수선택법 적용을 통한 </a:t>
              </a:r>
              <a:b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불필요한 </a:t>
              </a:r>
              <a: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X</a:t>
              </a: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변수 제거 </a:t>
              </a:r>
              <a: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: </a:t>
              </a:r>
              <a:r>
                <a:rPr lang="en-US" altLang="ko-KR" sz="13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step(</a:t>
              </a:r>
              <a:r>
                <a:rPr lang="ko-KR" altLang="en-US" sz="13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모형식명</a:t>
              </a:r>
              <a:r>
                <a:rPr lang="en-US" altLang="ko-KR" sz="13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)</a:t>
              </a:r>
              <a:endParaRPr lang="ko-KR" altLang="en-US" sz="1300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134" name="그룹 133">
              <a:extLst>
                <a:ext uri="{FF2B5EF4-FFF2-40B4-BE49-F238E27FC236}">
                  <a16:creationId xmlns:a16="http://schemas.microsoft.com/office/drawing/2014/main" id="{B7A66D93-C958-49FA-8A67-D878A3A51090}"/>
                </a:ext>
              </a:extLst>
            </p:cNvPr>
            <p:cNvGrpSpPr/>
            <p:nvPr/>
          </p:nvGrpSpPr>
          <p:grpSpPr>
            <a:xfrm>
              <a:off x="3949475" y="3556337"/>
              <a:ext cx="484428" cy="438747"/>
              <a:chOff x="3949475" y="1766642"/>
              <a:chExt cx="484428" cy="438747"/>
            </a:xfrm>
          </p:grpSpPr>
          <p:sp>
            <p:nvSpPr>
              <p:cNvPr id="135" name="타원 134">
                <a:extLst>
                  <a:ext uri="{FF2B5EF4-FFF2-40B4-BE49-F238E27FC236}">
                    <a16:creationId xmlns:a16="http://schemas.microsoft.com/office/drawing/2014/main" id="{48382935-34E3-4E22-83BE-B81DAE117A9C}"/>
                  </a:ext>
                </a:extLst>
              </p:cNvPr>
              <p:cNvSpPr/>
              <p:nvPr/>
            </p:nvSpPr>
            <p:spPr>
              <a:xfrm>
                <a:off x="3972316" y="1766642"/>
                <a:ext cx="438747" cy="4387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F718DA65-EC30-4C5B-A442-9BF4A4A9D91A}"/>
                  </a:ext>
                </a:extLst>
              </p:cNvPr>
              <p:cNvSpPr txBox="1"/>
              <p:nvPr/>
            </p:nvSpPr>
            <p:spPr>
              <a:xfrm>
                <a:off x="3949475" y="1801349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2.3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8" name="내용 개체 틀 17">
              <a:extLst>
                <a:ext uri="{FF2B5EF4-FFF2-40B4-BE49-F238E27FC236}">
                  <a16:creationId xmlns:a16="http://schemas.microsoft.com/office/drawing/2014/main" id="{1780E162-766C-4C2F-9169-11C03D368C58}"/>
                </a:ext>
              </a:extLst>
            </p:cNvPr>
            <p:cNvSpPr txBox="1">
              <a:spLocks/>
            </p:cNvSpPr>
            <p:nvPr/>
          </p:nvSpPr>
          <p:spPr>
            <a:xfrm>
              <a:off x="4530893" y="4223615"/>
              <a:ext cx="3742485" cy="117397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2</a:t>
              </a: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차다중공선성 체크</a:t>
              </a:r>
              <a:b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(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이후 수정모형 변경 후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, 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다중공선성 제거 시 까지 반복실행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)</a:t>
              </a:r>
              <a:b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(1) car:vif(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모형식명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)&gt;10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인 변수 제거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, 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잔여후보변수들이</a:t>
              </a:r>
              <a:b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    car:vif(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모형식명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)&lt;10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이 될 때까지 변수 제거 </a:t>
              </a:r>
              <a:b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(2) 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최종후보모형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/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채택변수가 됨</a:t>
              </a:r>
              <a:endParaRPr lang="en-US" altLang="ko-KR" sz="105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493EEF06-6AF4-4008-A16D-392797BB0184}"/>
                </a:ext>
              </a:extLst>
            </p:cNvPr>
            <p:cNvGrpSpPr/>
            <p:nvPr/>
          </p:nvGrpSpPr>
          <p:grpSpPr>
            <a:xfrm>
              <a:off x="3949475" y="4591229"/>
              <a:ext cx="484428" cy="438747"/>
              <a:chOff x="3949475" y="1766642"/>
              <a:chExt cx="484428" cy="438747"/>
            </a:xfrm>
          </p:grpSpPr>
          <p:sp>
            <p:nvSpPr>
              <p:cNvPr id="138" name="타원 137">
                <a:extLst>
                  <a:ext uri="{FF2B5EF4-FFF2-40B4-BE49-F238E27FC236}">
                    <a16:creationId xmlns:a16="http://schemas.microsoft.com/office/drawing/2014/main" id="{00300FA8-1C9D-4B27-8C7D-E010E5199FE2}"/>
                  </a:ext>
                </a:extLst>
              </p:cNvPr>
              <p:cNvSpPr/>
              <p:nvPr/>
            </p:nvSpPr>
            <p:spPr>
              <a:xfrm>
                <a:off x="3972316" y="1766642"/>
                <a:ext cx="438747" cy="4387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C0D19811-64F1-45B6-B791-386C73E634E0}"/>
                  </a:ext>
                </a:extLst>
              </p:cNvPr>
              <p:cNvSpPr txBox="1"/>
              <p:nvPr/>
            </p:nvSpPr>
            <p:spPr>
              <a:xfrm>
                <a:off x="3949475" y="1801349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2.4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2" name="내용 개체 틀 17">
              <a:extLst>
                <a:ext uri="{FF2B5EF4-FFF2-40B4-BE49-F238E27FC236}">
                  <a16:creationId xmlns:a16="http://schemas.microsoft.com/office/drawing/2014/main" id="{BC79A694-F7CF-4DAB-A5EF-62C8D6FA9BB3}"/>
                </a:ext>
              </a:extLst>
            </p:cNvPr>
            <p:cNvSpPr txBox="1">
              <a:spLocks/>
            </p:cNvSpPr>
            <p:nvPr/>
          </p:nvSpPr>
          <p:spPr>
            <a:xfrm>
              <a:off x="4530893" y="5702611"/>
              <a:ext cx="2776912" cy="27103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이상치 제거 전 최종후보모형 결정</a:t>
              </a:r>
              <a:endParaRPr lang="ko-KR" altLang="en-US" sz="1300" b="1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E52DD070-E4FD-43BC-A009-36F311DCBD67}"/>
                </a:ext>
              </a:extLst>
            </p:cNvPr>
            <p:cNvGrpSpPr/>
            <p:nvPr/>
          </p:nvGrpSpPr>
          <p:grpSpPr>
            <a:xfrm>
              <a:off x="3949475" y="5618754"/>
              <a:ext cx="484428" cy="438747"/>
              <a:chOff x="3949475" y="1766642"/>
              <a:chExt cx="484428" cy="438747"/>
            </a:xfrm>
          </p:grpSpPr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E3DEC054-A6FF-4B43-AA58-C32666541B90}"/>
                  </a:ext>
                </a:extLst>
              </p:cNvPr>
              <p:cNvSpPr/>
              <p:nvPr/>
            </p:nvSpPr>
            <p:spPr>
              <a:xfrm>
                <a:off x="3972316" y="1766642"/>
                <a:ext cx="438747" cy="4387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E4494572-5111-4D44-9FD5-EBC5145CC5C2}"/>
                  </a:ext>
                </a:extLst>
              </p:cNvPr>
              <p:cNvSpPr txBox="1"/>
              <p:nvPr/>
            </p:nvSpPr>
            <p:spPr>
              <a:xfrm>
                <a:off x="3949475" y="1801349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2.5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71" name="내용 개체 틀 17">
              <a:extLst>
                <a:ext uri="{FF2B5EF4-FFF2-40B4-BE49-F238E27FC236}">
                  <a16:creationId xmlns:a16="http://schemas.microsoft.com/office/drawing/2014/main" id="{95C28F07-7455-426B-8AC0-2F3ACE642DD0}"/>
                </a:ext>
              </a:extLst>
            </p:cNvPr>
            <p:cNvSpPr txBox="1">
              <a:spLocks/>
            </p:cNvSpPr>
            <p:nvPr/>
          </p:nvSpPr>
          <p:spPr>
            <a:xfrm>
              <a:off x="4530893" y="6362520"/>
              <a:ext cx="2488743" cy="27103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이상치 제거 후 최종모형 결정</a:t>
              </a:r>
              <a:endParaRPr lang="ko-KR" altLang="en-US" sz="1300" b="1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172" name="그룹 171">
              <a:extLst>
                <a:ext uri="{FF2B5EF4-FFF2-40B4-BE49-F238E27FC236}">
                  <a16:creationId xmlns:a16="http://schemas.microsoft.com/office/drawing/2014/main" id="{187109AC-F210-42D8-8159-A6A1D2CAAD6A}"/>
                </a:ext>
              </a:extLst>
            </p:cNvPr>
            <p:cNvGrpSpPr/>
            <p:nvPr/>
          </p:nvGrpSpPr>
          <p:grpSpPr>
            <a:xfrm>
              <a:off x="3949475" y="6278663"/>
              <a:ext cx="484428" cy="438747"/>
              <a:chOff x="3949475" y="1766642"/>
              <a:chExt cx="484428" cy="438747"/>
            </a:xfrm>
          </p:grpSpPr>
          <p:sp>
            <p:nvSpPr>
              <p:cNvPr id="173" name="타원 172">
                <a:extLst>
                  <a:ext uri="{FF2B5EF4-FFF2-40B4-BE49-F238E27FC236}">
                    <a16:creationId xmlns:a16="http://schemas.microsoft.com/office/drawing/2014/main" id="{149D0388-87F1-44C3-93B0-60F474B0B151}"/>
                  </a:ext>
                </a:extLst>
              </p:cNvPr>
              <p:cNvSpPr/>
              <p:nvPr/>
            </p:nvSpPr>
            <p:spPr>
              <a:xfrm>
                <a:off x="3972316" y="1766642"/>
                <a:ext cx="438747" cy="4387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97F07B3D-CDB8-43DE-BBA7-3661EC7A44EC}"/>
                  </a:ext>
                </a:extLst>
              </p:cNvPr>
              <p:cNvSpPr txBox="1"/>
              <p:nvPr/>
            </p:nvSpPr>
            <p:spPr>
              <a:xfrm>
                <a:off x="3949475" y="1801349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2.6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CAD2B394-1C55-4635-88D8-F2C339411512}"/>
              </a:ext>
            </a:extLst>
          </p:cNvPr>
          <p:cNvSpPr/>
          <p:nvPr/>
        </p:nvSpPr>
        <p:spPr>
          <a:xfrm>
            <a:off x="8124131" y="686258"/>
            <a:ext cx="3890393" cy="356204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제목 3">
            <a:extLst>
              <a:ext uri="{FF2B5EF4-FFF2-40B4-BE49-F238E27FC236}">
                <a16:creationId xmlns:a16="http://schemas.microsoft.com/office/drawing/2014/main" id="{D5D65D8D-6433-4057-A2ED-7D3594A2506F}"/>
              </a:ext>
            </a:extLst>
          </p:cNvPr>
          <p:cNvSpPr txBox="1">
            <a:spLocks/>
          </p:cNvSpPr>
          <p:nvPr/>
        </p:nvSpPr>
        <p:spPr>
          <a:xfrm>
            <a:off x="8022433" y="4995407"/>
            <a:ext cx="4169567" cy="44010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97500"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800" b="1" kern="1200" noProof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altLang="ko-KR" sz="2000"/>
              <a:t>4. </a:t>
            </a:r>
            <a:r>
              <a:rPr lang="ko-KR" altLang="en-US" sz="2000">
                <a:cs typeface="Segoe UI" panose="020B0502040204020203" pitchFamily="34" charset="0"/>
              </a:rPr>
              <a:t>최종모형식 및 예측값 산출</a:t>
            </a:r>
            <a:endParaRPr lang="ko-KR" altLang="en-US" sz="200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2D1C914-50C5-4462-8457-78EAE7AD4266}"/>
              </a:ext>
            </a:extLst>
          </p:cNvPr>
          <p:cNvGrpSpPr/>
          <p:nvPr/>
        </p:nvGrpSpPr>
        <p:grpSpPr>
          <a:xfrm>
            <a:off x="8382930" y="5625840"/>
            <a:ext cx="3230464" cy="613516"/>
            <a:chOff x="8472009" y="5625840"/>
            <a:chExt cx="3230464" cy="613516"/>
          </a:xfrm>
        </p:grpSpPr>
        <p:sp>
          <p:nvSpPr>
            <p:cNvPr id="99" name="내용 개체 틀 17">
              <a:extLst>
                <a:ext uri="{FF2B5EF4-FFF2-40B4-BE49-F238E27FC236}">
                  <a16:creationId xmlns:a16="http://schemas.microsoft.com/office/drawing/2014/main" id="{A100DC19-F24C-4066-B3C2-33A6A2D0D3A6}"/>
                </a:ext>
              </a:extLst>
            </p:cNvPr>
            <p:cNvSpPr txBox="1">
              <a:spLocks/>
            </p:cNvSpPr>
            <p:nvPr/>
          </p:nvSpPr>
          <p:spPr>
            <a:xfrm>
              <a:off x="9069359" y="5625840"/>
              <a:ext cx="2633114" cy="6135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예측값 산출 및 </a:t>
              </a:r>
              <a: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Gap* </a:t>
              </a: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차이 분석</a:t>
              </a:r>
              <a:b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en-US" altLang="ko-KR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(*Gap = Y_</a:t>
              </a:r>
              <a:r>
                <a:rPr lang="ko-KR" altLang="en-US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실제값 </a:t>
              </a:r>
              <a:r>
                <a:rPr lang="en-US" altLang="ko-KR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– Y^_</a:t>
              </a:r>
              <a:r>
                <a:rPr lang="ko-KR" altLang="en-US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예측값</a:t>
              </a:r>
              <a:r>
                <a:rPr lang="en-US" altLang="ko-KR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)</a:t>
              </a:r>
              <a:endParaRPr lang="ko-KR" altLang="en-US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78FBCCDD-9F74-471B-93B6-072645A0187F}"/>
                </a:ext>
              </a:extLst>
            </p:cNvPr>
            <p:cNvSpPr/>
            <p:nvPr/>
          </p:nvSpPr>
          <p:spPr>
            <a:xfrm>
              <a:off x="8494850" y="5713225"/>
              <a:ext cx="438747" cy="438747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7EFBD238-E806-4793-94BE-AE587024B8BA}"/>
                </a:ext>
              </a:extLst>
            </p:cNvPr>
            <p:cNvSpPr txBox="1"/>
            <p:nvPr/>
          </p:nvSpPr>
          <p:spPr>
            <a:xfrm>
              <a:off x="8472009" y="5747932"/>
              <a:ext cx="4844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solidFill>
                    <a:schemeClr val="bg1"/>
                  </a:solidFill>
                </a:rPr>
                <a:t>4.1</a:t>
              </a:r>
              <a:endParaRPr lang="ko-KR" alt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529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91D238B6-CAF7-408E-ABAC-9119327E27E2}"/>
              </a:ext>
            </a:extLst>
          </p:cNvPr>
          <p:cNvSpPr txBox="1"/>
          <p:nvPr/>
        </p:nvSpPr>
        <p:spPr>
          <a:xfrm>
            <a:off x="7188230" y="1788008"/>
            <a:ext cx="4342531" cy="4630235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endParaRPr lang="en-US" altLang="ko-KR" sz="20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908793" cy="640080"/>
          </a:xfrm>
        </p:spPr>
        <p:txBody>
          <a:bodyPr rtlCol="0">
            <a:normAutofit/>
          </a:bodyPr>
          <a:lstStyle/>
          <a:p>
            <a:r>
              <a:rPr lang="ko-KR" altLang="en-US" b="1">
                <a:cs typeface="Segoe UI Light" panose="020B0502040204020203" pitchFamily="34" charset="0"/>
              </a:rPr>
              <a:t>다중회귀진단 </a:t>
            </a:r>
            <a:r>
              <a:rPr lang="en-US" altLang="ko-KR">
                <a:cs typeface="Segoe UI Light" panose="020B0502040204020203" pitchFamily="34" charset="0"/>
              </a:rPr>
              <a:t>:</a:t>
            </a:r>
            <a:r>
              <a:rPr lang="ko-KR" altLang="en-US">
                <a:cs typeface="Segoe UI Light" panose="020B0502040204020203" pitchFamily="34" charset="0"/>
              </a:rPr>
              <a:t> </a:t>
            </a:r>
            <a:r>
              <a:rPr lang="ko-KR" altLang="en-US" sz="28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오차항에 관한 </a:t>
            </a:r>
            <a:r>
              <a:rPr lang="en-US" altLang="ko-KR" sz="28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4</a:t>
            </a:r>
            <a:r>
              <a:rPr lang="ko-KR" altLang="en-US" sz="28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가지 가정 검증</a:t>
            </a:r>
            <a:endParaRPr lang="ko-KR" altLang="en-US" b="1" dirty="0">
              <a:cs typeface="Segoe UI Light" panose="020B0502040204020203" pitchFamily="34" charset="0"/>
            </a:endParaRPr>
          </a:p>
        </p:txBody>
      </p:sp>
      <p:sp>
        <p:nvSpPr>
          <p:cNvPr id="89" name="내용 개체 틀 17">
            <a:extLst>
              <a:ext uri="{FF2B5EF4-FFF2-40B4-BE49-F238E27FC236}">
                <a16:creationId xmlns:a16="http://schemas.microsoft.com/office/drawing/2014/main" id="{7649A185-AE94-4CCA-8EED-C1823A464FBE}"/>
              </a:ext>
            </a:extLst>
          </p:cNvPr>
          <p:cNvSpPr txBox="1">
            <a:spLocks/>
          </p:cNvSpPr>
          <p:nvPr/>
        </p:nvSpPr>
        <p:spPr>
          <a:xfrm>
            <a:off x="512416" y="1217996"/>
            <a:ext cx="11144072" cy="674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lnSpc>
                <a:spcPct val="100000"/>
              </a:lnSpc>
              <a:spcAft>
                <a:spcPts val="2000"/>
              </a:spcAft>
              <a:buNone/>
            </a:pP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오차</a:t>
            </a:r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(</a:t>
            </a: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잔차</a:t>
            </a:r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)</a:t>
            </a: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항에 관한 </a:t>
            </a:r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4</a:t>
            </a: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가지 가정 검증 회귀 진단 </a:t>
            </a:r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회귀 모형화 전 사전 진단 필요 *회귀식 사용이 가능한 문제인지 진단</a:t>
            </a:r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4A7E232A-2F1B-4B39-B304-5479ADE5708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5512" y="1788008"/>
            <a:ext cx="6262687" cy="4630235"/>
          </a:xfrm>
          <a:ln>
            <a:solidFill>
              <a:schemeClr val="accent1"/>
            </a:solidFill>
          </a:ln>
        </p:spPr>
        <p:txBody>
          <a:bodyPr numCol="1" spcCol="540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ko-KR"/>
              <a:t>y  =  y^  + e^</a:t>
            </a:r>
            <a:br>
              <a:rPr lang="en-US" altLang="ko-KR"/>
            </a:br>
            <a:r>
              <a:rPr lang="en-US" altLang="ko-KR"/>
              <a:t>100 = 90*  + 10</a:t>
            </a:r>
            <a:br>
              <a:rPr lang="en-US" altLang="ko-KR"/>
            </a:br>
            <a:r>
              <a:rPr lang="en-US" altLang="ko-KR"/>
              <a:t>100 = 95** + 5  =&gt; </a:t>
            </a:r>
            <a:r>
              <a:rPr lang="ko-KR" altLang="en-US"/>
              <a:t>모형정확도</a:t>
            </a:r>
            <a:r>
              <a:rPr lang="en-US" altLang="ko-KR"/>
              <a:t>(Accuracy) *90% --&gt; **95% (+5%</a:t>
            </a:r>
            <a:r>
              <a:rPr lang="ko-KR" altLang="en-US"/>
              <a:t>증가</a:t>
            </a:r>
            <a:r>
              <a:rPr lang="en-US" altLang="ko-KR"/>
              <a:t>)</a:t>
            </a:r>
            <a:r>
              <a:rPr lang="ko-KR" altLang="en-US"/>
              <a:t>하면</a:t>
            </a:r>
            <a:r>
              <a:rPr lang="en-US" altLang="ko-KR"/>
              <a:t>, </a:t>
            </a:r>
            <a:br>
              <a:rPr lang="en-US" altLang="ko-KR"/>
            </a:br>
            <a:r>
              <a:rPr lang="en-US" altLang="ko-KR"/>
              <a:t>                           </a:t>
            </a:r>
            <a:r>
              <a:rPr lang="ko-KR" altLang="en-US"/>
              <a:t>오차율</a:t>
            </a:r>
            <a:r>
              <a:rPr lang="en-US" altLang="ko-KR"/>
              <a:t>(</a:t>
            </a:r>
            <a:r>
              <a:rPr lang="ko-KR" altLang="en-US"/>
              <a:t>낮을수록 좋음</a:t>
            </a:r>
            <a:r>
              <a:rPr lang="en-US" altLang="ko-KR"/>
              <a:t>) *10% --&gt; ** 5% (-5%</a:t>
            </a:r>
            <a:r>
              <a:rPr lang="ko-KR" altLang="en-US"/>
              <a:t>감소</a:t>
            </a:r>
            <a:r>
              <a:rPr lang="en-US" altLang="ko-KR"/>
              <a:t>)</a:t>
            </a:r>
            <a:r>
              <a:rPr lang="ko-KR" altLang="en-US"/>
              <a:t>한다</a:t>
            </a:r>
            <a:r>
              <a:rPr lang="en-US" altLang="ko-KR"/>
              <a:t>. =========================================================</a:t>
            </a:r>
            <a:br>
              <a:rPr lang="en-US" altLang="ko-KR"/>
            </a:br>
            <a:r>
              <a:rPr lang="en-US" altLang="ko-KR"/>
              <a:t> </a:t>
            </a:r>
            <a:r>
              <a:rPr lang="ko-KR" altLang="en-US"/>
              <a:t>회귀진단 </a:t>
            </a:r>
            <a:r>
              <a:rPr lang="en-US" altLang="ko-KR"/>
              <a:t>: </a:t>
            </a:r>
            <a:r>
              <a:rPr lang="ko-KR" altLang="en-US"/>
              <a:t>회귀모형이 과연 적절</a:t>
            </a:r>
            <a:r>
              <a:rPr lang="en-US" altLang="ko-KR"/>
              <a:t>(</a:t>
            </a:r>
            <a:r>
              <a:rPr lang="ko-KR" altLang="en-US"/>
              <a:t>유효성 검증</a:t>
            </a:r>
            <a:r>
              <a:rPr lang="en-US" altLang="ko-KR"/>
              <a:t>) </a:t>
            </a:r>
            <a:r>
              <a:rPr lang="ko-KR" altLang="en-US"/>
              <a:t>한가</a:t>
            </a:r>
            <a:r>
              <a:rPr lang="en-US" altLang="ko-KR"/>
              <a:t>? =========================================================</a:t>
            </a:r>
            <a:br>
              <a:rPr lang="en-US" altLang="ko-KR"/>
            </a:br>
            <a:r>
              <a:rPr lang="en-US" altLang="ko-KR"/>
              <a:t> &lt;</a:t>
            </a:r>
            <a:r>
              <a:rPr lang="ko-KR" altLang="en-US"/>
              <a:t>최소</a:t>
            </a:r>
            <a:r>
              <a:rPr lang="en-US" altLang="ko-KR"/>
              <a:t>(</a:t>
            </a:r>
            <a:r>
              <a:rPr lang="ko-KR" altLang="en-US"/>
              <a:t>오차</a:t>
            </a:r>
            <a:r>
              <a:rPr lang="en-US" altLang="ko-KR"/>
              <a:t>)</a:t>
            </a:r>
            <a:r>
              <a:rPr lang="ko-KR" altLang="en-US"/>
              <a:t>제곱법</a:t>
            </a:r>
            <a:r>
              <a:rPr lang="en-US" altLang="ko-KR"/>
              <a:t>(OLS)&gt;</a:t>
            </a:r>
            <a:r>
              <a:rPr lang="ko-KR" altLang="en-US"/>
              <a:t>를 사용하는 선형모형은 가장 오래된 통계방법의 하나</a:t>
            </a:r>
            <a:br>
              <a:rPr lang="en-US" altLang="ko-KR"/>
            </a:br>
            <a:r>
              <a:rPr lang="ko-KR" altLang="en-US"/>
              <a:t>ㄴ </a:t>
            </a:r>
            <a:r>
              <a:rPr lang="en-US" altLang="ko-KR"/>
              <a:t>min(sum(y-y^)^2)  &lt;</a:t>
            </a:r>
            <a:r>
              <a:rPr lang="ko-KR" altLang="en-US"/>
              <a:t>오차제곱합최소화</a:t>
            </a:r>
            <a:r>
              <a:rPr lang="en-US" altLang="ko-KR"/>
              <a:t>&gt;</a:t>
            </a:r>
            <a:r>
              <a:rPr lang="ko-KR" altLang="en-US"/>
              <a:t>시키는 </a:t>
            </a:r>
            <a:r>
              <a:rPr lang="en-US" altLang="ko-KR"/>
              <a:t>[β^] </a:t>
            </a:r>
            <a:r>
              <a:rPr lang="ko-KR" altLang="en-US"/>
              <a:t>찾기 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ko-KR"/>
              <a:t> (</a:t>
            </a:r>
            <a:r>
              <a:rPr lang="ko-KR" altLang="en-US"/>
              <a:t>다중</a:t>
            </a:r>
            <a:r>
              <a:rPr lang="en-US" altLang="ko-KR"/>
              <a:t>)</a:t>
            </a:r>
            <a:r>
              <a:rPr lang="ko-KR" altLang="en-US"/>
              <a:t>회귀모형의 검증이 왜 필요한가</a:t>
            </a:r>
            <a:r>
              <a:rPr lang="en-US" altLang="ko-KR"/>
              <a:t>? </a:t>
            </a:r>
            <a:br>
              <a:rPr lang="en-US" altLang="ko-KR"/>
            </a:br>
            <a:r>
              <a:rPr lang="en-US" altLang="ko-KR"/>
              <a:t> (1) </a:t>
            </a:r>
            <a:r>
              <a:rPr lang="ko-KR" altLang="en-US"/>
              <a:t>오차 불규칙성 등으로 인해</a:t>
            </a:r>
            <a:r>
              <a:rPr lang="en-US" altLang="ko-KR"/>
              <a:t>, </a:t>
            </a:r>
            <a:r>
              <a:rPr lang="ko-KR" altLang="en-US"/>
              <a:t>관측값</a:t>
            </a:r>
            <a:r>
              <a:rPr lang="en-US" altLang="ko-KR"/>
              <a:t>/</a:t>
            </a:r>
            <a:r>
              <a:rPr lang="ko-KR" altLang="en-US"/>
              <a:t>데이터가 불규칙하거나 </a:t>
            </a:r>
            <a:br>
              <a:rPr lang="en-US" altLang="ko-KR"/>
            </a:br>
            <a:r>
              <a:rPr lang="en-US" altLang="ko-KR"/>
              <a:t> (2) </a:t>
            </a:r>
            <a:r>
              <a:rPr lang="ko-KR" altLang="en-US"/>
              <a:t>반응변수</a:t>
            </a:r>
            <a:r>
              <a:rPr lang="en-US" altLang="ko-KR"/>
              <a:t>(Y</a:t>
            </a:r>
            <a:r>
              <a:rPr lang="ko-KR" altLang="en-US"/>
              <a:t>변수</a:t>
            </a:r>
            <a:r>
              <a:rPr lang="en-US" altLang="ko-KR"/>
              <a:t>)</a:t>
            </a:r>
            <a:r>
              <a:rPr lang="ko-KR" altLang="en-US"/>
              <a:t>와 예측변수</a:t>
            </a:r>
            <a:r>
              <a:rPr lang="en-US" altLang="ko-KR"/>
              <a:t>(X</a:t>
            </a:r>
            <a:r>
              <a:rPr lang="ko-KR" altLang="en-US"/>
              <a:t>변수</a:t>
            </a:r>
            <a:r>
              <a:rPr lang="en-US" altLang="ko-KR"/>
              <a:t>) </a:t>
            </a:r>
            <a:r>
              <a:rPr lang="ko-KR" altLang="en-US"/>
              <a:t>사이의 관계를 잘못 설정한 경우 </a:t>
            </a:r>
            <a:br>
              <a:rPr lang="en-US" altLang="ko-KR"/>
            </a:br>
            <a:r>
              <a:rPr lang="en-US" altLang="ko-KR"/>
              <a:t>    </a:t>
            </a:r>
            <a:r>
              <a:rPr lang="ko-KR" altLang="en-US"/>
              <a:t>부정확한 통계 모형을 만들 수 있다</a:t>
            </a:r>
            <a:r>
              <a:rPr lang="en-US" altLang="ko-KR"/>
              <a:t>.</a:t>
            </a:r>
            <a:br>
              <a:rPr lang="en-US" altLang="ko-KR"/>
            </a:br>
            <a:br>
              <a:rPr lang="en-US" altLang="ko-KR"/>
            </a:br>
            <a:r>
              <a:rPr lang="en-US" altLang="ko-KR"/>
              <a:t> </a:t>
            </a:r>
            <a:r>
              <a:rPr lang="ko-KR" altLang="en-US"/>
              <a:t>실제로 반응변수</a:t>
            </a:r>
            <a:r>
              <a:rPr lang="en-US" altLang="ko-KR"/>
              <a:t>(Y</a:t>
            </a:r>
            <a:r>
              <a:rPr lang="ko-KR" altLang="en-US"/>
              <a:t>변수</a:t>
            </a:r>
            <a:r>
              <a:rPr lang="en-US" altLang="ko-KR"/>
              <a:t>)</a:t>
            </a:r>
            <a:r>
              <a:rPr lang="ko-KR" altLang="en-US"/>
              <a:t>와 예측변수</a:t>
            </a:r>
            <a:r>
              <a:rPr lang="en-US" altLang="ko-KR"/>
              <a:t>(X</a:t>
            </a:r>
            <a:r>
              <a:rPr lang="ko-KR" altLang="en-US"/>
              <a:t>변수</a:t>
            </a:r>
            <a:r>
              <a:rPr lang="en-US" altLang="ko-KR"/>
              <a:t>) </a:t>
            </a:r>
            <a:r>
              <a:rPr lang="ko-KR" altLang="en-US"/>
              <a:t>사이에 </a:t>
            </a:r>
            <a:br>
              <a:rPr lang="en-US" altLang="ko-KR"/>
            </a:br>
            <a:r>
              <a:rPr lang="en-US" altLang="ko-KR"/>
              <a:t> (1) </a:t>
            </a:r>
            <a:r>
              <a:rPr lang="ko-KR" altLang="en-US"/>
              <a:t>유효한 설명</a:t>
            </a:r>
            <a:r>
              <a:rPr lang="en-US" altLang="ko-KR"/>
              <a:t>/</a:t>
            </a:r>
            <a:r>
              <a:rPr lang="ko-KR" altLang="en-US"/>
              <a:t>예측 관계가 있음에도 관계가 없다고 결론내리거나 </a:t>
            </a:r>
            <a:br>
              <a:rPr lang="en-US" altLang="ko-KR"/>
            </a:br>
            <a:r>
              <a:rPr lang="en-US" altLang="ko-KR"/>
              <a:t> (2) </a:t>
            </a:r>
            <a:r>
              <a:rPr lang="ko-KR" altLang="en-US"/>
              <a:t>반응변수</a:t>
            </a:r>
            <a:r>
              <a:rPr lang="en-US" altLang="ko-KR"/>
              <a:t>(Y</a:t>
            </a:r>
            <a:r>
              <a:rPr lang="ko-KR" altLang="en-US"/>
              <a:t>변수</a:t>
            </a:r>
            <a:r>
              <a:rPr lang="en-US" altLang="ko-KR"/>
              <a:t>)</a:t>
            </a:r>
            <a:r>
              <a:rPr lang="ko-KR" altLang="en-US"/>
              <a:t>와 예측변수</a:t>
            </a:r>
            <a:r>
              <a:rPr lang="en-US" altLang="ko-KR"/>
              <a:t>(X</a:t>
            </a:r>
            <a:r>
              <a:rPr lang="ko-KR" altLang="en-US"/>
              <a:t>변수</a:t>
            </a:r>
            <a:r>
              <a:rPr lang="en-US" altLang="ko-KR"/>
              <a:t>) </a:t>
            </a:r>
            <a:r>
              <a:rPr lang="ko-KR" altLang="en-US"/>
              <a:t>사이에 아무런 관계가 없음에도</a:t>
            </a:r>
            <a:r>
              <a:rPr lang="en-US" altLang="ko-KR"/>
              <a:t> </a:t>
            </a:r>
            <a:r>
              <a:rPr lang="ko-KR" altLang="en-US"/>
              <a:t>유효한 </a:t>
            </a:r>
            <a:br>
              <a:rPr lang="en-US" altLang="ko-KR"/>
            </a:br>
            <a:r>
              <a:rPr lang="en-US" altLang="ko-KR"/>
              <a:t>     </a:t>
            </a:r>
            <a:r>
              <a:rPr lang="ko-KR" altLang="en-US"/>
              <a:t>설명</a:t>
            </a:r>
            <a:r>
              <a:rPr lang="en-US" altLang="ko-KR"/>
              <a:t>/</a:t>
            </a:r>
            <a:r>
              <a:rPr lang="ko-KR" altLang="en-US"/>
              <a:t>예측 관계가 있다고 결론을 내려서</a:t>
            </a:r>
            <a:br>
              <a:rPr lang="en-US" altLang="ko-KR"/>
            </a:br>
            <a:br>
              <a:rPr lang="en-US" altLang="ko-KR"/>
            </a:br>
            <a:r>
              <a:rPr lang="ko-KR" altLang="en-US"/>
              <a:t>과거 데이터를이용해 추정한</a:t>
            </a:r>
            <a:r>
              <a:rPr lang="en-US" altLang="ko-KR"/>
              <a:t>/</a:t>
            </a:r>
            <a:r>
              <a:rPr lang="ko-KR" altLang="en-US"/>
              <a:t>예측한 추정모형식을 만들었어도</a:t>
            </a:r>
            <a:r>
              <a:rPr lang="en-US" altLang="ko-KR"/>
              <a:t>, </a:t>
            </a:r>
            <a:r>
              <a:rPr lang="ko-KR" altLang="en-US"/>
              <a:t>새로운 데이터셋을 적용해보면</a:t>
            </a:r>
            <a:r>
              <a:rPr lang="en-US" altLang="ko-KR"/>
              <a:t> </a:t>
            </a:r>
            <a:r>
              <a:rPr lang="ko-KR" altLang="en-US"/>
              <a:t>예측이 빗나가 불필요한 심각한 오류를 만들 수 있기에</a:t>
            </a:r>
            <a:r>
              <a:rPr lang="en-US" altLang="ko-KR"/>
              <a:t>, </a:t>
            </a:r>
            <a:r>
              <a:rPr lang="ko-KR" altLang="en-US"/>
              <a:t>이를 검증하기 위해</a:t>
            </a:r>
            <a:r>
              <a:rPr lang="en-US" altLang="ko-KR"/>
              <a:t>, </a:t>
            </a:r>
            <a:r>
              <a:rPr lang="ko-KR" altLang="en-US"/>
              <a:t>새로운 데이타셋 적용해서 재검증하여</a:t>
            </a:r>
            <a:r>
              <a:rPr lang="en-US" altLang="ko-KR"/>
              <a:t>, </a:t>
            </a:r>
            <a:r>
              <a:rPr lang="ko-KR" altLang="en-US"/>
              <a:t>모형정확도가 강건하게  유지되도록 예측</a:t>
            </a:r>
            <a:r>
              <a:rPr lang="en-US" altLang="ko-KR"/>
              <a:t>/</a:t>
            </a:r>
            <a:r>
              <a:rPr lang="ko-KR" altLang="en-US"/>
              <a:t>추정 모형식의  유효성을  검증하는 것이다</a:t>
            </a:r>
            <a:r>
              <a:rPr lang="en-US" altLang="ko-KR"/>
              <a:t>.</a:t>
            </a:r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9BE36B4-9CF8-4572-A533-0CB43ED78B6B}"/>
              </a:ext>
            </a:extLst>
          </p:cNvPr>
          <p:cNvGrpSpPr/>
          <p:nvPr/>
        </p:nvGrpSpPr>
        <p:grpSpPr>
          <a:xfrm>
            <a:off x="7415180" y="1853519"/>
            <a:ext cx="4434551" cy="795156"/>
            <a:chOff x="774180" y="1940830"/>
            <a:chExt cx="4434551" cy="795156"/>
          </a:xfrm>
        </p:grpSpPr>
        <p:grpSp>
          <p:nvGrpSpPr>
            <p:cNvPr id="102" name="그룹 101">
              <a:extLst>
                <a:ext uri="{FF2B5EF4-FFF2-40B4-BE49-F238E27FC236}">
                  <a16:creationId xmlns:a16="http://schemas.microsoft.com/office/drawing/2014/main" id="{36F86CA6-6DEE-4D2E-9734-9252295855AA}"/>
                </a:ext>
              </a:extLst>
            </p:cNvPr>
            <p:cNvGrpSpPr/>
            <p:nvPr/>
          </p:nvGrpSpPr>
          <p:grpSpPr>
            <a:xfrm>
              <a:off x="774180" y="2117093"/>
              <a:ext cx="558179" cy="442631"/>
              <a:chOff x="6909099" y="1917996"/>
              <a:chExt cx="558179" cy="442631"/>
            </a:xfrm>
          </p:grpSpPr>
          <p:sp>
            <p:nvSpPr>
              <p:cNvPr id="104" name="타원 103" descr="작은 원">
                <a:extLst>
                  <a:ext uri="{FF2B5EF4-FFF2-40B4-BE49-F238E27FC236}">
                    <a16:creationId xmlns:a16="http://schemas.microsoft.com/office/drawing/2014/main" id="{2C9D90CF-7BA3-4693-9B95-BD0FD191CC36}"/>
                  </a:ext>
                </a:extLst>
              </p:cNvPr>
              <p:cNvSpPr/>
              <p:nvPr/>
            </p:nvSpPr>
            <p:spPr bwMode="blackWhite">
              <a:xfrm>
                <a:off x="6983269" y="1917996"/>
                <a:ext cx="409838" cy="442631"/>
              </a:xfrm>
              <a:prstGeom prst="ellipse">
                <a:avLst/>
              </a:prstGeom>
              <a:solidFill>
                <a:srgbClr val="D247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05" name="텍스트 상자 19" descr="숫자 1">
                <a:extLst>
                  <a:ext uri="{FF2B5EF4-FFF2-40B4-BE49-F238E27FC236}">
                    <a16:creationId xmlns:a16="http://schemas.microsoft.com/office/drawing/2014/main" id="{C125CA5F-2774-4C29-B7F1-E24D0BE946D8}"/>
                  </a:ext>
                </a:extLst>
              </p:cNvPr>
              <p:cNvSpPr txBox="1">
                <a:spLocks noChangeAspect="1"/>
              </p:cNvSpPr>
              <p:nvPr/>
            </p:nvSpPr>
            <p:spPr bwMode="blackWhite">
              <a:xfrm>
                <a:off x="6909099" y="1954645"/>
                <a:ext cx="558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altLang="ko-KR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3.1</a:t>
                </a:r>
                <a:endParaRPr lang="ko-KR" altLang="en-US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endParaRPr>
              </a:p>
            </p:txBody>
          </p:sp>
        </p:grpSp>
        <p:sp>
          <p:nvSpPr>
            <p:cNvPr id="103" name="내용 개체 틀 17">
              <a:extLst>
                <a:ext uri="{FF2B5EF4-FFF2-40B4-BE49-F238E27FC236}">
                  <a16:creationId xmlns:a16="http://schemas.microsoft.com/office/drawing/2014/main" id="{726D7A0A-CF42-4FE6-A748-23AD0031E10B}"/>
                </a:ext>
              </a:extLst>
            </p:cNvPr>
            <p:cNvSpPr txBox="1">
              <a:spLocks/>
            </p:cNvSpPr>
            <p:nvPr/>
          </p:nvSpPr>
          <p:spPr>
            <a:xfrm>
              <a:off x="1433120" y="1940830"/>
              <a:ext cx="3775611" cy="79515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오차</a:t>
              </a:r>
              <a: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/</a:t>
              </a: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잔차 독립성 가정</a:t>
              </a:r>
              <a: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(independently)</a:t>
              </a:r>
              <a:b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ko-KR" altLang="en-US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예측오차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/</a:t>
              </a:r>
              <a:r>
                <a:rPr lang="ko-KR" altLang="en-US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잔차 간 독립적이어야함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.</a:t>
              </a:r>
              <a:b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 (</a:t>
              </a:r>
              <a:r>
                <a:rPr lang="ko-KR" altLang="en-US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위배 시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,</a:t>
              </a:r>
              <a:r>
                <a:rPr lang="ko-KR" altLang="en-US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 예측회귀계수 예측 신뢰성 저해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)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016FDB7-947D-41CD-8D78-75A777AA708D}"/>
              </a:ext>
            </a:extLst>
          </p:cNvPr>
          <p:cNvGrpSpPr/>
          <p:nvPr/>
        </p:nvGrpSpPr>
        <p:grpSpPr>
          <a:xfrm>
            <a:off x="7415180" y="3121163"/>
            <a:ext cx="4434551" cy="795156"/>
            <a:chOff x="7415180" y="3258856"/>
            <a:chExt cx="4434551" cy="795156"/>
          </a:xfrm>
        </p:grpSpPr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8C4D5ED1-E394-46D1-9286-35D8E1CF43BF}"/>
                </a:ext>
              </a:extLst>
            </p:cNvPr>
            <p:cNvGrpSpPr/>
            <p:nvPr/>
          </p:nvGrpSpPr>
          <p:grpSpPr>
            <a:xfrm>
              <a:off x="7415180" y="3435119"/>
              <a:ext cx="558179" cy="442631"/>
              <a:chOff x="6909099" y="3127692"/>
              <a:chExt cx="558179" cy="442631"/>
            </a:xfrm>
          </p:grpSpPr>
          <p:sp>
            <p:nvSpPr>
              <p:cNvPr id="100" name="타원 99" descr="작은 원">
                <a:extLst>
                  <a:ext uri="{FF2B5EF4-FFF2-40B4-BE49-F238E27FC236}">
                    <a16:creationId xmlns:a16="http://schemas.microsoft.com/office/drawing/2014/main" id="{B4C54975-306D-42F5-87E0-17CB3BF5A00C}"/>
                  </a:ext>
                </a:extLst>
              </p:cNvPr>
              <p:cNvSpPr/>
              <p:nvPr/>
            </p:nvSpPr>
            <p:spPr bwMode="blackWhite">
              <a:xfrm>
                <a:off x="6983269" y="3127692"/>
                <a:ext cx="409838" cy="442631"/>
              </a:xfrm>
              <a:prstGeom prst="ellipse">
                <a:avLst/>
              </a:prstGeom>
              <a:solidFill>
                <a:srgbClr val="D247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01" name="텍스트 상자 19" descr="숫자 1">
                <a:extLst>
                  <a:ext uri="{FF2B5EF4-FFF2-40B4-BE49-F238E27FC236}">
                    <a16:creationId xmlns:a16="http://schemas.microsoft.com/office/drawing/2014/main" id="{E51D4F56-08C2-4815-8CA6-A955EE448D41}"/>
                  </a:ext>
                </a:extLst>
              </p:cNvPr>
              <p:cNvSpPr txBox="1">
                <a:spLocks noChangeAspect="1"/>
              </p:cNvSpPr>
              <p:nvPr/>
            </p:nvSpPr>
            <p:spPr bwMode="blackWhite">
              <a:xfrm>
                <a:off x="6909099" y="3164341"/>
                <a:ext cx="558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altLang="ko-KR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3.2</a:t>
                </a:r>
                <a:endParaRPr lang="ko-KR" altLang="en-US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endParaRPr>
              </a:p>
            </p:txBody>
          </p:sp>
        </p:grpSp>
        <p:sp>
          <p:nvSpPr>
            <p:cNvPr id="99" name="내용 개체 틀 17">
              <a:extLst>
                <a:ext uri="{FF2B5EF4-FFF2-40B4-BE49-F238E27FC236}">
                  <a16:creationId xmlns:a16="http://schemas.microsoft.com/office/drawing/2014/main" id="{A922FF06-984A-49C6-8E3C-2365740BBC41}"/>
                </a:ext>
              </a:extLst>
            </p:cNvPr>
            <p:cNvSpPr txBox="1">
              <a:spLocks/>
            </p:cNvSpPr>
            <p:nvPr/>
          </p:nvSpPr>
          <p:spPr>
            <a:xfrm>
              <a:off x="8074120" y="3258856"/>
              <a:ext cx="3775611" cy="7951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오차 간 자기상관관계가 없을 것</a:t>
              </a:r>
              <a:b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ko-KR" altLang="en-US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예측오차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/</a:t>
              </a:r>
              <a:r>
                <a:rPr lang="ko-KR" altLang="en-US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잔차 간 非자기상관이어야함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.</a:t>
              </a:r>
              <a:b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 (</a:t>
              </a:r>
              <a:r>
                <a:rPr lang="ko-KR" altLang="en-US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위배 시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,</a:t>
              </a:r>
              <a:r>
                <a:rPr lang="ko-KR" altLang="en-US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 예측회귀계수 예측 신뢰성 저해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)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 </a:t>
              </a:r>
              <a:endParaRPr lang="en-US" altLang="ko-KR" sz="13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A79256D7-6317-4A65-B317-266183435B93}"/>
              </a:ext>
            </a:extLst>
          </p:cNvPr>
          <p:cNvGrpSpPr/>
          <p:nvPr/>
        </p:nvGrpSpPr>
        <p:grpSpPr>
          <a:xfrm>
            <a:off x="7415180" y="4388807"/>
            <a:ext cx="4434551" cy="831912"/>
            <a:chOff x="774180" y="4500622"/>
            <a:chExt cx="4434551" cy="831912"/>
          </a:xfrm>
        </p:grpSpPr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C2442C8A-51FB-45FF-9AC9-646F39E57BED}"/>
                </a:ext>
              </a:extLst>
            </p:cNvPr>
            <p:cNvGrpSpPr/>
            <p:nvPr/>
          </p:nvGrpSpPr>
          <p:grpSpPr>
            <a:xfrm>
              <a:off x="774180" y="4634302"/>
              <a:ext cx="558179" cy="442631"/>
              <a:chOff x="6909099" y="4337388"/>
              <a:chExt cx="558179" cy="442631"/>
            </a:xfrm>
          </p:grpSpPr>
          <p:sp>
            <p:nvSpPr>
              <p:cNvPr id="96" name="타원 95" descr="작은 원">
                <a:extLst>
                  <a:ext uri="{FF2B5EF4-FFF2-40B4-BE49-F238E27FC236}">
                    <a16:creationId xmlns:a16="http://schemas.microsoft.com/office/drawing/2014/main" id="{29C9EF38-EBFE-456C-9826-CA3C8092E868}"/>
                  </a:ext>
                </a:extLst>
              </p:cNvPr>
              <p:cNvSpPr/>
              <p:nvPr/>
            </p:nvSpPr>
            <p:spPr bwMode="blackWhite">
              <a:xfrm>
                <a:off x="6983269" y="4337388"/>
                <a:ext cx="409838" cy="442631"/>
              </a:xfrm>
              <a:prstGeom prst="ellipse">
                <a:avLst/>
              </a:prstGeom>
              <a:solidFill>
                <a:srgbClr val="D247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97" name="텍스트 상자 19" descr="숫자 1">
                <a:extLst>
                  <a:ext uri="{FF2B5EF4-FFF2-40B4-BE49-F238E27FC236}">
                    <a16:creationId xmlns:a16="http://schemas.microsoft.com/office/drawing/2014/main" id="{D23C35D3-B988-48AD-B80A-41BB5A644D05}"/>
                  </a:ext>
                </a:extLst>
              </p:cNvPr>
              <p:cNvSpPr txBox="1">
                <a:spLocks noChangeAspect="1"/>
              </p:cNvSpPr>
              <p:nvPr/>
            </p:nvSpPr>
            <p:spPr bwMode="blackWhite">
              <a:xfrm>
                <a:off x="6909099" y="4374037"/>
                <a:ext cx="558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altLang="ko-KR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3.3</a:t>
                </a:r>
                <a:endParaRPr lang="ko-KR" altLang="en-US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endParaRPr>
              </a:p>
            </p:txBody>
          </p:sp>
        </p:grpSp>
        <p:sp>
          <p:nvSpPr>
            <p:cNvPr id="95" name="내용 개체 틀 17">
              <a:extLst>
                <a:ext uri="{FF2B5EF4-FFF2-40B4-BE49-F238E27FC236}">
                  <a16:creationId xmlns:a16="http://schemas.microsoft.com/office/drawing/2014/main" id="{62ECA8CB-9BFE-465E-98A3-E225BB76D3EB}"/>
                </a:ext>
              </a:extLst>
            </p:cNvPr>
            <p:cNvSpPr txBox="1">
              <a:spLocks/>
            </p:cNvSpPr>
            <p:nvPr/>
          </p:nvSpPr>
          <p:spPr>
            <a:xfrm>
              <a:off x="1433120" y="4500622"/>
              <a:ext cx="3775611" cy="83191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오차 등분산성 가정</a:t>
              </a:r>
              <a: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(identically)</a:t>
              </a:r>
              <a:b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ko-KR" altLang="en-US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예측오차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/</a:t>
              </a:r>
              <a:r>
                <a:rPr lang="ko-KR" altLang="en-US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잔차 간 분산이 일정해야함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. </a:t>
              </a:r>
              <a:b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(</a:t>
              </a:r>
              <a:r>
                <a:rPr lang="ko-KR" altLang="en-US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동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/</a:t>
              </a:r>
              <a:r>
                <a:rPr lang="ko-KR" altLang="en-US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등분산 가정 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= sigma^2(</a:t>
              </a:r>
              <a:r>
                <a:rPr lang="ko-KR" altLang="en-US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일정한 분산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))</a:t>
              </a:r>
              <a:endParaRPr lang="ko-KR" altLang="en-US" sz="13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  <a:p>
              <a:pPr marL="0" lvl="0" indent="0" rtl="0">
                <a:spcAft>
                  <a:spcPts val="600"/>
                </a:spcAft>
                <a:buNone/>
                <a:defRPr/>
              </a:pPr>
              <a:endParaRPr lang="ko-KR" altLang="en-US" sz="13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808C54D-3768-4FB7-9C89-B25BD15E42AC}"/>
              </a:ext>
            </a:extLst>
          </p:cNvPr>
          <p:cNvGrpSpPr/>
          <p:nvPr/>
        </p:nvGrpSpPr>
        <p:grpSpPr>
          <a:xfrm>
            <a:off x="7415180" y="5693206"/>
            <a:ext cx="4434551" cy="553728"/>
            <a:chOff x="7415180" y="5693206"/>
            <a:chExt cx="4434551" cy="553728"/>
          </a:xfrm>
        </p:grpSpPr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AD7BFED9-5A5E-491C-944D-990BE617CAB8}"/>
                </a:ext>
              </a:extLst>
            </p:cNvPr>
            <p:cNvGrpSpPr/>
            <p:nvPr/>
          </p:nvGrpSpPr>
          <p:grpSpPr>
            <a:xfrm>
              <a:off x="7415180" y="5748755"/>
              <a:ext cx="558179" cy="442631"/>
              <a:chOff x="6909099" y="5547084"/>
              <a:chExt cx="558179" cy="442631"/>
            </a:xfrm>
          </p:grpSpPr>
          <p:sp>
            <p:nvSpPr>
              <p:cNvPr id="92" name="타원 91" descr="작은 원">
                <a:extLst>
                  <a:ext uri="{FF2B5EF4-FFF2-40B4-BE49-F238E27FC236}">
                    <a16:creationId xmlns:a16="http://schemas.microsoft.com/office/drawing/2014/main" id="{A0ED2665-1351-42DC-BB8D-16A0EA3ED3B5}"/>
                  </a:ext>
                </a:extLst>
              </p:cNvPr>
              <p:cNvSpPr/>
              <p:nvPr/>
            </p:nvSpPr>
            <p:spPr bwMode="blackWhite">
              <a:xfrm>
                <a:off x="6983269" y="5547084"/>
                <a:ext cx="409838" cy="442631"/>
              </a:xfrm>
              <a:prstGeom prst="ellipse">
                <a:avLst/>
              </a:prstGeom>
              <a:solidFill>
                <a:srgbClr val="D247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93" name="텍스트 상자 19" descr="숫자 1">
                <a:extLst>
                  <a:ext uri="{FF2B5EF4-FFF2-40B4-BE49-F238E27FC236}">
                    <a16:creationId xmlns:a16="http://schemas.microsoft.com/office/drawing/2014/main" id="{77BF3612-9856-4B04-98F8-6683FB526A78}"/>
                  </a:ext>
                </a:extLst>
              </p:cNvPr>
              <p:cNvSpPr txBox="1">
                <a:spLocks noChangeAspect="1"/>
              </p:cNvSpPr>
              <p:nvPr/>
            </p:nvSpPr>
            <p:spPr bwMode="blackWhite">
              <a:xfrm>
                <a:off x="6909099" y="5583733"/>
                <a:ext cx="558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altLang="ko-KR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3.4</a:t>
                </a:r>
                <a:endParaRPr lang="ko-KR" altLang="en-US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endParaRPr>
              </a:p>
            </p:txBody>
          </p:sp>
        </p:grpSp>
        <p:sp>
          <p:nvSpPr>
            <p:cNvPr id="91" name="내용 개체 틀 17">
              <a:extLst>
                <a:ext uri="{FF2B5EF4-FFF2-40B4-BE49-F238E27FC236}">
                  <a16:creationId xmlns:a16="http://schemas.microsoft.com/office/drawing/2014/main" id="{03D2E29F-3FE0-4370-B82D-FD28B9F06FF1}"/>
                </a:ext>
              </a:extLst>
            </p:cNvPr>
            <p:cNvSpPr txBox="1">
              <a:spLocks/>
            </p:cNvSpPr>
            <p:nvPr/>
          </p:nvSpPr>
          <p:spPr>
            <a:xfrm>
              <a:off x="8074120" y="5693206"/>
              <a:ext cx="3775611" cy="55372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오차 정규성 검증</a:t>
              </a:r>
              <a: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(Normal distribution)</a:t>
              </a:r>
              <a:b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ko-KR" altLang="en-US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예측오차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/</a:t>
              </a:r>
              <a:r>
                <a:rPr lang="ko-KR" altLang="en-US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잔차분포가 정규분포를 따름</a:t>
              </a:r>
              <a:endParaRPr lang="en-US" altLang="ko-KR" sz="13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ACAE290D-CE80-47A0-8C09-2A488FEA2F9D}"/>
              </a:ext>
            </a:extLst>
          </p:cNvPr>
          <p:cNvSpPr/>
          <p:nvPr/>
        </p:nvSpPr>
        <p:spPr>
          <a:xfrm>
            <a:off x="6783894" y="3736731"/>
            <a:ext cx="386486" cy="5627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650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15EC95-816D-46FF-8CB5-039C7017270A}"/>
              </a:ext>
            </a:extLst>
          </p:cNvPr>
          <p:cNvSpPr txBox="1">
            <a:spLocks/>
          </p:cNvSpPr>
          <p:nvPr/>
        </p:nvSpPr>
        <p:spPr>
          <a:xfrm>
            <a:off x="521207" y="448056"/>
            <a:ext cx="10908793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77500" lnSpcReduction="20000"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800" b="1" kern="1200" noProof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defRPr>
            </a:lvl1pPr>
          </a:lstStyle>
          <a:p>
            <a:r>
              <a:rPr lang="en-US" altLang="ko-KR" b="1">
                <a:cs typeface="Segoe UI Light" panose="020B0502040204020203" pitchFamily="34" charset="0"/>
              </a:rPr>
              <a:t>3.1/3.2. </a:t>
            </a:r>
            <a:r>
              <a:rPr lang="ko-KR" altLang="en-US" b="1">
                <a:cs typeface="Segoe UI Light" panose="020B0502040204020203" pitchFamily="34" charset="0"/>
              </a:rPr>
              <a:t>다중회귀진단 </a:t>
            </a:r>
            <a:r>
              <a:rPr lang="en-US" altLang="ko-KR">
                <a:cs typeface="Segoe UI Light" panose="020B0502040204020203" pitchFamily="34" charset="0"/>
              </a:rPr>
              <a:t>:</a:t>
            </a:r>
            <a:r>
              <a:rPr lang="ko-KR" altLang="en-US">
                <a:cs typeface="Segoe UI Light" panose="020B0502040204020203" pitchFamily="34" charset="0"/>
              </a:rPr>
              <a:t> </a:t>
            </a:r>
            <a:r>
              <a:rPr lang="ko-KR" altLang="en-US" sz="28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오차항에 관한 </a:t>
            </a:r>
            <a:r>
              <a:rPr lang="en-US" altLang="ko-KR" sz="28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4</a:t>
            </a:r>
            <a:r>
              <a:rPr lang="ko-KR" altLang="en-US" sz="28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가지 가정 검증 </a:t>
            </a:r>
            <a:r>
              <a:rPr lang="en-US" altLang="ko-KR" sz="28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: </a:t>
            </a:r>
          </a:p>
          <a:p>
            <a:r>
              <a:rPr lang="en-US" altLang="ko-KR">
                <a:cs typeface="Segoe UI" panose="020B0502040204020203" pitchFamily="34" charset="0"/>
              </a:rPr>
              <a:t>                   </a:t>
            </a:r>
            <a:r>
              <a:rPr lang="en-US" altLang="ko-KR" b="1">
                <a:cs typeface="Segoe UI" panose="020B0502040204020203" pitchFamily="34" charset="0"/>
              </a:rPr>
              <a:t>(1)</a:t>
            </a:r>
            <a:r>
              <a:rPr lang="ko-KR" altLang="en-US" b="1">
                <a:cs typeface="Segoe UI" panose="020B0502040204020203" pitchFamily="34" charset="0"/>
              </a:rPr>
              <a:t> 오차 독립성 가정 검증 </a:t>
            </a:r>
            <a:r>
              <a:rPr lang="en-US" altLang="ko-KR" b="1">
                <a:cs typeface="Segoe UI" panose="020B0502040204020203" pitchFamily="34" charset="0"/>
              </a:rPr>
              <a:t>+ (2)</a:t>
            </a:r>
            <a:r>
              <a:rPr lang="ko-KR" altLang="en-US" b="1">
                <a:cs typeface="Segoe UI" panose="020B0502040204020203" pitchFamily="34" charset="0"/>
              </a:rPr>
              <a:t> 오차간 無자기상관성 검증</a:t>
            </a:r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7C20CDA-005C-4658-9306-67FD89C6B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33" y="2566379"/>
            <a:ext cx="4937762" cy="3968025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B156D8F2-E824-4EE6-96E9-8DE533080592}"/>
              </a:ext>
            </a:extLst>
          </p:cNvPr>
          <p:cNvGrpSpPr/>
          <p:nvPr/>
        </p:nvGrpSpPr>
        <p:grpSpPr>
          <a:xfrm>
            <a:off x="414943" y="1252627"/>
            <a:ext cx="4434551" cy="795156"/>
            <a:chOff x="774180" y="1940830"/>
            <a:chExt cx="4434551" cy="795156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4493D98D-D744-4444-A42E-FBDEE12C2612}"/>
                </a:ext>
              </a:extLst>
            </p:cNvPr>
            <p:cNvGrpSpPr/>
            <p:nvPr/>
          </p:nvGrpSpPr>
          <p:grpSpPr>
            <a:xfrm>
              <a:off x="774180" y="2117093"/>
              <a:ext cx="558179" cy="442631"/>
              <a:chOff x="6909099" y="1917996"/>
              <a:chExt cx="558179" cy="442631"/>
            </a:xfrm>
          </p:grpSpPr>
          <p:sp>
            <p:nvSpPr>
              <p:cNvPr id="13" name="타원 12" descr="작은 원">
                <a:extLst>
                  <a:ext uri="{FF2B5EF4-FFF2-40B4-BE49-F238E27FC236}">
                    <a16:creationId xmlns:a16="http://schemas.microsoft.com/office/drawing/2014/main" id="{8B304BC1-B71B-48D4-B776-345159020FE2}"/>
                  </a:ext>
                </a:extLst>
              </p:cNvPr>
              <p:cNvSpPr/>
              <p:nvPr/>
            </p:nvSpPr>
            <p:spPr bwMode="blackWhite">
              <a:xfrm>
                <a:off x="6983269" y="1917996"/>
                <a:ext cx="409838" cy="442631"/>
              </a:xfrm>
              <a:prstGeom prst="ellipse">
                <a:avLst/>
              </a:prstGeom>
              <a:solidFill>
                <a:srgbClr val="D247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4" name="텍스트 상자 19" descr="숫자 1">
                <a:extLst>
                  <a:ext uri="{FF2B5EF4-FFF2-40B4-BE49-F238E27FC236}">
                    <a16:creationId xmlns:a16="http://schemas.microsoft.com/office/drawing/2014/main" id="{8FF18084-5216-4E74-A93F-982C46356990}"/>
                  </a:ext>
                </a:extLst>
              </p:cNvPr>
              <p:cNvSpPr txBox="1">
                <a:spLocks noChangeAspect="1"/>
              </p:cNvSpPr>
              <p:nvPr/>
            </p:nvSpPr>
            <p:spPr bwMode="blackWhite">
              <a:xfrm>
                <a:off x="6909099" y="1954645"/>
                <a:ext cx="558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altLang="ko-KR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3.1</a:t>
                </a:r>
                <a:endParaRPr lang="ko-KR" altLang="en-US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endParaRPr>
              </a:p>
            </p:txBody>
          </p:sp>
        </p:grpSp>
        <p:sp>
          <p:nvSpPr>
            <p:cNvPr id="12" name="내용 개체 틀 17">
              <a:extLst>
                <a:ext uri="{FF2B5EF4-FFF2-40B4-BE49-F238E27FC236}">
                  <a16:creationId xmlns:a16="http://schemas.microsoft.com/office/drawing/2014/main" id="{FE95828B-04B5-4E9B-B63A-4E67801F3286}"/>
                </a:ext>
              </a:extLst>
            </p:cNvPr>
            <p:cNvSpPr txBox="1">
              <a:spLocks/>
            </p:cNvSpPr>
            <p:nvPr/>
          </p:nvSpPr>
          <p:spPr>
            <a:xfrm>
              <a:off x="1433120" y="1940830"/>
              <a:ext cx="3775611" cy="79515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오차</a:t>
              </a:r>
              <a: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/</a:t>
              </a: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잔차 독립성 가정</a:t>
              </a:r>
              <a: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(independently)</a:t>
              </a:r>
              <a:b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ko-KR" altLang="en-US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예측오차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/</a:t>
              </a:r>
              <a:r>
                <a:rPr lang="ko-KR" altLang="en-US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잔차 간 독립적이어야함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.</a:t>
              </a:r>
              <a:b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(</a:t>
              </a:r>
              <a:r>
                <a:rPr lang="ko-KR" altLang="en-US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위배 시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,</a:t>
              </a:r>
              <a:r>
                <a:rPr lang="ko-KR" altLang="en-US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 예측회귀계수 예측 신뢰성저해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)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DAFE693-DBD3-4C9B-BA34-E7F403BFA7AE}"/>
              </a:ext>
            </a:extLst>
          </p:cNvPr>
          <p:cNvSpPr txBox="1"/>
          <p:nvPr/>
        </p:nvSpPr>
        <p:spPr>
          <a:xfrm>
            <a:off x="2563140" y="2014891"/>
            <a:ext cx="7065720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cs typeface="Segoe UI" panose="020B0502040204020203" pitchFamily="34" charset="0"/>
              </a:rPr>
              <a:t>(1)</a:t>
            </a:r>
            <a:r>
              <a:rPr lang="ko-KR" altLang="en-US" sz="1200" b="1">
                <a:cs typeface="Segoe UI" panose="020B0502040204020203" pitchFamily="34" charset="0"/>
              </a:rPr>
              <a:t> 오차 독립성 가정 검증 </a:t>
            </a:r>
            <a:r>
              <a:rPr lang="en-US" altLang="ko-KR" sz="1200" b="1">
                <a:cs typeface="Segoe UI" panose="020B0502040204020203" pitchFamily="34" charset="0"/>
              </a:rPr>
              <a:t>+ (2)</a:t>
            </a:r>
            <a:r>
              <a:rPr lang="ko-KR" altLang="en-US" sz="1200" b="1">
                <a:cs typeface="Segoe UI" panose="020B0502040204020203" pitchFamily="34" charset="0"/>
              </a:rPr>
              <a:t> 오차간 無자기상관성 검증 </a:t>
            </a:r>
            <a:r>
              <a:rPr lang="en-US" altLang="ko-KR" sz="1200" b="1"/>
              <a:t>: </a:t>
            </a:r>
            <a:r>
              <a:rPr lang="ko-KR" altLang="en-US" sz="1200" b="1"/>
              <a:t>모두 만족함</a:t>
            </a:r>
            <a:endParaRPr lang="en-US" altLang="ko-KR" sz="1200" b="1"/>
          </a:p>
          <a:p>
            <a:pPr algn="ctr"/>
            <a:r>
              <a:rPr lang="ko-KR" altLang="en-US" sz="1200" b="1"/>
              <a:t>잔차 간 자기상관관계 없음</a:t>
            </a:r>
            <a:r>
              <a:rPr lang="en-US" altLang="ko-KR" sz="1200" b="1"/>
              <a:t>. </a:t>
            </a:r>
            <a:r>
              <a:rPr lang="ko-KR" altLang="en-US" sz="1200" b="1"/>
              <a:t>즉</a:t>
            </a:r>
            <a:r>
              <a:rPr lang="en-US" altLang="ko-KR" sz="1200" b="1"/>
              <a:t>, </a:t>
            </a:r>
            <a:r>
              <a:rPr lang="ko-KR" altLang="en-US" sz="1200" b="1"/>
              <a:t>독립성 만족</a:t>
            </a:r>
            <a:endParaRPr lang="en-US" altLang="ko-KR" sz="1200" b="1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7492052-0D59-4BC8-A3C2-83BC9F0E73F7}"/>
              </a:ext>
            </a:extLst>
          </p:cNvPr>
          <p:cNvSpPr/>
          <p:nvPr/>
        </p:nvSpPr>
        <p:spPr>
          <a:xfrm>
            <a:off x="694032" y="5856489"/>
            <a:ext cx="4711338" cy="461661"/>
          </a:xfrm>
          <a:prstGeom prst="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D8AB80-2E12-47DA-AEA2-15FAC5D951AF}"/>
              </a:ext>
            </a:extLst>
          </p:cNvPr>
          <p:cNvSpPr txBox="1"/>
          <p:nvPr/>
        </p:nvSpPr>
        <p:spPr>
          <a:xfrm>
            <a:off x="2660663" y="4506896"/>
            <a:ext cx="2670709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잔차 독립성</a:t>
            </a:r>
            <a:r>
              <a:rPr lang="ko-KR" altLang="en-US" sz="1200" b="1"/>
              <a:t> 검토 </a:t>
            </a:r>
            <a:r>
              <a:rPr lang="en-US" altLang="ko-KR" sz="1200" b="1"/>
              <a:t>:</a:t>
            </a:r>
          </a:p>
          <a:p>
            <a:pPr algn="ctr"/>
            <a:r>
              <a:rPr lang="en-US" altLang="ko-KR" sz="1200" b="1"/>
              <a:t>Durbin-Watson</a:t>
            </a:r>
            <a:r>
              <a:rPr lang="ko-KR" altLang="en-US" sz="1200" b="1"/>
              <a:t>통계량 </a:t>
            </a:r>
            <a:r>
              <a:rPr lang="en-US" altLang="ko-KR" sz="1200" b="1"/>
              <a:t>= 2.15</a:t>
            </a:r>
            <a:r>
              <a:rPr lang="ko-KR" altLang="en-US" sz="1200" b="1"/>
              <a:t>로</a:t>
            </a:r>
            <a:endParaRPr lang="en-US" altLang="ko-KR" sz="1200" b="1"/>
          </a:p>
          <a:p>
            <a:pPr algn="ctr"/>
            <a:r>
              <a:rPr lang="ko-KR" altLang="en-US" sz="1200" b="1"/>
              <a:t>잔차 간 자기상관관계 없음</a:t>
            </a:r>
            <a:r>
              <a:rPr lang="en-US" altLang="ko-KR" sz="1200" b="1"/>
              <a:t> </a:t>
            </a:r>
          </a:p>
          <a:p>
            <a:pPr algn="ctr"/>
            <a:r>
              <a:rPr lang="ko-KR" altLang="en-US" sz="1200" b="1"/>
              <a:t>즉</a:t>
            </a:r>
            <a:r>
              <a:rPr lang="en-US" altLang="ko-KR" sz="1200" b="1"/>
              <a:t>, </a:t>
            </a:r>
            <a:r>
              <a:rPr lang="ko-KR" altLang="en-US" sz="1200" b="1"/>
              <a:t>독립성 만족</a:t>
            </a:r>
            <a:endParaRPr lang="en-US" altLang="ko-KR" sz="1200" b="1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CD15147-81FD-408E-ABBD-CDCABB87016A}"/>
              </a:ext>
            </a:extLst>
          </p:cNvPr>
          <p:cNvGrpSpPr/>
          <p:nvPr/>
        </p:nvGrpSpPr>
        <p:grpSpPr>
          <a:xfrm>
            <a:off x="6457237" y="1220456"/>
            <a:ext cx="4434551" cy="795156"/>
            <a:chOff x="7415180" y="3258856"/>
            <a:chExt cx="4434551" cy="795156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81EA2B2E-F0C4-4314-9DDF-79023AEAB3E5}"/>
                </a:ext>
              </a:extLst>
            </p:cNvPr>
            <p:cNvGrpSpPr/>
            <p:nvPr/>
          </p:nvGrpSpPr>
          <p:grpSpPr>
            <a:xfrm>
              <a:off x="7415180" y="3435119"/>
              <a:ext cx="558179" cy="442631"/>
              <a:chOff x="6909099" y="3127692"/>
              <a:chExt cx="558179" cy="442631"/>
            </a:xfrm>
          </p:grpSpPr>
          <p:sp>
            <p:nvSpPr>
              <p:cNvPr id="22" name="타원 21" descr="작은 원">
                <a:extLst>
                  <a:ext uri="{FF2B5EF4-FFF2-40B4-BE49-F238E27FC236}">
                    <a16:creationId xmlns:a16="http://schemas.microsoft.com/office/drawing/2014/main" id="{644F2B09-5116-4FB9-9313-462135757A6E}"/>
                  </a:ext>
                </a:extLst>
              </p:cNvPr>
              <p:cNvSpPr/>
              <p:nvPr/>
            </p:nvSpPr>
            <p:spPr bwMode="blackWhite">
              <a:xfrm>
                <a:off x="6983269" y="3127692"/>
                <a:ext cx="409838" cy="442631"/>
              </a:xfrm>
              <a:prstGeom prst="ellipse">
                <a:avLst/>
              </a:prstGeom>
              <a:solidFill>
                <a:srgbClr val="D247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3" name="텍스트 상자 19" descr="숫자 1">
                <a:extLst>
                  <a:ext uri="{FF2B5EF4-FFF2-40B4-BE49-F238E27FC236}">
                    <a16:creationId xmlns:a16="http://schemas.microsoft.com/office/drawing/2014/main" id="{189EC206-B83C-4972-8850-B875C08E1E46}"/>
                  </a:ext>
                </a:extLst>
              </p:cNvPr>
              <p:cNvSpPr txBox="1">
                <a:spLocks noChangeAspect="1"/>
              </p:cNvSpPr>
              <p:nvPr/>
            </p:nvSpPr>
            <p:spPr bwMode="blackWhite">
              <a:xfrm>
                <a:off x="6909099" y="3164341"/>
                <a:ext cx="558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altLang="ko-KR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3.2</a:t>
                </a:r>
                <a:endParaRPr lang="ko-KR" altLang="en-US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endParaRPr>
              </a:p>
            </p:txBody>
          </p:sp>
        </p:grpSp>
        <p:sp>
          <p:nvSpPr>
            <p:cNvPr id="21" name="내용 개체 틀 17">
              <a:extLst>
                <a:ext uri="{FF2B5EF4-FFF2-40B4-BE49-F238E27FC236}">
                  <a16:creationId xmlns:a16="http://schemas.microsoft.com/office/drawing/2014/main" id="{68329063-4B80-4118-82D1-3C1A8D983B2F}"/>
                </a:ext>
              </a:extLst>
            </p:cNvPr>
            <p:cNvSpPr txBox="1">
              <a:spLocks/>
            </p:cNvSpPr>
            <p:nvPr/>
          </p:nvSpPr>
          <p:spPr>
            <a:xfrm>
              <a:off x="8074120" y="3258856"/>
              <a:ext cx="3775611" cy="7951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오차 간 자기상관관계가 없을 것</a:t>
              </a:r>
              <a:b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ko-KR" altLang="en-US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예측오차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/</a:t>
              </a:r>
              <a:r>
                <a:rPr lang="ko-KR" altLang="en-US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잔차 간 非자기상관이어야함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.</a:t>
              </a:r>
              <a:b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(</a:t>
              </a:r>
              <a:r>
                <a:rPr lang="ko-KR" altLang="en-US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위배 시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,</a:t>
              </a:r>
              <a:r>
                <a:rPr lang="ko-KR" altLang="en-US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 예측회귀계수 예측 신뢰성 저해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)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 </a:t>
              </a:r>
              <a:endParaRPr lang="en-US" altLang="ko-KR" sz="13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</p:grpSp>
      <p:pic>
        <p:nvPicPr>
          <p:cNvPr id="25" name="그림 24">
            <a:extLst>
              <a:ext uri="{FF2B5EF4-FFF2-40B4-BE49-F238E27FC236}">
                <a16:creationId xmlns:a16="http://schemas.microsoft.com/office/drawing/2014/main" id="{31BF9CB6-BE99-46D0-B00B-E9D447B04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473" y="2565300"/>
            <a:ext cx="5411017" cy="3968024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8CF462D8-B669-4359-9968-631CEE18714C}"/>
              </a:ext>
            </a:extLst>
          </p:cNvPr>
          <p:cNvSpPr/>
          <p:nvPr/>
        </p:nvSpPr>
        <p:spPr>
          <a:xfrm>
            <a:off x="6298473" y="5738923"/>
            <a:ext cx="4711338" cy="461661"/>
          </a:xfrm>
          <a:prstGeom prst="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B01834-BDEE-4A7A-B06A-53F520B557B3}"/>
              </a:ext>
            </a:extLst>
          </p:cNvPr>
          <p:cNvSpPr txBox="1"/>
          <p:nvPr/>
        </p:nvSpPr>
        <p:spPr>
          <a:xfrm>
            <a:off x="6644640" y="4851408"/>
            <a:ext cx="2670709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잔차 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자기상관성</a:t>
            </a:r>
            <a:r>
              <a:rPr lang="ko-KR" altLang="en-US" sz="1200" b="1"/>
              <a:t> 검토 </a:t>
            </a:r>
            <a:r>
              <a:rPr lang="en-US" altLang="ko-KR" sz="1200" b="1"/>
              <a:t>:</a:t>
            </a:r>
          </a:p>
          <a:p>
            <a:pPr algn="ctr"/>
            <a:r>
              <a:rPr lang="en-US" altLang="ko-KR" sz="1200" b="1"/>
              <a:t>Durbin-Watson</a:t>
            </a:r>
            <a:r>
              <a:rPr lang="ko-KR" altLang="en-US" sz="1200" b="1"/>
              <a:t>통계량 </a:t>
            </a:r>
            <a:r>
              <a:rPr lang="en-US" altLang="ko-KR" sz="1200" b="1"/>
              <a:t>= 2.15</a:t>
            </a:r>
            <a:r>
              <a:rPr lang="ko-KR" altLang="en-US" sz="1200" b="1"/>
              <a:t>로</a:t>
            </a:r>
            <a:endParaRPr lang="en-US" altLang="ko-KR" sz="1200" b="1"/>
          </a:p>
          <a:p>
            <a:pPr algn="ctr"/>
            <a:r>
              <a:rPr lang="ko-KR" altLang="en-US" sz="1200" b="1"/>
              <a:t>잔차 간 자기상관관계 없음</a:t>
            </a:r>
            <a:r>
              <a:rPr lang="en-US" altLang="ko-KR" sz="1200" b="1"/>
              <a:t> </a:t>
            </a:r>
          </a:p>
          <a:p>
            <a:pPr algn="ctr"/>
            <a:r>
              <a:rPr lang="ko-KR" altLang="en-US" sz="1200" b="1"/>
              <a:t>즉</a:t>
            </a:r>
            <a:r>
              <a:rPr lang="en-US" altLang="ko-KR" sz="1200" b="1"/>
              <a:t>, </a:t>
            </a:r>
            <a:r>
              <a:rPr lang="ko-KR" altLang="en-US" sz="1200" b="1"/>
              <a:t>독립성 만족</a:t>
            </a:r>
            <a:endParaRPr lang="en-US" altLang="ko-KR" sz="1200" b="1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DDC1B73-4F21-45E9-92FC-6838BDD64D6E}"/>
              </a:ext>
            </a:extLst>
          </p:cNvPr>
          <p:cNvSpPr/>
          <p:nvPr/>
        </p:nvSpPr>
        <p:spPr>
          <a:xfrm>
            <a:off x="2690949" y="4265524"/>
            <a:ext cx="827314" cy="216254"/>
          </a:xfrm>
          <a:prstGeom prst="rect">
            <a:avLst/>
          </a:prstGeom>
          <a:noFill/>
          <a:ln w="38100"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B921AE4-61BC-4706-BAD1-335A714775A9}"/>
              </a:ext>
            </a:extLst>
          </p:cNvPr>
          <p:cNvSpPr/>
          <p:nvPr/>
        </p:nvSpPr>
        <p:spPr>
          <a:xfrm>
            <a:off x="6644640" y="4596055"/>
            <a:ext cx="541208" cy="216254"/>
          </a:xfrm>
          <a:prstGeom prst="rect">
            <a:avLst/>
          </a:prstGeom>
          <a:noFill/>
          <a:ln w="38100"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8850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3">
            <a:extLst>
              <a:ext uri="{FF2B5EF4-FFF2-40B4-BE49-F238E27FC236}">
                <a16:creationId xmlns:a16="http://schemas.microsoft.com/office/drawing/2014/main" id="{40B226DC-FDB2-42EC-8BCE-AB8005D9489F}"/>
              </a:ext>
            </a:extLst>
          </p:cNvPr>
          <p:cNvSpPr txBox="1">
            <a:spLocks/>
          </p:cNvSpPr>
          <p:nvPr/>
        </p:nvSpPr>
        <p:spPr>
          <a:xfrm>
            <a:off x="521207" y="448056"/>
            <a:ext cx="11384466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en-US" altLang="ko-KR" sz="2400" b="1">
                <a:cs typeface="Segoe UI Light" panose="020B0502040204020203" pitchFamily="34" charset="0"/>
              </a:rPr>
              <a:t>3.3. </a:t>
            </a:r>
            <a:r>
              <a:rPr lang="ko-KR" altLang="en-US" sz="2400" b="1">
                <a:cs typeface="Segoe UI Light" panose="020B0502040204020203" pitchFamily="34" charset="0"/>
              </a:rPr>
              <a:t>다중회귀진단 </a:t>
            </a:r>
            <a:r>
              <a:rPr lang="en-US" altLang="ko-KR" sz="2400" b="1">
                <a:cs typeface="Segoe UI Light" panose="020B0502040204020203" pitchFamily="34" charset="0"/>
              </a:rPr>
              <a:t>:</a:t>
            </a:r>
            <a:r>
              <a:rPr lang="ko-KR" altLang="en-US" sz="2400" b="1">
                <a:cs typeface="Segoe UI Light" panose="020B0502040204020203" pitchFamily="34" charset="0"/>
              </a:rPr>
              <a:t> 오차항에 관한 </a:t>
            </a:r>
            <a:r>
              <a:rPr lang="en-US" altLang="ko-KR" sz="2400" b="1">
                <a:cs typeface="Segoe UI Light" panose="020B0502040204020203" pitchFamily="34" charset="0"/>
              </a:rPr>
              <a:t>4</a:t>
            </a:r>
            <a:r>
              <a:rPr lang="ko-KR" altLang="en-US" sz="2400" b="1">
                <a:cs typeface="Segoe UI Light" panose="020B0502040204020203" pitchFamily="34" charset="0"/>
              </a:rPr>
              <a:t>가지 가정 검증 </a:t>
            </a:r>
            <a:r>
              <a:rPr lang="en-US" altLang="ko-KR" sz="2400" b="1">
                <a:cs typeface="Segoe UI Light" panose="020B0502040204020203" pitchFamily="34" charset="0"/>
              </a:rPr>
              <a:t>: (3)</a:t>
            </a:r>
            <a:r>
              <a:rPr lang="ko-KR" altLang="en-US" sz="2400" b="1">
                <a:cs typeface="Segoe UI Light" panose="020B0502040204020203" pitchFamily="34" charset="0"/>
              </a:rPr>
              <a:t>오차 등분산성 가정 검증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B343660-CC58-4A8F-9C3A-3ECC18DEE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04" y="1967973"/>
            <a:ext cx="5283842" cy="444197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FDC984F-2CEF-4430-868D-419C1C90E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3199" y="1967973"/>
            <a:ext cx="5520297" cy="4441971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EE804C9D-B525-4A5C-BE5B-89A95ACC44F1}"/>
              </a:ext>
            </a:extLst>
          </p:cNvPr>
          <p:cNvGrpSpPr/>
          <p:nvPr/>
        </p:nvGrpSpPr>
        <p:grpSpPr>
          <a:xfrm>
            <a:off x="521207" y="1207897"/>
            <a:ext cx="4434551" cy="831912"/>
            <a:chOff x="774180" y="4500622"/>
            <a:chExt cx="4434551" cy="831912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9AAA27F8-A582-452D-A3FF-CCC0EFC7417F}"/>
                </a:ext>
              </a:extLst>
            </p:cNvPr>
            <p:cNvGrpSpPr/>
            <p:nvPr/>
          </p:nvGrpSpPr>
          <p:grpSpPr>
            <a:xfrm>
              <a:off x="774180" y="4634302"/>
              <a:ext cx="558179" cy="442631"/>
              <a:chOff x="6909099" y="4337388"/>
              <a:chExt cx="558179" cy="442631"/>
            </a:xfrm>
          </p:grpSpPr>
          <p:sp>
            <p:nvSpPr>
              <p:cNvPr id="22" name="타원 21" descr="작은 원">
                <a:extLst>
                  <a:ext uri="{FF2B5EF4-FFF2-40B4-BE49-F238E27FC236}">
                    <a16:creationId xmlns:a16="http://schemas.microsoft.com/office/drawing/2014/main" id="{CF8954C6-04FC-480D-BD88-F6DBA2326A07}"/>
                  </a:ext>
                </a:extLst>
              </p:cNvPr>
              <p:cNvSpPr/>
              <p:nvPr/>
            </p:nvSpPr>
            <p:spPr bwMode="blackWhite">
              <a:xfrm>
                <a:off x="6983269" y="4337388"/>
                <a:ext cx="409838" cy="442631"/>
              </a:xfrm>
              <a:prstGeom prst="ellipse">
                <a:avLst/>
              </a:prstGeom>
              <a:solidFill>
                <a:srgbClr val="D247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3" name="텍스트 상자 19" descr="숫자 1">
                <a:extLst>
                  <a:ext uri="{FF2B5EF4-FFF2-40B4-BE49-F238E27FC236}">
                    <a16:creationId xmlns:a16="http://schemas.microsoft.com/office/drawing/2014/main" id="{86F82DC6-DA17-4572-B451-C9FF4DEF2CD4}"/>
                  </a:ext>
                </a:extLst>
              </p:cNvPr>
              <p:cNvSpPr txBox="1">
                <a:spLocks noChangeAspect="1"/>
              </p:cNvSpPr>
              <p:nvPr/>
            </p:nvSpPr>
            <p:spPr bwMode="blackWhite">
              <a:xfrm>
                <a:off x="6909099" y="4374037"/>
                <a:ext cx="558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altLang="ko-KR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3.3</a:t>
                </a:r>
                <a:endParaRPr lang="ko-KR" altLang="en-US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endParaRPr>
              </a:p>
            </p:txBody>
          </p:sp>
        </p:grpSp>
        <p:sp>
          <p:nvSpPr>
            <p:cNvPr id="21" name="내용 개체 틀 17">
              <a:extLst>
                <a:ext uri="{FF2B5EF4-FFF2-40B4-BE49-F238E27FC236}">
                  <a16:creationId xmlns:a16="http://schemas.microsoft.com/office/drawing/2014/main" id="{41E3499E-40A6-456E-8829-59585B1F8FC0}"/>
                </a:ext>
              </a:extLst>
            </p:cNvPr>
            <p:cNvSpPr txBox="1">
              <a:spLocks/>
            </p:cNvSpPr>
            <p:nvPr/>
          </p:nvSpPr>
          <p:spPr>
            <a:xfrm>
              <a:off x="1433120" y="4500622"/>
              <a:ext cx="3775611" cy="83191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오차 등분산성 가정</a:t>
              </a:r>
              <a: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(identically)</a:t>
              </a:r>
              <a:b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ko-KR" altLang="en-US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예측오차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/</a:t>
              </a:r>
              <a:r>
                <a:rPr lang="ko-KR" altLang="en-US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잔차 간 분산이 일정해야함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. </a:t>
              </a:r>
              <a:b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(</a:t>
              </a:r>
              <a:r>
                <a:rPr lang="ko-KR" altLang="en-US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동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/</a:t>
              </a:r>
              <a:r>
                <a:rPr lang="ko-KR" altLang="en-US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등분산 가정 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= sigma^2(</a:t>
              </a:r>
              <a:r>
                <a:rPr lang="ko-KR" altLang="en-US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일정한 분산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))</a:t>
              </a:r>
              <a:endParaRPr lang="ko-KR" altLang="en-US" sz="13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  <a:p>
              <a:pPr marL="0" lvl="0" indent="0" rtl="0">
                <a:spcAft>
                  <a:spcPts val="600"/>
                </a:spcAft>
                <a:buNone/>
                <a:defRPr/>
              </a:pPr>
              <a:endParaRPr lang="ko-KR" altLang="en-US" sz="13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1C49980E-8549-4D42-BFCC-5ACAF52C44DC}"/>
              </a:ext>
            </a:extLst>
          </p:cNvPr>
          <p:cNvSpPr/>
          <p:nvPr/>
        </p:nvSpPr>
        <p:spPr>
          <a:xfrm>
            <a:off x="3352800" y="4406538"/>
            <a:ext cx="862149" cy="243840"/>
          </a:xfrm>
          <a:prstGeom prst="rect">
            <a:avLst/>
          </a:prstGeom>
          <a:noFill/>
          <a:ln w="38100"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51E07D8-020D-4195-9F6B-360AE6AA67C9}"/>
              </a:ext>
            </a:extLst>
          </p:cNvPr>
          <p:cNvCxnSpPr/>
          <p:nvPr/>
        </p:nvCxnSpPr>
        <p:spPr>
          <a:xfrm>
            <a:off x="6688183" y="4066903"/>
            <a:ext cx="4741817" cy="0"/>
          </a:xfrm>
          <a:prstGeom prst="line">
            <a:avLst/>
          </a:prstGeom>
          <a:ln w="127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3308252-279B-4960-AAE4-78FAA1034514}"/>
              </a:ext>
            </a:extLst>
          </p:cNvPr>
          <p:cNvSpPr txBox="1"/>
          <p:nvPr/>
        </p:nvSpPr>
        <p:spPr>
          <a:xfrm>
            <a:off x="3037545" y="3774515"/>
            <a:ext cx="2940228" cy="58477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600"/>
              <a:t>0 &gt; 0.05 </a:t>
            </a:r>
            <a:r>
              <a:rPr lang="ko-KR" altLang="en-US" sz="1600"/>
              <a:t>이므로 귀무가설 채택</a:t>
            </a:r>
            <a:endParaRPr lang="en-US" altLang="ko-KR" sz="1600"/>
          </a:p>
          <a:p>
            <a:r>
              <a:rPr lang="en-US" altLang="ko-KR" sz="1600"/>
              <a:t>-&gt;</a:t>
            </a:r>
            <a:r>
              <a:rPr lang="ko-KR" altLang="en-US" sz="1600"/>
              <a:t>등분산성을 가정할 수 있다</a:t>
            </a:r>
            <a:r>
              <a:rPr lang="en-US" altLang="ko-KR" sz="1600"/>
              <a:t>.</a:t>
            </a:r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3224022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3">
            <a:extLst>
              <a:ext uri="{FF2B5EF4-FFF2-40B4-BE49-F238E27FC236}">
                <a16:creationId xmlns:a16="http://schemas.microsoft.com/office/drawing/2014/main" id="{903FEC28-FAC4-48A0-A011-CA0E0F0443DE}"/>
              </a:ext>
            </a:extLst>
          </p:cNvPr>
          <p:cNvSpPr txBox="1">
            <a:spLocks/>
          </p:cNvSpPr>
          <p:nvPr/>
        </p:nvSpPr>
        <p:spPr>
          <a:xfrm>
            <a:off x="472441" y="448056"/>
            <a:ext cx="11513820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92500"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en-US" altLang="ko-KR" b="1">
                <a:cs typeface="Segoe UI Light" panose="020B0502040204020203" pitchFamily="34" charset="0"/>
              </a:rPr>
              <a:t>3.4. </a:t>
            </a:r>
            <a:r>
              <a:rPr lang="ko-KR" altLang="en-US" b="1">
                <a:cs typeface="Segoe UI Light" panose="020B0502040204020203" pitchFamily="34" charset="0"/>
              </a:rPr>
              <a:t>다중회귀진단 </a:t>
            </a:r>
            <a:r>
              <a:rPr lang="en-US" altLang="ko-KR">
                <a:cs typeface="Segoe UI Light" panose="020B0502040204020203" pitchFamily="34" charset="0"/>
              </a:rPr>
              <a:t>:</a:t>
            </a:r>
            <a:r>
              <a:rPr lang="ko-KR" altLang="en-US">
                <a:cs typeface="Segoe UI Light" panose="020B0502040204020203" pitchFamily="34" charset="0"/>
              </a:rPr>
              <a:t> </a:t>
            </a:r>
            <a:r>
              <a:rPr lang="ko-KR" altLang="en-US" b="1">
                <a:cs typeface="Segoe UI" panose="020B0502040204020203" pitchFamily="34" charset="0"/>
              </a:rPr>
              <a:t>오차항에 관한 </a:t>
            </a:r>
            <a:r>
              <a:rPr lang="en-US" altLang="ko-KR" b="1">
                <a:cs typeface="Segoe UI" panose="020B0502040204020203" pitchFamily="34" charset="0"/>
              </a:rPr>
              <a:t>4</a:t>
            </a:r>
            <a:r>
              <a:rPr lang="ko-KR" altLang="en-US" b="1">
                <a:cs typeface="Segoe UI" panose="020B0502040204020203" pitchFamily="34" charset="0"/>
              </a:rPr>
              <a:t>가지 가정 검증 </a:t>
            </a:r>
            <a:r>
              <a:rPr lang="en-US" altLang="ko-KR" b="1">
                <a:cs typeface="Segoe UI" panose="020B0502040204020203" pitchFamily="34" charset="0"/>
              </a:rPr>
              <a:t>: (4)</a:t>
            </a:r>
            <a:r>
              <a:rPr lang="ko-KR" altLang="en-US" b="1">
                <a:cs typeface="Segoe UI" panose="020B0502040204020203" pitchFamily="34" charset="0"/>
              </a:rPr>
              <a:t> </a:t>
            </a:r>
            <a:r>
              <a:rPr lang="ko-KR" altLang="en-US" b="1"/>
              <a:t>오차 정규성 검증</a:t>
            </a:r>
            <a:endParaRPr lang="ko-KR" altLang="en-US" b="1" dirty="0">
              <a:cs typeface="Segoe UI Light" panose="020B0502040204020203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B28FB92-798F-485D-9A85-20B203081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1" y="2046514"/>
            <a:ext cx="5364481" cy="4291369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87745839-A3E5-47A8-907F-731105C3DB67}"/>
              </a:ext>
            </a:extLst>
          </p:cNvPr>
          <p:cNvGrpSpPr/>
          <p:nvPr/>
        </p:nvGrpSpPr>
        <p:grpSpPr>
          <a:xfrm>
            <a:off x="552826" y="1289482"/>
            <a:ext cx="4434551" cy="553728"/>
            <a:chOff x="7415180" y="5693206"/>
            <a:chExt cx="4434551" cy="553728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942154AB-51AA-4368-8244-5DE03943E7D8}"/>
                </a:ext>
              </a:extLst>
            </p:cNvPr>
            <p:cNvGrpSpPr/>
            <p:nvPr/>
          </p:nvGrpSpPr>
          <p:grpSpPr>
            <a:xfrm>
              <a:off x="7415180" y="5748755"/>
              <a:ext cx="558179" cy="442631"/>
              <a:chOff x="6909099" y="5547084"/>
              <a:chExt cx="558179" cy="442631"/>
            </a:xfrm>
          </p:grpSpPr>
          <p:sp>
            <p:nvSpPr>
              <p:cNvPr id="22" name="타원 21" descr="작은 원">
                <a:extLst>
                  <a:ext uri="{FF2B5EF4-FFF2-40B4-BE49-F238E27FC236}">
                    <a16:creationId xmlns:a16="http://schemas.microsoft.com/office/drawing/2014/main" id="{4D4EAE60-E956-420D-AB2A-AEC780C30AEC}"/>
                  </a:ext>
                </a:extLst>
              </p:cNvPr>
              <p:cNvSpPr/>
              <p:nvPr/>
            </p:nvSpPr>
            <p:spPr bwMode="blackWhite">
              <a:xfrm>
                <a:off x="6983269" y="5547084"/>
                <a:ext cx="409838" cy="442631"/>
              </a:xfrm>
              <a:prstGeom prst="ellipse">
                <a:avLst/>
              </a:prstGeom>
              <a:solidFill>
                <a:srgbClr val="D247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3" name="텍스트 상자 19" descr="숫자 1">
                <a:extLst>
                  <a:ext uri="{FF2B5EF4-FFF2-40B4-BE49-F238E27FC236}">
                    <a16:creationId xmlns:a16="http://schemas.microsoft.com/office/drawing/2014/main" id="{BBFB9308-0E5C-49C9-A871-817B90574027}"/>
                  </a:ext>
                </a:extLst>
              </p:cNvPr>
              <p:cNvSpPr txBox="1">
                <a:spLocks noChangeAspect="1"/>
              </p:cNvSpPr>
              <p:nvPr/>
            </p:nvSpPr>
            <p:spPr bwMode="blackWhite">
              <a:xfrm>
                <a:off x="6909099" y="5583733"/>
                <a:ext cx="558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altLang="ko-KR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3.4</a:t>
                </a:r>
                <a:endParaRPr lang="ko-KR" altLang="en-US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endParaRPr>
              </a:p>
            </p:txBody>
          </p:sp>
        </p:grpSp>
        <p:sp>
          <p:nvSpPr>
            <p:cNvPr id="21" name="내용 개체 틀 17">
              <a:extLst>
                <a:ext uri="{FF2B5EF4-FFF2-40B4-BE49-F238E27FC236}">
                  <a16:creationId xmlns:a16="http://schemas.microsoft.com/office/drawing/2014/main" id="{08067CBE-5AEE-48A4-8467-3CB31518B0B3}"/>
                </a:ext>
              </a:extLst>
            </p:cNvPr>
            <p:cNvSpPr txBox="1">
              <a:spLocks/>
            </p:cNvSpPr>
            <p:nvPr/>
          </p:nvSpPr>
          <p:spPr>
            <a:xfrm>
              <a:off x="8074120" y="5693206"/>
              <a:ext cx="3775611" cy="55372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오차 정규성 검증</a:t>
              </a:r>
              <a: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(Normal distribution)</a:t>
              </a:r>
              <a:b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ko-KR" altLang="en-US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예측오차</a:t>
              </a:r>
              <a:r>
                <a:rPr lang="en-US" altLang="ko-KR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/</a:t>
              </a:r>
              <a:r>
                <a:rPr lang="ko-KR" altLang="en-US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잔차분포가 정규분포를 따름</a:t>
              </a:r>
              <a:endParaRPr lang="en-US" altLang="ko-KR" sz="13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1D46B1C6-6EB0-4115-97C4-863C3447C0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1" y="2044556"/>
            <a:ext cx="5364480" cy="4291369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32AFDE9-9F32-4158-B057-5942EAEF475F}"/>
              </a:ext>
            </a:extLst>
          </p:cNvPr>
          <p:cNvSpPr/>
          <p:nvPr/>
        </p:nvSpPr>
        <p:spPr>
          <a:xfrm>
            <a:off x="1915886" y="4554583"/>
            <a:ext cx="1497874" cy="339634"/>
          </a:xfrm>
          <a:prstGeom prst="rect">
            <a:avLst/>
          </a:prstGeom>
          <a:noFill/>
          <a:ln w="38100"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5C4B3D-66B0-4229-AB5D-61995AE74345}"/>
              </a:ext>
            </a:extLst>
          </p:cNvPr>
          <p:cNvSpPr txBox="1"/>
          <p:nvPr/>
        </p:nvSpPr>
        <p:spPr>
          <a:xfrm>
            <a:off x="1865900" y="3897852"/>
            <a:ext cx="3095719" cy="58477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600"/>
              <a:t>0.7 &gt; 0.05 </a:t>
            </a:r>
            <a:r>
              <a:rPr lang="ko-KR" altLang="en-US" sz="1600"/>
              <a:t>이므로 귀무가설 채택</a:t>
            </a:r>
            <a:endParaRPr lang="en-US" altLang="ko-KR" sz="1600"/>
          </a:p>
          <a:p>
            <a:r>
              <a:rPr lang="en-US" altLang="ko-KR" sz="1600"/>
              <a:t>-&gt; </a:t>
            </a:r>
            <a:r>
              <a:rPr lang="ko-KR" altLang="en-US" sz="1600"/>
              <a:t>정규성을 만족한다</a:t>
            </a:r>
            <a:r>
              <a:rPr lang="en-US" altLang="ko-KR" sz="1600"/>
              <a:t>.</a:t>
            </a:r>
            <a:endParaRPr lang="ko-KR" altLang="en-US" sz="160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409AEB0-1D5B-43C5-A17B-BD9C797D94D2}"/>
              </a:ext>
            </a:extLst>
          </p:cNvPr>
          <p:cNvCxnSpPr/>
          <p:nvPr/>
        </p:nvCxnSpPr>
        <p:spPr>
          <a:xfrm flipV="1">
            <a:off x="7445829" y="2499360"/>
            <a:ext cx="3474720" cy="3248297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93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CD9D1A-45AF-4454-8D96-29F3C9424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최종결론</a:t>
            </a:r>
            <a:r>
              <a:rPr lang="en-US" altLang="ko-KR"/>
              <a:t>]  </a:t>
            </a:r>
            <a:r>
              <a:rPr lang="ko-KR" altLang="en-US"/>
              <a:t>다중회귀분석 최종 예측 모형식 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619C166-F0D6-4F37-A094-6ED7E6AB770A}"/>
              </a:ext>
            </a:extLst>
          </p:cNvPr>
          <p:cNvSpPr txBox="1">
            <a:spLocks/>
          </p:cNvSpPr>
          <p:nvPr/>
        </p:nvSpPr>
        <p:spPr>
          <a:xfrm>
            <a:off x="510345" y="1270177"/>
            <a:ext cx="11333311" cy="3089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600" b="1"/>
              <a:t>[</a:t>
            </a:r>
            <a:r>
              <a:rPr lang="ko-KR" altLang="en-US" sz="1600" b="1"/>
              <a:t>결론</a:t>
            </a:r>
            <a:r>
              <a:rPr lang="en-US" altLang="ko-KR" sz="1600" b="1"/>
              <a:t>] </a:t>
            </a:r>
            <a:r>
              <a:rPr lang="ko-KR" altLang="en-US" sz="1600" b="1"/>
              <a:t>이상치</a:t>
            </a:r>
            <a:r>
              <a:rPr lang="en-US" altLang="ko-KR" sz="1600" b="1"/>
              <a:t>(Nevada)</a:t>
            </a:r>
            <a:r>
              <a:rPr lang="ko-KR" altLang="en-US" sz="1600" b="1"/>
              <a:t>제거 및 추가상관관계 검증 통한 무상관변수인 </a:t>
            </a:r>
            <a:r>
              <a:rPr lang="en-US" altLang="ko-KR" sz="1600" b="1"/>
              <a:t>Area</a:t>
            </a:r>
            <a:r>
              <a:rPr lang="ko-KR" altLang="en-US" sz="1600" b="1"/>
              <a:t>변수제거후</a:t>
            </a:r>
            <a:r>
              <a:rPr lang="en-US" altLang="ko-KR" sz="1600" b="1"/>
              <a:t>, </a:t>
            </a:r>
            <a:r>
              <a:rPr lang="ko-KR" altLang="en-US" sz="1600" b="1"/>
              <a:t>보다 더 적은수의 변수로   </a:t>
            </a:r>
            <a:br>
              <a:rPr lang="en-US" altLang="ko-KR" sz="1600" b="1"/>
            </a:br>
            <a:r>
              <a:rPr lang="en-US" altLang="ko-KR" sz="1600" b="1"/>
              <a:t>        </a:t>
            </a:r>
            <a:r>
              <a:rPr lang="ko-KR" altLang="en-US" sz="1600" b="1"/>
              <a:t>     간략</a:t>
            </a:r>
            <a:r>
              <a:rPr lang="en-US" altLang="ko-KR" sz="1600" b="1"/>
              <a:t>/</a:t>
            </a:r>
            <a:r>
              <a:rPr lang="ko-KR" altLang="en-US" sz="1600" b="1"/>
              <a:t>효율적인 </a:t>
            </a:r>
            <a:r>
              <a:rPr lang="en-US" altLang="ko-KR" sz="1600" b="1"/>
              <a:t>[</a:t>
            </a:r>
            <a:r>
              <a:rPr lang="ko-KR" altLang="en-US" sz="1600" b="1"/>
              <a:t>최적다중회귀분석 예측모형식</a:t>
            </a:r>
            <a:r>
              <a:rPr lang="en-US" altLang="ko-KR" sz="1600" b="1"/>
              <a:t>]</a:t>
            </a:r>
            <a:r>
              <a:rPr lang="ko-KR" altLang="en-US" sz="1600" b="1"/>
              <a:t> 도출함</a:t>
            </a:r>
            <a:r>
              <a:rPr lang="en-US" altLang="ko-KR" sz="1600" b="1"/>
              <a:t>. </a:t>
            </a:r>
            <a:br>
              <a:rPr lang="en-US" altLang="ko-KR" sz="1600" b="1"/>
            </a:br>
            <a:r>
              <a:rPr lang="en-US" altLang="ko-KR" sz="1800" b="1">
                <a:solidFill>
                  <a:schemeClr val="accent2">
                    <a:lumMod val="75000"/>
                  </a:schemeClr>
                </a:solidFill>
              </a:rPr>
              <a:t>[</a:t>
            </a:r>
            <a:r>
              <a:rPr lang="ko-KR" altLang="en-US" sz="1800" b="1">
                <a:solidFill>
                  <a:schemeClr val="accent2">
                    <a:lumMod val="75000"/>
                  </a:schemeClr>
                </a:solidFill>
              </a:rPr>
              <a:t>효과</a:t>
            </a:r>
            <a:r>
              <a:rPr lang="en-US" altLang="ko-KR" sz="1800" b="1">
                <a:solidFill>
                  <a:schemeClr val="accent2">
                    <a:lumMod val="75000"/>
                  </a:schemeClr>
                </a:solidFill>
              </a:rPr>
              <a:t>] (1) </a:t>
            </a:r>
            <a:r>
              <a:rPr lang="ko-KR" altLang="en-US" sz="1800" b="1">
                <a:solidFill>
                  <a:schemeClr val="accent2">
                    <a:lumMod val="75000"/>
                  </a:schemeClr>
                </a:solidFill>
              </a:rPr>
              <a:t>모형 성능 최고치 개선 </a:t>
            </a:r>
            <a:r>
              <a:rPr lang="en-US" altLang="ko-KR" sz="1800" b="1">
                <a:solidFill>
                  <a:schemeClr val="accent2">
                    <a:lumMod val="75000"/>
                  </a:schemeClr>
                </a:solidFill>
              </a:rPr>
              <a:t>: AIC </a:t>
            </a:r>
            <a:r>
              <a:rPr lang="ko-KR" altLang="en-US" sz="1800" b="1">
                <a:solidFill>
                  <a:schemeClr val="accent2">
                    <a:lumMod val="75000"/>
                  </a:schemeClr>
                </a:solidFill>
              </a:rPr>
              <a:t>최소화</a:t>
            </a:r>
            <a:r>
              <a:rPr lang="en-US" altLang="ko-KR" sz="1800" b="1">
                <a:solidFill>
                  <a:schemeClr val="accent2">
                    <a:lumMod val="75000"/>
                  </a:schemeClr>
                </a:solidFill>
              </a:rPr>
              <a:t>(81.19)+ </a:t>
            </a:r>
            <a:r>
              <a:rPr lang="ko-KR" altLang="en-US" sz="1800" b="1">
                <a:solidFill>
                  <a:schemeClr val="accent2">
                    <a:lumMod val="75000"/>
                  </a:schemeClr>
                </a:solidFill>
              </a:rPr>
              <a:t>최종모형 수정 결정계수 최고치로 개선</a:t>
            </a:r>
            <a:r>
              <a:rPr lang="en-US" altLang="ko-KR" sz="1800" b="1">
                <a:solidFill>
                  <a:schemeClr val="accent2">
                    <a:lumMod val="75000"/>
                  </a:schemeClr>
                </a:solidFill>
              </a:rPr>
              <a:t>(92.4%) </a:t>
            </a:r>
            <a:br>
              <a:rPr lang="en-US" altLang="ko-KR" sz="1800" b="1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altLang="ko-KR" sz="1800" b="1">
                <a:solidFill>
                  <a:schemeClr val="accent2">
                    <a:lumMod val="75000"/>
                  </a:schemeClr>
                </a:solidFill>
              </a:rPr>
              <a:t>         (2) </a:t>
            </a:r>
            <a:r>
              <a:rPr lang="ko-KR" altLang="en-US" sz="1800" b="1">
                <a:solidFill>
                  <a:schemeClr val="accent2">
                    <a:lumMod val="75000"/>
                  </a:schemeClr>
                </a:solidFill>
              </a:rPr>
              <a:t>다중공선성 이슈해결</a:t>
            </a:r>
            <a:r>
              <a:rPr lang="en-US" altLang="ko-KR" sz="1800" b="1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ko-KR" altLang="en-US" sz="1800" b="1">
                <a:solidFill>
                  <a:schemeClr val="accent2">
                    <a:lumMod val="75000"/>
                  </a:schemeClr>
                </a:solidFill>
              </a:rPr>
              <a:t>잔차</a:t>
            </a:r>
            <a:r>
              <a:rPr lang="en-US" altLang="ko-KR" sz="1800" b="1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ko-KR" altLang="en-US" sz="1800" b="1">
                <a:solidFill>
                  <a:schemeClr val="accent2">
                    <a:lumMod val="75000"/>
                  </a:schemeClr>
                </a:solidFill>
              </a:rPr>
              <a:t>오차항에 관한 </a:t>
            </a:r>
            <a:r>
              <a:rPr lang="en-US" altLang="ko-KR" sz="1800" b="1">
                <a:solidFill>
                  <a:schemeClr val="accent2">
                    <a:lumMod val="75000"/>
                  </a:schemeClr>
                </a:solidFill>
              </a:rPr>
              <a:t>4</a:t>
            </a:r>
            <a:r>
              <a:rPr lang="ko-KR" altLang="en-US" sz="1800" b="1">
                <a:solidFill>
                  <a:schemeClr val="accent2">
                    <a:lumMod val="75000"/>
                  </a:schemeClr>
                </a:solidFill>
              </a:rPr>
              <a:t>가지 가정 검증 완료</a:t>
            </a:r>
            <a:endParaRPr lang="en-US" altLang="ko-KR" sz="1600" b="1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D443A83-9628-4AF2-8696-44BB353BED2C}"/>
              </a:ext>
            </a:extLst>
          </p:cNvPr>
          <p:cNvGrpSpPr/>
          <p:nvPr/>
        </p:nvGrpSpPr>
        <p:grpSpPr>
          <a:xfrm>
            <a:off x="521207" y="2509933"/>
            <a:ext cx="5740256" cy="4182641"/>
            <a:chOff x="756339" y="1770018"/>
            <a:chExt cx="6193291" cy="453498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A9CD4C5-EDC8-4C3F-A94A-3D46EE264C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6339" y="1770018"/>
              <a:ext cx="6193291" cy="4534988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9C8DD18-EBBF-477F-9C35-417805692F4A}"/>
                </a:ext>
              </a:extLst>
            </p:cNvPr>
            <p:cNvSpPr/>
            <p:nvPr/>
          </p:nvSpPr>
          <p:spPr>
            <a:xfrm>
              <a:off x="883361" y="5442857"/>
              <a:ext cx="5939246" cy="566057"/>
            </a:xfrm>
            <a:prstGeom prst="rect">
              <a:avLst/>
            </a:prstGeom>
            <a:noFill/>
            <a:ln w="38100">
              <a:solidFill>
                <a:schemeClr val="accent1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BEDBDABA-A7CC-4E13-AB87-3BAF7C58D656}"/>
              </a:ext>
            </a:extLst>
          </p:cNvPr>
          <p:cNvSpPr txBox="1">
            <a:spLocks/>
          </p:cNvSpPr>
          <p:nvPr/>
        </p:nvSpPr>
        <p:spPr>
          <a:xfrm>
            <a:off x="6783977" y="2906763"/>
            <a:ext cx="4994365" cy="30331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1600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8635FC-3C87-4848-8656-EC26F5E8AE40}"/>
              </a:ext>
            </a:extLst>
          </p:cNvPr>
          <p:cNvSpPr txBox="1"/>
          <p:nvPr/>
        </p:nvSpPr>
        <p:spPr>
          <a:xfrm>
            <a:off x="6657052" y="2509935"/>
            <a:ext cx="5186605" cy="4182640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>
              <a:tabLst>
                <a:tab pos="182563" algn="l"/>
              </a:tabLst>
            </a:pPr>
            <a:r>
              <a:rPr lang="en-US" altLang="ko-KR" sz="1700" b="1">
                <a:solidFill>
                  <a:schemeClr val="tx1"/>
                </a:solidFill>
              </a:rPr>
              <a:t>1. </a:t>
            </a:r>
            <a:r>
              <a:rPr lang="ko-KR" altLang="en-US" sz="1700" b="1">
                <a:solidFill>
                  <a:schemeClr val="tx1"/>
                </a:solidFill>
              </a:rPr>
              <a:t>다중회귀분석 최종예측모형식 </a:t>
            </a:r>
            <a:r>
              <a:rPr lang="en-US" altLang="ko-KR" sz="1700" b="1">
                <a:solidFill>
                  <a:schemeClr val="tx1"/>
                </a:solidFill>
              </a:rPr>
              <a:t>: </a:t>
            </a:r>
          </a:p>
          <a:p>
            <a:pPr>
              <a:tabLst>
                <a:tab pos="182563" algn="l"/>
              </a:tabLst>
            </a:pPr>
            <a:r>
              <a:rPr lang="en-US" altLang="ko-KR" sz="1700" b="1">
                <a:solidFill>
                  <a:schemeClr val="tx1"/>
                </a:solidFill>
              </a:rPr>
              <a:t>   Murder</a:t>
            </a:r>
            <a:r>
              <a:rPr lang="en-US" altLang="ko-KR" sz="1700">
                <a:solidFill>
                  <a:schemeClr val="tx1"/>
                </a:solidFill>
              </a:rPr>
              <a:t>(</a:t>
            </a:r>
            <a:r>
              <a:rPr lang="ko-KR" altLang="en-US" sz="1700">
                <a:solidFill>
                  <a:schemeClr val="tx1"/>
                </a:solidFill>
              </a:rPr>
              <a:t>미국</a:t>
            </a:r>
            <a:r>
              <a:rPr lang="en-US" altLang="ko-KR" sz="1700">
                <a:solidFill>
                  <a:schemeClr val="tx1"/>
                </a:solidFill>
              </a:rPr>
              <a:t>50</a:t>
            </a:r>
            <a:r>
              <a:rPr lang="ko-KR" altLang="en-US" sz="1700">
                <a:solidFill>
                  <a:schemeClr val="tx1"/>
                </a:solidFill>
              </a:rPr>
              <a:t>개</a:t>
            </a:r>
            <a:r>
              <a:rPr lang="en-US" altLang="ko-KR" sz="1700">
                <a:solidFill>
                  <a:schemeClr val="tx1"/>
                </a:solidFill>
              </a:rPr>
              <a:t> </a:t>
            </a:r>
            <a:r>
              <a:rPr lang="ko-KR" altLang="en-US" sz="1700">
                <a:solidFill>
                  <a:schemeClr val="tx1"/>
                </a:solidFill>
              </a:rPr>
              <a:t>주별 살인율</a:t>
            </a:r>
            <a:r>
              <a:rPr lang="en-US" altLang="ko-KR" sz="1700">
                <a:solidFill>
                  <a:schemeClr val="tx1"/>
                </a:solidFill>
              </a:rPr>
              <a:t>)</a:t>
            </a:r>
            <a:r>
              <a:rPr lang="ko-KR" altLang="en-US" sz="1700">
                <a:solidFill>
                  <a:schemeClr val="tx1"/>
                </a:solidFill>
              </a:rPr>
              <a:t> </a:t>
            </a:r>
            <a:br>
              <a:rPr lang="en-US" altLang="ko-KR" sz="1700">
                <a:solidFill>
                  <a:schemeClr val="tx1"/>
                </a:solidFill>
              </a:rPr>
            </a:br>
            <a:r>
              <a:rPr lang="en-US" altLang="ko-KR" sz="1700">
                <a:solidFill>
                  <a:schemeClr val="tx1"/>
                </a:solidFill>
              </a:rPr>
              <a:t>   = </a:t>
            </a:r>
            <a:r>
              <a:rPr lang="en-US" altLang="ko-KR" sz="1700" b="1">
                <a:solidFill>
                  <a:schemeClr val="tx1"/>
                </a:solidFill>
              </a:rPr>
              <a:t>4.95996 * Illiteracy</a:t>
            </a:r>
            <a:r>
              <a:rPr lang="en-US" altLang="ko-KR" sz="1700">
                <a:solidFill>
                  <a:schemeClr val="tx1"/>
                </a:solidFill>
              </a:rPr>
              <a:t>(</a:t>
            </a:r>
            <a:r>
              <a:rPr lang="ko-KR" altLang="en-US" sz="1700">
                <a:solidFill>
                  <a:schemeClr val="tx1"/>
                </a:solidFill>
              </a:rPr>
              <a:t>문맹율</a:t>
            </a:r>
            <a:r>
              <a:rPr lang="en-US" altLang="ko-KR" sz="1700">
                <a:solidFill>
                  <a:schemeClr val="tx1"/>
                </a:solidFill>
              </a:rPr>
              <a:t>) </a:t>
            </a:r>
            <a:br>
              <a:rPr lang="en-US" altLang="ko-KR" sz="1700">
                <a:solidFill>
                  <a:schemeClr val="tx1"/>
                </a:solidFill>
              </a:rPr>
            </a:br>
            <a:r>
              <a:rPr lang="en-US" altLang="ko-KR" sz="1700">
                <a:solidFill>
                  <a:schemeClr val="tx1"/>
                </a:solidFill>
              </a:rPr>
              <a:t>            + </a:t>
            </a:r>
            <a:r>
              <a:rPr lang="en-US" altLang="ko-KR" sz="1700" b="1">
                <a:solidFill>
                  <a:schemeClr val="tx1"/>
                </a:solidFill>
              </a:rPr>
              <a:t>0.00029 * Population</a:t>
            </a:r>
            <a:r>
              <a:rPr lang="en-US" altLang="ko-KR" sz="1700">
                <a:solidFill>
                  <a:schemeClr val="tx1"/>
                </a:solidFill>
              </a:rPr>
              <a:t>(</a:t>
            </a:r>
            <a:r>
              <a:rPr lang="ko-KR" altLang="en-US" sz="1700">
                <a:solidFill>
                  <a:schemeClr val="tx1"/>
                </a:solidFill>
              </a:rPr>
              <a:t>주별 인구수</a:t>
            </a:r>
            <a:r>
              <a:rPr lang="en-US" altLang="ko-KR" sz="1700">
                <a:solidFill>
                  <a:schemeClr val="tx1"/>
                </a:solidFill>
              </a:rPr>
              <a:t>)</a:t>
            </a:r>
          </a:p>
          <a:p>
            <a:endParaRPr lang="en-US" altLang="ko-KR" sz="1700">
              <a:solidFill>
                <a:schemeClr val="tx1"/>
              </a:solidFill>
            </a:endParaRPr>
          </a:p>
          <a:p>
            <a:r>
              <a:rPr lang="en-US" altLang="ko-KR" sz="1700">
                <a:solidFill>
                  <a:schemeClr val="tx1"/>
                </a:solidFill>
              </a:rPr>
              <a:t>2. </a:t>
            </a:r>
            <a:r>
              <a:rPr lang="ko-KR" altLang="en-US" sz="1700">
                <a:solidFill>
                  <a:schemeClr val="tx1"/>
                </a:solidFill>
              </a:rPr>
              <a:t>최종모형</a:t>
            </a:r>
            <a:r>
              <a:rPr lang="en-US" altLang="ko-KR" sz="1700">
                <a:solidFill>
                  <a:schemeClr val="tx1"/>
                </a:solidFill>
              </a:rPr>
              <a:t> </a:t>
            </a:r>
            <a:r>
              <a:rPr lang="ko-KR" altLang="en-US" sz="1700">
                <a:solidFill>
                  <a:schemeClr val="tx1"/>
                </a:solidFill>
              </a:rPr>
              <a:t>수정결정계수 </a:t>
            </a:r>
            <a:r>
              <a:rPr lang="en-US" altLang="ko-KR" sz="1700">
                <a:solidFill>
                  <a:schemeClr val="tx1"/>
                </a:solidFill>
              </a:rPr>
              <a:t>: </a:t>
            </a:r>
            <a:r>
              <a:rPr lang="en-US" altLang="ko-KR" sz="1700" b="1">
                <a:solidFill>
                  <a:schemeClr val="tx1"/>
                </a:solidFill>
              </a:rPr>
              <a:t>92.40%</a:t>
            </a:r>
            <a:br>
              <a:rPr lang="en-US" altLang="ko-KR" sz="1700">
                <a:solidFill>
                  <a:schemeClr val="tx1"/>
                </a:solidFill>
              </a:rPr>
            </a:br>
            <a:endParaRPr lang="en-US" altLang="ko-KR" sz="1700">
              <a:solidFill>
                <a:schemeClr val="tx1"/>
              </a:solidFill>
            </a:endParaRPr>
          </a:p>
          <a:p>
            <a:r>
              <a:rPr lang="en-US" altLang="ko-KR" sz="1700">
                <a:solidFill>
                  <a:srgbClr val="FF0000"/>
                </a:solidFill>
              </a:rPr>
              <a:t>3. AIC =81.19</a:t>
            </a:r>
            <a:r>
              <a:rPr lang="ko-KR" altLang="en-US" sz="1700">
                <a:solidFill>
                  <a:srgbClr val="FF0000"/>
                </a:solidFill>
              </a:rPr>
              <a:t>로 최소오차</a:t>
            </a:r>
            <a:r>
              <a:rPr lang="en-US" altLang="ko-KR" sz="1700">
                <a:solidFill>
                  <a:srgbClr val="FF0000"/>
                </a:solidFill>
              </a:rPr>
              <a:t>(</a:t>
            </a:r>
            <a:r>
              <a:rPr lang="ko-KR" altLang="en-US" sz="1700">
                <a:solidFill>
                  <a:srgbClr val="FF0000"/>
                </a:solidFill>
              </a:rPr>
              <a:t>최고 모형성능</a:t>
            </a:r>
            <a:r>
              <a:rPr lang="en-US" altLang="ko-KR" sz="1700">
                <a:solidFill>
                  <a:srgbClr val="FF0000"/>
                </a:solidFill>
              </a:rPr>
              <a:t>) </a:t>
            </a:r>
            <a:br>
              <a:rPr lang="en-US" altLang="ko-KR" sz="1700">
                <a:solidFill>
                  <a:srgbClr val="FF0000"/>
                </a:solidFill>
              </a:rPr>
            </a:br>
            <a:r>
              <a:rPr lang="en-US" altLang="ko-KR" sz="1700">
                <a:solidFill>
                  <a:srgbClr val="FF0000"/>
                </a:solidFill>
              </a:rPr>
              <a:t>  (1) </a:t>
            </a:r>
            <a:r>
              <a:rPr lang="ko-KR" altLang="en-US" sz="1700" b="1">
                <a:solidFill>
                  <a:srgbClr val="FF0000"/>
                </a:solidFill>
              </a:rPr>
              <a:t>이상치</a:t>
            </a:r>
            <a:r>
              <a:rPr lang="ko-KR" altLang="en-US" sz="1700">
                <a:solidFill>
                  <a:srgbClr val="FF0000"/>
                </a:solidFill>
              </a:rPr>
              <a:t> </a:t>
            </a:r>
            <a:r>
              <a:rPr lang="en-US" altLang="ko-KR" sz="1700">
                <a:solidFill>
                  <a:srgbClr val="FF0000"/>
                </a:solidFill>
              </a:rPr>
              <a:t>Nevada </a:t>
            </a:r>
            <a:r>
              <a:rPr lang="ko-KR" altLang="en-US" sz="1700" b="1">
                <a:solidFill>
                  <a:srgbClr val="FF0000"/>
                </a:solidFill>
              </a:rPr>
              <a:t>제거</a:t>
            </a:r>
            <a:r>
              <a:rPr lang="ko-KR" altLang="en-US" sz="1700">
                <a:solidFill>
                  <a:srgbClr val="FF0000"/>
                </a:solidFill>
              </a:rPr>
              <a:t> 후</a:t>
            </a:r>
            <a:r>
              <a:rPr lang="en-US" altLang="ko-KR" sz="1700">
                <a:solidFill>
                  <a:srgbClr val="FF0000"/>
                </a:solidFill>
              </a:rPr>
              <a:t>,</a:t>
            </a:r>
            <a:br>
              <a:rPr lang="en-US" altLang="ko-KR" sz="1700">
                <a:solidFill>
                  <a:srgbClr val="FF0000"/>
                </a:solidFill>
              </a:rPr>
            </a:br>
            <a:r>
              <a:rPr lang="en-US" altLang="ko-KR" sz="1700">
                <a:solidFill>
                  <a:srgbClr val="FF0000"/>
                </a:solidFill>
              </a:rPr>
              <a:t>  (2) </a:t>
            </a:r>
            <a:r>
              <a:rPr lang="ko-KR" altLang="en-US" sz="1700">
                <a:solidFill>
                  <a:srgbClr val="FF0000"/>
                </a:solidFill>
              </a:rPr>
              <a:t>선택변수 </a:t>
            </a:r>
            <a:r>
              <a:rPr lang="en-US" altLang="ko-KR" sz="1700">
                <a:solidFill>
                  <a:srgbClr val="FF0000"/>
                </a:solidFill>
              </a:rPr>
              <a:t>2</a:t>
            </a:r>
            <a:r>
              <a:rPr lang="ko-KR" altLang="en-US" sz="1700">
                <a:solidFill>
                  <a:srgbClr val="FF0000"/>
                </a:solidFill>
              </a:rPr>
              <a:t>개</a:t>
            </a:r>
            <a:r>
              <a:rPr lang="en-US" altLang="ko-KR" sz="1700">
                <a:solidFill>
                  <a:srgbClr val="FF0000"/>
                </a:solidFill>
              </a:rPr>
              <a:t>(</a:t>
            </a:r>
            <a:r>
              <a:rPr lang="en-US" altLang="ko-KR" sz="1700" b="1">
                <a:solidFill>
                  <a:srgbClr val="FF0000"/>
                </a:solidFill>
              </a:rPr>
              <a:t> Illiteracy ,Population)</a:t>
            </a:r>
            <a:br>
              <a:rPr lang="en-US" altLang="ko-KR" sz="1700" b="1">
                <a:solidFill>
                  <a:srgbClr val="FF0000"/>
                </a:solidFill>
              </a:rPr>
            </a:br>
            <a:r>
              <a:rPr lang="en-US" altLang="ko-KR" sz="1700" b="1">
                <a:solidFill>
                  <a:srgbClr val="FF0000"/>
                </a:solidFill>
              </a:rPr>
              <a:t>         - Area(</a:t>
            </a:r>
            <a:r>
              <a:rPr lang="ko-KR" altLang="en-US" sz="1700" b="1">
                <a:solidFill>
                  <a:srgbClr val="FF0000"/>
                </a:solidFill>
              </a:rPr>
              <a:t>상관관계 검증 후</a:t>
            </a:r>
            <a:r>
              <a:rPr lang="en-US" altLang="ko-KR" sz="1700" b="1">
                <a:solidFill>
                  <a:srgbClr val="FF0000"/>
                </a:solidFill>
              </a:rPr>
              <a:t>)</a:t>
            </a:r>
            <a:r>
              <a:rPr lang="ko-KR" altLang="en-US" sz="1700" b="1">
                <a:solidFill>
                  <a:srgbClr val="FF0000"/>
                </a:solidFill>
              </a:rPr>
              <a:t>제거 후</a:t>
            </a:r>
            <a:br>
              <a:rPr lang="en-US" altLang="ko-KR" sz="1700">
                <a:solidFill>
                  <a:schemeClr val="tx1"/>
                </a:solidFill>
              </a:rPr>
            </a:br>
            <a:r>
              <a:rPr lang="en-US" altLang="ko-KR" sz="1700">
                <a:solidFill>
                  <a:schemeClr val="tx1"/>
                </a:solidFill>
              </a:rPr>
              <a:t> </a:t>
            </a:r>
          </a:p>
          <a:p>
            <a:r>
              <a:rPr lang="en-US" altLang="ko-KR" sz="1700">
                <a:solidFill>
                  <a:schemeClr val="tx1"/>
                </a:solidFill>
              </a:rPr>
              <a:t>4. X</a:t>
            </a:r>
            <a:r>
              <a:rPr lang="ko-KR" altLang="en-US" sz="1700">
                <a:solidFill>
                  <a:schemeClr val="tx1"/>
                </a:solidFill>
              </a:rPr>
              <a:t>변수간 다중공선성 문제없음</a:t>
            </a:r>
          </a:p>
          <a:p>
            <a:endParaRPr lang="en-US" altLang="ko-KR" sz="1700" b="1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ko-KR" sz="1700" b="1">
                <a:solidFill>
                  <a:schemeClr val="tx2"/>
                </a:solidFill>
              </a:rPr>
              <a:t>5. </a:t>
            </a:r>
            <a:r>
              <a:rPr lang="ko-KR" altLang="en-US" sz="1700" b="1">
                <a:solidFill>
                  <a:schemeClr val="tx2"/>
                </a:solidFill>
              </a:rPr>
              <a:t>잔차</a:t>
            </a:r>
            <a:r>
              <a:rPr lang="en-US" altLang="ko-KR" sz="1700" b="1">
                <a:solidFill>
                  <a:schemeClr val="tx2"/>
                </a:solidFill>
              </a:rPr>
              <a:t>/</a:t>
            </a:r>
            <a:r>
              <a:rPr lang="ko-KR" altLang="en-US" sz="1700" b="1">
                <a:solidFill>
                  <a:schemeClr val="tx2"/>
                </a:solidFill>
              </a:rPr>
              <a:t>오차항에 관한 </a:t>
            </a:r>
            <a:r>
              <a:rPr lang="en-US" altLang="ko-KR" sz="1700" b="1">
                <a:solidFill>
                  <a:schemeClr val="tx2"/>
                </a:solidFill>
              </a:rPr>
              <a:t>4</a:t>
            </a:r>
            <a:r>
              <a:rPr lang="ko-KR" altLang="en-US" sz="1700" b="1">
                <a:solidFill>
                  <a:schemeClr val="tx2"/>
                </a:solidFill>
              </a:rPr>
              <a:t>가지 가정 검증 완료</a:t>
            </a:r>
            <a:endParaRPr lang="en-US" altLang="ko-KR" sz="1700" b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0827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77476" y="686258"/>
            <a:ext cx="11837048" cy="440105"/>
          </a:xfrm>
        </p:spPr>
        <p:txBody>
          <a:bodyPr rtlCol="0">
            <a:normAutofit fontScale="90000"/>
          </a:bodyPr>
          <a:lstStyle/>
          <a:p>
            <a:r>
              <a:rPr lang="en-US" altLang="ko-KR" sz="2000" b="1">
                <a:cs typeface="Segoe UI Light" panose="020B0502040204020203" pitchFamily="34" charset="0"/>
              </a:rPr>
              <a:t>1. </a:t>
            </a:r>
            <a:r>
              <a:rPr lang="ko-KR" altLang="en-US" sz="2000" b="1">
                <a:cs typeface="Segoe UI Light" panose="020B0502040204020203" pitchFamily="34" charset="0"/>
              </a:rPr>
              <a:t>탐색적 데이터 분석                   </a:t>
            </a:r>
            <a:r>
              <a:rPr lang="en-US" altLang="ko-KR" sz="2000" b="1">
                <a:cs typeface="Segoe UI Light" panose="020B0502040204020203" pitchFamily="34" charset="0"/>
              </a:rPr>
              <a:t>2. </a:t>
            </a:r>
            <a:r>
              <a:rPr lang="ko-KR" altLang="en-US" sz="2000" b="1">
                <a:cs typeface="Segoe UI Light" panose="020B0502040204020203" pitchFamily="34" charset="0"/>
              </a:rPr>
              <a:t>다중회귀분석 모델링 순서                 </a:t>
            </a:r>
            <a:r>
              <a:rPr lang="en-US" altLang="ko-KR" sz="2000">
                <a:cs typeface="Segoe UI Light" panose="020B0502040204020203" pitchFamily="34" charset="0"/>
              </a:rPr>
              <a:t>3. </a:t>
            </a:r>
            <a:r>
              <a:rPr lang="ko-KR" altLang="en-US" sz="20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오차항에 관한 </a:t>
            </a:r>
            <a:r>
              <a:rPr lang="en-US" altLang="ko-KR" sz="20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4</a:t>
            </a:r>
            <a:r>
              <a:rPr lang="ko-KR" altLang="en-US" sz="20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가지 가정 검증</a:t>
            </a:r>
            <a:endParaRPr lang="ko-KR" altLang="en-US" sz="2000" b="1" dirty="0">
              <a:cs typeface="Segoe UI Light" panose="020B0502040204020203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6CE8648-320E-47A8-B69F-81794DDF297E}"/>
              </a:ext>
            </a:extLst>
          </p:cNvPr>
          <p:cNvGrpSpPr/>
          <p:nvPr/>
        </p:nvGrpSpPr>
        <p:grpSpPr>
          <a:xfrm>
            <a:off x="266555" y="1386617"/>
            <a:ext cx="3616724" cy="5330793"/>
            <a:chOff x="266555" y="1386617"/>
            <a:chExt cx="3616724" cy="5330793"/>
          </a:xfrm>
        </p:grpSpPr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BDC67CB3-F937-4EB0-A931-F0531BE4CA86}"/>
                </a:ext>
              </a:extLst>
            </p:cNvPr>
            <p:cNvGrpSpPr/>
            <p:nvPr/>
          </p:nvGrpSpPr>
          <p:grpSpPr>
            <a:xfrm>
              <a:off x="266555" y="6051761"/>
              <a:ext cx="484428" cy="438747"/>
              <a:chOff x="493337" y="1831975"/>
              <a:chExt cx="484428" cy="438747"/>
            </a:xfrm>
          </p:grpSpPr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7C472609-FC03-4AD9-9BB1-D69AEAE2828E}"/>
                  </a:ext>
                </a:extLst>
              </p:cNvPr>
              <p:cNvSpPr/>
              <p:nvPr/>
            </p:nvSpPr>
            <p:spPr>
              <a:xfrm>
                <a:off x="516178" y="1831975"/>
                <a:ext cx="438747" cy="43874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224305F-B682-4D40-9B0C-2994DF10A296}"/>
                  </a:ext>
                </a:extLst>
              </p:cNvPr>
              <p:cNvSpPr txBox="1"/>
              <p:nvPr/>
            </p:nvSpPr>
            <p:spPr>
              <a:xfrm>
                <a:off x="493337" y="1866682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1.3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CC85F1A-0C79-4F53-B218-1D36C1E2E039}"/>
                </a:ext>
              </a:extLst>
            </p:cNvPr>
            <p:cNvSpPr txBox="1"/>
            <p:nvPr/>
          </p:nvSpPr>
          <p:spPr>
            <a:xfrm>
              <a:off x="755500" y="5824858"/>
              <a:ext cx="1887055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Y</a:t>
              </a:r>
              <a:r>
                <a:rPr lang="ko-KR" altLang="en-US" sz="16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종속변수분석</a:t>
              </a:r>
              <a:br>
                <a:rPr lang="en-US" altLang="ko-KR" sz="16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2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Y</a:t>
              </a:r>
              <a:r>
                <a:rPr lang="ko-KR" altLang="en-US" sz="12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변수 탐색적 분석 </a:t>
              </a:r>
              <a:r>
                <a:rPr lang="en-US" altLang="ko-KR" sz="12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: </a:t>
              </a:r>
            </a:p>
            <a:p>
              <a:r>
                <a:rPr lang="ko-KR" altLang="en-US" sz="12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살인율 평균 </a:t>
              </a:r>
              <a:r>
                <a:rPr lang="en-US" altLang="ko-KR" sz="12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7.38% </a:t>
              </a:r>
              <a:r>
                <a:rPr lang="ko-KR" altLang="en-US" sz="12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등 </a:t>
              </a:r>
              <a:endParaRPr lang="en-US" altLang="ko-KR" sz="12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  <a:p>
              <a:r>
                <a:rPr lang="ko-KR" altLang="en-US" sz="12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요약통계량 및 분포 분석</a:t>
              </a:r>
            </a:p>
          </p:txBody>
        </p:sp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30B06436-94CA-499F-9E59-CBA64FEC68FB}"/>
                </a:ext>
              </a:extLst>
            </p:cNvPr>
            <p:cNvGrpSpPr/>
            <p:nvPr/>
          </p:nvGrpSpPr>
          <p:grpSpPr>
            <a:xfrm>
              <a:off x="266555" y="1590437"/>
              <a:ext cx="484428" cy="438747"/>
              <a:chOff x="493337" y="1831975"/>
              <a:chExt cx="484428" cy="438747"/>
            </a:xfrm>
          </p:grpSpPr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F95CD613-4E9C-4EC0-9821-0E52ADECB52A}"/>
                  </a:ext>
                </a:extLst>
              </p:cNvPr>
              <p:cNvSpPr/>
              <p:nvPr/>
            </p:nvSpPr>
            <p:spPr>
              <a:xfrm>
                <a:off x="516178" y="1831975"/>
                <a:ext cx="438747" cy="43874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5CE91D46-654E-440E-8D74-E3F3F748F6D7}"/>
                  </a:ext>
                </a:extLst>
              </p:cNvPr>
              <p:cNvSpPr txBox="1"/>
              <p:nvPr/>
            </p:nvSpPr>
            <p:spPr>
              <a:xfrm>
                <a:off x="493337" y="1866682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1.1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D7C68A9-21A9-48E3-8496-482C8E7F3612}"/>
                </a:ext>
              </a:extLst>
            </p:cNvPr>
            <p:cNvSpPr txBox="1"/>
            <p:nvPr/>
          </p:nvSpPr>
          <p:spPr>
            <a:xfrm>
              <a:off x="755500" y="1386617"/>
              <a:ext cx="3127779" cy="846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시각화</a:t>
              </a:r>
              <a:br>
                <a:rPr lang="en-US" altLang="ko-KR" sz="16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Y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변수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(Murder(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미국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50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개주 살인율 </a:t>
              </a:r>
              <a:b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예측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)) 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예측에 유효한 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X 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설명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(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원인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)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변수 파악 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:  </a:t>
              </a:r>
              <a:b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X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유효변수의 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Y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간 상관관계검증 활용방안</a:t>
              </a:r>
              <a:endParaRPr lang="ko-KR" altLang="en-US" sz="16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DBA6992B-6D07-4805-936E-A641719B6F00}"/>
                </a:ext>
              </a:extLst>
            </p:cNvPr>
            <p:cNvGrpSpPr/>
            <p:nvPr/>
          </p:nvGrpSpPr>
          <p:grpSpPr>
            <a:xfrm>
              <a:off x="266555" y="3809557"/>
              <a:ext cx="484428" cy="438747"/>
              <a:chOff x="493337" y="1831975"/>
              <a:chExt cx="484428" cy="438747"/>
            </a:xfrm>
          </p:grpSpPr>
          <p:sp>
            <p:nvSpPr>
              <p:cNvPr id="89" name="타원 88">
                <a:extLst>
                  <a:ext uri="{FF2B5EF4-FFF2-40B4-BE49-F238E27FC236}">
                    <a16:creationId xmlns:a16="http://schemas.microsoft.com/office/drawing/2014/main" id="{FDE91BC5-A9D7-47AE-BC50-017970778FC3}"/>
                  </a:ext>
                </a:extLst>
              </p:cNvPr>
              <p:cNvSpPr/>
              <p:nvPr/>
            </p:nvSpPr>
            <p:spPr>
              <a:xfrm>
                <a:off x="516178" y="1831975"/>
                <a:ext cx="438747" cy="43874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24AEB87-6FE2-40F9-B14E-F9ED8936F061}"/>
                  </a:ext>
                </a:extLst>
              </p:cNvPr>
              <p:cNvSpPr txBox="1"/>
              <p:nvPr/>
            </p:nvSpPr>
            <p:spPr>
              <a:xfrm>
                <a:off x="493337" y="1866682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1.2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57CDBCF-8A06-40DC-A36E-83B71EA96765}"/>
                </a:ext>
              </a:extLst>
            </p:cNvPr>
            <p:cNvSpPr txBox="1"/>
            <p:nvPr/>
          </p:nvSpPr>
          <p:spPr>
            <a:xfrm>
              <a:off x="755500" y="3605737"/>
              <a:ext cx="2990897" cy="846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상관관계분석</a:t>
              </a:r>
              <a:br>
                <a:rPr lang="en-US" altLang="ko-KR" sz="12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Y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변수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(Murder(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미국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50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개주 살인율 </a:t>
              </a:r>
              <a:b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예측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)) 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예측에 유효한 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X 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설명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(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원인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)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변수 파악 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:  </a:t>
              </a:r>
              <a:b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X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유효변수의 </a:t>
              </a:r>
              <a:r>
                <a:rPr lang="en-US" altLang="ko-KR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Y</a:t>
              </a:r>
              <a:r>
                <a:rPr lang="ko-KR" altLang="en-US" sz="11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간 상관관계검증 활용방안</a:t>
              </a:r>
              <a:endParaRPr lang="ko-KR" altLang="en-US" sz="12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86530DF-F6F5-43C4-9793-A9382AFBFC44}"/>
              </a:ext>
            </a:extLst>
          </p:cNvPr>
          <p:cNvGrpSpPr/>
          <p:nvPr/>
        </p:nvGrpSpPr>
        <p:grpSpPr>
          <a:xfrm>
            <a:off x="0" y="-17527"/>
            <a:ext cx="2798618" cy="499454"/>
            <a:chOff x="0" y="-17527"/>
            <a:chExt cx="1985818" cy="499454"/>
          </a:xfrm>
        </p:grpSpPr>
        <p:sp>
          <p:nvSpPr>
            <p:cNvPr id="48" name="사각형: 둥근 한쪽 모서리 47">
              <a:extLst>
                <a:ext uri="{FF2B5EF4-FFF2-40B4-BE49-F238E27FC236}">
                  <a16:creationId xmlns:a16="http://schemas.microsoft.com/office/drawing/2014/main" id="{29E9CC8A-DF03-47D6-9854-04353B928A0D}"/>
                </a:ext>
              </a:extLst>
            </p:cNvPr>
            <p:cNvSpPr/>
            <p:nvPr/>
          </p:nvSpPr>
          <p:spPr>
            <a:xfrm rot="10800000" flipH="1">
              <a:off x="0" y="-1"/>
              <a:ext cx="1985818" cy="481928"/>
            </a:xfrm>
            <a:prstGeom prst="round1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0B2B052-6800-49F8-AECC-F55D59FDFCF6}"/>
                </a:ext>
              </a:extLst>
            </p:cNvPr>
            <p:cNvSpPr txBox="1"/>
            <p:nvPr/>
          </p:nvSpPr>
          <p:spPr>
            <a:xfrm>
              <a:off x="851351" y="-17527"/>
              <a:ext cx="10757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</a:rPr>
                <a:t>Contents</a:t>
              </a:r>
              <a:endParaRPr lang="ko-KR" altLang="en-US" sz="24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a:endParaRPr>
            </a:p>
          </p:txBody>
        </p:sp>
      </p:grpSp>
      <p:sp>
        <p:nvSpPr>
          <p:cNvPr id="108" name="내용 개체 틀 17">
            <a:extLst>
              <a:ext uri="{FF2B5EF4-FFF2-40B4-BE49-F238E27FC236}">
                <a16:creationId xmlns:a16="http://schemas.microsoft.com/office/drawing/2014/main" id="{7297C85F-46A3-4BAA-8E41-AE2E785DFF26}"/>
              </a:ext>
            </a:extLst>
          </p:cNvPr>
          <p:cNvSpPr txBox="1">
            <a:spLocks/>
          </p:cNvSpPr>
          <p:nvPr/>
        </p:nvSpPr>
        <p:spPr>
          <a:xfrm>
            <a:off x="8980280" y="1465230"/>
            <a:ext cx="1976343" cy="2815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ko-KR" altLang="en-US" sz="13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오차 독립성 가정</a:t>
            </a:r>
            <a:endParaRPr lang="ko-KR" altLang="en-US" sz="1300" b="1" dirty="0">
              <a:solidFill>
                <a:schemeClr val="bg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/>
            </a:endParaRPr>
          </a:p>
        </p:txBody>
      </p: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FCD8C0E4-31B6-4B64-8BAE-60CD53C5167A}"/>
              </a:ext>
            </a:extLst>
          </p:cNvPr>
          <p:cNvGrpSpPr/>
          <p:nvPr/>
        </p:nvGrpSpPr>
        <p:grpSpPr>
          <a:xfrm>
            <a:off x="8382930" y="1386617"/>
            <a:ext cx="484428" cy="438747"/>
            <a:chOff x="493337" y="1831975"/>
            <a:chExt cx="484428" cy="438747"/>
          </a:xfrm>
        </p:grpSpPr>
        <p:sp>
          <p:nvSpPr>
            <p:cNvPr id="147" name="타원 146">
              <a:extLst>
                <a:ext uri="{FF2B5EF4-FFF2-40B4-BE49-F238E27FC236}">
                  <a16:creationId xmlns:a16="http://schemas.microsoft.com/office/drawing/2014/main" id="{FD671DFA-5998-4F93-A1DA-8DD853C0B2AD}"/>
                </a:ext>
              </a:extLst>
            </p:cNvPr>
            <p:cNvSpPr/>
            <p:nvPr/>
          </p:nvSpPr>
          <p:spPr>
            <a:xfrm>
              <a:off x="516178" y="1831975"/>
              <a:ext cx="438747" cy="438747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679BC914-F6E7-42C7-81EC-285BECFF0E30}"/>
                </a:ext>
              </a:extLst>
            </p:cNvPr>
            <p:cNvSpPr txBox="1"/>
            <p:nvPr/>
          </p:nvSpPr>
          <p:spPr>
            <a:xfrm>
              <a:off x="493337" y="1866682"/>
              <a:ext cx="4844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solidFill>
                    <a:schemeClr val="bg1"/>
                  </a:solidFill>
                </a:rPr>
                <a:t>3.1</a:t>
              </a:r>
              <a:endParaRPr lang="ko-KR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11" name="내용 개체 틀 17">
            <a:extLst>
              <a:ext uri="{FF2B5EF4-FFF2-40B4-BE49-F238E27FC236}">
                <a16:creationId xmlns:a16="http://schemas.microsoft.com/office/drawing/2014/main" id="{646DDC44-4189-4657-97DC-96338880A76E}"/>
              </a:ext>
            </a:extLst>
          </p:cNvPr>
          <p:cNvSpPr txBox="1">
            <a:spLocks/>
          </p:cNvSpPr>
          <p:nvPr/>
        </p:nvSpPr>
        <p:spPr>
          <a:xfrm>
            <a:off x="8980281" y="2236474"/>
            <a:ext cx="2625857" cy="2815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ko-KR" altLang="en-US" sz="13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오차 간 자기상관관계가 없을 것</a:t>
            </a:r>
            <a:endParaRPr lang="ko-KR" altLang="en-US" sz="1300" b="1" dirty="0">
              <a:solidFill>
                <a:schemeClr val="bg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/>
            </a:endParaRPr>
          </a:p>
        </p:txBody>
      </p: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B02BAEA4-9859-41D4-9165-B374A20E0E76}"/>
              </a:ext>
            </a:extLst>
          </p:cNvPr>
          <p:cNvGrpSpPr/>
          <p:nvPr/>
        </p:nvGrpSpPr>
        <p:grpSpPr>
          <a:xfrm>
            <a:off x="8382930" y="2157861"/>
            <a:ext cx="484428" cy="438747"/>
            <a:chOff x="493337" y="1831975"/>
            <a:chExt cx="484428" cy="438747"/>
          </a:xfrm>
        </p:grpSpPr>
        <p:sp>
          <p:nvSpPr>
            <p:cNvPr id="150" name="타원 149">
              <a:extLst>
                <a:ext uri="{FF2B5EF4-FFF2-40B4-BE49-F238E27FC236}">
                  <a16:creationId xmlns:a16="http://schemas.microsoft.com/office/drawing/2014/main" id="{9FDE21FB-B17B-4037-A9E4-C52B92BE3C5D}"/>
                </a:ext>
              </a:extLst>
            </p:cNvPr>
            <p:cNvSpPr/>
            <p:nvPr/>
          </p:nvSpPr>
          <p:spPr>
            <a:xfrm>
              <a:off x="516178" y="1831975"/>
              <a:ext cx="438747" cy="438747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FFA60F4-A606-4F7B-9DC4-4BBB26BFC360}"/>
                </a:ext>
              </a:extLst>
            </p:cNvPr>
            <p:cNvSpPr txBox="1"/>
            <p:nvPr/>
          </p:nvSpPr>
          <p:spPr>
            <a:xfrm>
              <a:off x="493337" y="1866682"/>
              <a:ext cx="4844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solidFill>
                    <a:schemeClr val="bg1"/>
                  </a:solidFill>
                </a:rPr>
                <a:t>3.2</a:t>
              </a:r>
              <a:endParaRPr lang="ko-KR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14" name="내용 개체 틀 17">
            <a:extLst>
              <a:ext uri="{FF2B5EF4-FFF2-40B4-BE49-F238E27FC236}">
                <a16:creationId xmlns:a16="http://schemas.microsoft.com/office/drawing/2014/main" id="{2EA8733D-AFBC-40C7-A3FA-B9FC9948A7CB}"/>
              </a:ext>
            </a:extLst>
          </p:cNvPr>
          <p:cNvSpPr txBox="1">
            <a:spLocks/>
          </p:cNvSpPr>
          <p:nvPr/>
        </p:nvSpPr>
        <p:spPr>
          <a:xfrm>
            <a:off x="8980280" y="3007718"/>
            <a:ext cx="2104330" cy="2815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ko-KR" altLang="en-US" sz="13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오차 등분산성 가정</a:t>
            </a:r>
            <a:endParaRPr lang="ko-KR" altLang="en-US" sz="1300" b="1" dirty="0">
              <a:solidFill>
                <a:schemeClr val="bg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/>
            </a:endParaRPr>
          </a:p>
        </p:txBody>
      </p: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B33A9944-5A9C-4500-BEF1-27DFFFCE2C9B}"/>
              </a:ext>
            </a:extLst>
          </p:cNvPr>
          <p:cNvGrpSpPr/>
          <p:nvPr/>
        </p:nvGrpSpPr>
        <p:grpSpPr>
          <a:xfrm>
            <a:off x="8382930" y="2929105"/>
            <a:ext cx="484428" cy="438747"/>
            <a:chOff x="8382930" y="4595703"/>
            <a:chExt cx="484428" cy="438747"/>
          </a:xfrm>
        </p:grpSpPr>
        <p:sp>
          <p:nvSpPr>
            <p:cNvPr id="153" name="타원 152">
              <a:extLst>
                <a:ext uri="{FF2B5EF4-FFF2-40B4-BE49-F238E27FC236}">
                  <a16:creationId xmlns:a16="http://schemas.microsoft.com/office/drawing/2014/main" id="{44C45BB6-9C7C-4DBC-B270-AFEB0C372956}"/>
                </a:ext>
              </a:extLst>
            </p:cNvPr>
            <p:cNvSpPr/>
            <p:nvPr/>
          </p:nvSpPr>
          <p:spPr>
            <a:xfrm>
              <a:off x="8405771" y="4595703"/>
              <a:ext cx="438747" cy="438747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A02A6CCF-29F1-4876-AF45-C5EEC8E542C3}"/>
                </a:ext>
              </a:extLst>
            </p:cNvPr>
            <p:cNvSpPr txBox="1"/>
            <p:nvPr/>
          </p:nvSpPr>
          <p:spPr>
            <a:xfrm>
              <a:off x="8382930" y="4630410"/>
              <a:ext cx="4844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solidFill>
                    <a:schemeClr val="bg1"/>
                  </a:solidFill>
                </a:rPr>
                <a:t>3.3</a:t>
              </a:r>
              <a:endParaRPr lang="ko-KR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17" name="내용 개체 틀 17">
            <a:extLst>
              <a:ext uri="{FF2B5EF4-FFF2-40B4-BE49-F238E27FC236}">
                <a16:creationId xmlns:a16="http://schemas.microsoft.com/office/drawing/2014/main" id="{5FC5764B-8B07-4C05-A497-BD10FBBDC5A3}"/>
              </a:ext>
            </a:extLst>
          </p:cNvPr>
          <p:cNvSpPr txBox="1">
            <a:spLocks/>
          </p:cNvSpPr>
          <p:nvPr/>
        </p:nvSpPr>
        <p:spPr>
          <a:xfrm>
            <a:off x="8980281" y="3778963"/>
            <a:ext cx="2274980" cy="2815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ko-KR" altLang="en-US" sz="13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오차 정규성 검증</a:t>
            </a:r>
            <a:endParaRPr lang="ko-KR" altLang="en-US" sz="1300" b="1" dirty="0">
              <a:solidFill>
                <a:schemeClr val="bg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/>
            </a:endParaRPr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DA97FD7E-9E4C-4684-BE66-BFB037D52B52}"/>
              </a:ext>
            </a:extLst>
          </p:cNvPr>
          <p:cNvGrpSpPr/>
          <p:nvPr/>
        </p:nvGrpSpPr>
        <p:grpSpPr>
          <a:xfrm>
            <a:off x="8382930" y="3700350"/>
            <a:ext cx="484428" cy="438747"/>
            <a:chOff x="8382930" y="5988957"/>
            <a:chExt cx="484428" cy="438747"/>
          </a:xfrm>
        </p:grpSpPr>
        <p:sp>
          <p:nvSpPr>
            <p:cNvPr id="156" name="타원 155">
              <a:extLst>
                <a:ext uri="{FF2B5EF4-FFF2-40B4-BE49-F238E27FC236}">
                  <a16:creationId xmlns:a16="http://schemas.microsoft.com/office/drawing/2014/main" id="{F1683651-F3C3-4FA1-B23A-2D41C8DC4071}"/>
                </a:ext>
              </a:extLst>
            </p:cNvPr>
            <p:cNvSpPr/>
            <p:nvPr/>
          </p:nvSpPr>
          <p:spPr>
            <a:xfrm>
              <a:off x="8405771" y="5988957"/>
              <a:ext cx="438747" cy="438747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238388E9-C1F3-409C-96FD-D423C543E4BB}"/>
                </a:ext>
              </a:extLst>
            </p:cNvPr>
            <p:cNvSpPr txBox="1"/>
            <p:nvPr/>
          </p:nvSpPr>
          <p:spPr>
            <a:xfrm>
              <a:off x="8382930" y="6023664"/>
              <a:ext cx="4844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solidFill>
                    <a:schemeClr val="bg1"/>
                  </a:solidFill>
                </a:rPr>
                <a:t>3.4</a:t>
              </a:r>
              <a:endParaRPr lang="ko-KR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08DD965F-6DFE-43C5-9C1F-4E4AF0CD449F}"/>
              </a:ext>
            </a:extLst>
          </p:cNvPr>
          <p:cNvGrpSpPr/>
          <p:nvPr/>
        </p:nvGrpSpPr>
        <p:grpSpPr>
          <a:xfrm>
            <a:off x="3949475" y="1386617"/>
            <a:ext cx="4323903" cy="5330793"/>
            <a:chOff x="3949475" y="1386617"/>
            <a:chExt cx="4323903" cy="5330793"/>
          </a:xfrm>
        </p:grpSpPr>
        <p:sp>
          <p:nvSpPr>
            <p:cNvPr id="21" name="내용 개체 틀 17"/>
            <p:cNvSpPr txBox="1">
              <a:spLocks/>
            </p:cNvSpPr>
            <p:nvPr/>
          </p:nvSpPr>
          <p:spPr>
            <a:xfrm>
              <a:off x="4492770" y="1386617"/>
              <a:ext cx="2815035" cy="45348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완전모형</a:t>
              </a:r>
              <a: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(</a:t>
              </a: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모든</a:t>
              </a:r>
              <a: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x</a:t>
              </a: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변수 투입</a:t>
              </a:r>
              <a: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)</a:t>
              </a: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으로 </a:t>
              </a:r>
              <a:b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1</a:t>
              </a: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차 선형모형식 산출</a:t>
              </a:r>
              <a:endParaRPr lang="ko-KR" altLang="en-US" sz="1300" b="1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1CAF7FF9-660E-4287-82B1-5D7A583ADBEC}"/>
                </a:ext>
              </a:extLst>
            </p:cNvPr>
            <p:cNvGrpSpPr/>
            <p:nvPr/>
          </p:nvGrpSpPr>
          <p:grpSpPr>
            <a:xfrm>
              <a:off x="3949475" y="1393985"/>
              <a:ext cx="484428" cy="438747"/>
              <a:chOff x="3949475" y="1766642"/>
              <a:chExt cx="484428" cy="438747"/>
            </a:xfrm>
          </p:grpSpPr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8D5D4736-EF5B-4105-AF73-DE3EF144994C}"/>
                  </a:ext>
                </a:extLst>
              </p:cNvPr>
              <p:cNvSpPr/>
              <p:nvPr/>
            </p:nvSpPr>
            <p:spPr>
              <a:xfrm>
                <a:off x="3972316" y="1766642"/>
                <a:ext cx="438747" cy="4387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BC35FAC9-10B8-4DB7-94D8-58D13F09AFD4}"/>
                  </a:ext>
                </a:extLst>
              </p:cNvPr>
              <p:cNvSpPr txBox="1"/>
              <p:nvPr/>
            </p:nvSpPr>
            <p:spPr>
              <a:xfrm>
                <a:off x="3949475" y="1801349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2.1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6" name="내용 개체 틀 17">
              <a:extLst>
                <a:ext uri="{FF2B5EF4-FFF2-40B4-BE49-F238E27FC236}">
                  <a16:creationId xmlns:a16="http://schemas.microsoft.com/office/drawing/2014/main" id="{AB205E41-8DA1-47D7-B55E-5381544160D5}"/>
                </a:ext>
              </a:extLst>
            </p:cNvPr>
            <p:cNvSpPr txBox="1">
              <a:spLocks/>
            </p:cNvSpPr>
            <p:nvPr/>
          </p:nvSpPr>
          <p:spPr>
            <a:xfrm>
              <a:off x="4530893" y="2061263"/>
              <a:ext cx="3593238" cy="126654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X</a:t>
              </a: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변수들간의 </a:t>
              </a:r>
              <a:r>
                <a:rPr lang="ko-KR" altLang="en-US" sz="1300" b="1" u="sng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다중공선성</a:t>
              </a: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 이슈 해결 </a:t>
              </a:r>
              <a:b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(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목적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) 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예측</a:t>
              </a:r>
              <a:r>
                <a:rPr lang="en-US" altLang="ko-KR" sz="1050" dirty="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/</a:t>
              </a:r>
              <a:r>
                <a:rPr lang="ko-KR" altLang="en-US" sz="1050" dirty="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추정 모형식 </a:t>
              </a:r>
              <a:r>
                <a:rPr lang="ko-KR" altLang="en-US" sz="1050" dirty="0" err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회귀계수값의</a:t>
              </a:r>
              <a:r>
                <a:rPr lang="ko-KR" altLang="en-US" sz="1050" dirty="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 신뢰도 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하락 방지</a:t>
              </a:r>
              <a:b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(1) car:vif(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모형식명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)&gt;10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인 변수 제거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, 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잔여후보변수들이</a:t>
              </a:r>
              <a:b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    car:vif(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모형식명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)&lt;10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이 될 때까지 변수 제거 </a:t>
              </a:r>
              <a:b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(2) 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최종후보모형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/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채택변수가 됨</a:t>
              </a:r>
              <a:endParaRPr lang="en-US" altLang="ko-KR" sz="11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131" name="그룹 130">
              <a:extLst>
                <a:ext uri="{FF2B5EF4-FFF2-40B4-BE49-F238E27FC236}">
                  <a16:creationId xmlns:a16="http://schemas.microsoft.com/office/drawing/2014/main" id="{FE6FD0DE-2401-492E-A2CB-B715B0AE1F09}"/>
                </a:ext>
              </a:extLst>
            </p:cNvPr>
            <p:cNvGrpSpPr/>
            <p:nvPr/>
          </p:nvGrpSpPr>
          <p:grpSpPr>
            <a:xfrm>
              <a:off x="3949475" y="2475161"/>
              <a:ext cx="484428" cy="438747"/>
              <a:chOff x="3949475" y="1766642"/>
              <a:chExt cx="484428" cy="438747"/>
            </a:xfrm>
          </p:grpSpPr>
          <p:sp>
            <p:nvSpPr>
              <p:cNvPr id="132" name="타원 131">
                <a:extLst>
                  <a:ext uri="{FF2B5EF4-FFF2-40B4-BE49-F238E27FC236}">
                    <a16:creationId xmlns:a16="http://schemas.microsoft.com/office/drawing/2014/main" id="{650638A1-6FC6-47A8-9039-D927CA410E87}"/>
                  </a:ext>
                </a:extLst>
              </p:cNvPr>
              <p:cNvSpPr/>
              <p:nvPr/>
            </p:nvSpPr>
            <p:spPr>
              <a:xfrm>
                <a:off x="3972316" y="1766642"/>
                <a:ext cx="438747" cy="4387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8B4A58B3-5BD3-4796-B6F5-D4B2562A9818}"/>
                  </a:ext>
                </a:extLst>
              </p:cNvPr>
              <p:cNvSpPr txBox="1"/>
              <p:nvPr/>
            </p:nvSpPr>
            <p:spPr>
              <a:xfrm>
                <a:off x="3949475" y="1801349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2.2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4" name="내용 개체 틀 17">
              <a:extLst>
                <a:ext uri="{FF2B5EF4-FFF2-40B4-BE49-F238E27FC236}">
                  <a16:creationId xmlns:a16="http://schemas.microsoft.com/office/drawing/2014/main" id="{376453AC-B87E-4223-9FEF-F4018F4A0655}"/>
                </a:ext>
              </a:extLst>
            </p:cNvPr>
            <p:cNvSpPr txBox="1">
              <a:spLocks/>
            </p:cNvSpPr>
            <p:nvPr/>
          </p:nvSpPr>
          <p:spPr>
            <a:xfrm>
              <a:off x="4530893" y="3548969"/>
              <a:ext cx="3742485" cy="45348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변수선택법 적용을 통한 </a:t>
              </a:r>
              <a:b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불필요한 </a:t>
              </a:r>
              <a: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X</a:t>
              </a: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변수 제거 </a:t>
              </a:r>
              <a: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: </a:t>
              </a:r>
              <a:r>
                <a:rPr lang="en-US" altLang="ko-KR" sz="13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step(</a:t>
              </a:r>
              <a:r>
                <a:rPr lang="ko-KR" altLang="en-US" sz="13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모형식명</a:t>
              </a:r>
              <a:r>
                <a:rPr lang="en-US" altLang="ko-KR" sz="130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)</a:t>
              </a:r>
              <a:endParaRPr lang="ko-KR" altLang="en-US" sz="1300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134" name="그룹 133">
              <a:extLst>
                <a:ext uri="{FF2B5EF4-FFF2-40B4-BE49-F238E27FC236}">
                  <a16:creationId xmlns:a16="http://schemas.microsoft.com/office/drawing/2014/main" id="{B7A66D93-C958-49FA-8A67-D878A3A51090}"/>
                </a:ext>
              </a:extLst>
            </p:cNvPr>
            <p:cNvGrpSpPr/>
            <p:nvPr/>
          </p:nvGrpSpPr>
          <p:grpSpPr>
            <a:xfrm>
              <a:off x="3949475" y="3556337"/>
              <a:ext cx="484428" cy="438747"/>
              <a:chOff x="3949475" y="1766642"/>
              <a:chExt cx="484428" cy="438747"/>
            </a:xfrm>
          </p:grpSpPr>
          <p:sp>
            <p:nvSpPr>
              <p:cNvPr id="135" name="타원 134">
                <a:extLst>
                  <a:ext uri="{FF2B5EF4-FFF2-40B4-BE49-F238E27FC236}">
                    <a16:creationId xmlns:a16="http://schemas.microsoft.com/office/drawing/2014/main" id="{48382935-34E3-4E22-83BE-B81DAE117A9C}"/>
                  </a:ext>
                </a:extLst>
              </p:cNvPr>
              <p:cNvSpPr/>
              <p:nvPr/>
            </p:nvSpPr>
            <p:spPr>
              <a:xfrm>
                <a:off x="3972316" y="1766642"/>
                <a:ext cx="438747" cy="4387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F718DA65-EC30-4C5B-A442-9BF4A4A9D91A}"/>
                  </a:ext>
                </a:extLst>
              </p:cNvPr>
              <p:cNvSpPr txBox="1"/>
              <p:nvPr/>
            </p:nvSpPr>
            <p:spPr>
              <a:xfrm>
                <a:off x="3949475" y="1801349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2.3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8" name="내용 개체 틀 17">
              <a:extLst>
                <a:ext uri="{FF2B5EF4-FFF2-40B4-BE49-F238E27FC236}">
                  <a16:creationId xmlns:a16="http://schemas.microsoft.com/office/drawing/2014/main" id="{1780E162-766C-4C2F-9169-11C03D368C58}"/>
                </a:ext>
              </a:extLst>
            </p:cNvPr>
            <p:cNvSpPr txBox="1">
              <a:spLocks/>
            </p:cNvSpPr>
            <p:nvPr/>
          </p:nvSpPr>
          <p:spPr>
            <a:xfrm>
              <a:off x="4530893" y="4223615"/>
              <a:ext cx="3742485" cy="117397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2</a:t>
              </a: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차다중공선성 체크</a:t>
              </a:r>
              <a:br>
                <a:rPr lang="en-US" altLang="ko-KR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(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이후 수정모형 변경 후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, 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다중공선성 제거 시 까지 반복실행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)</a:t>
              </a:r>
              <a:b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</a:b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(1) car:vif(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모형식명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)&gt;10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인 변수 제거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, 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잔여후보변수들이</a:t>
              </a:r>
              <a:b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    car:vif(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모형식명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)&lt;10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이 될 때까지 변수 제거 </a:t>
              </a:r>
              <a:b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(2) 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최종후보모형</a:t>
              </a:r>
              <a:r>
                <a:rPr lang="en-US" altLang="ko-KR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/</a:t>
              </a:r>
              <a:r>
                <a:rPr lang="ko-KR" altLang="en-US" sz="1050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채택변수가 됨</a:t>
              </a:r>
              <a:endParaRPr lang="en-US" altLang="ko-KR" sz="105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493EEF06-6AF4-4008-A16D-392797BB0184}"/>
                </a:ext>
              </a:extLst>
            </p:cNvPr>
            <p:cNvGrpSpPr/>
            <p:nvPr/>
          </p:nvGrpSpPr>
          <p:grpSpPr>
            <a:xfrm>
              <a:off x="3949475" y="4591229"/>
              <a:ext cx="484428" cy="438747"/>
              <a:chOff x="3949475" y="1766642"/>
              <a:chExt cx="484428" cy="438747"/>
            </a:xfrm>
          </p:grpSpPr>
          <p:sp>
            <p:nvSpPr>
              <p:cNvPr id="138" name="타원 137">
                <a:extLst>
                  <a:ext uri="{FF2B5EF4-FFF2-40B4-BE49-F238E27FC236}">
                    <a16:creationId xmlns:a16="http://schemas.microsoft.com/office/drawing/2014/main" id="{00300FA8-1C9D-4B27-8C7D-E010E5199FE2}"/>
                  </a:ext>
                </a:extLst>
              </p:cNvPr>
              <p:cNvSpPr/>
              <p:nvPr/>
            </p:nvSpPr>
            <p:spPr>
              <a:xfrm>
                <a:off x="3972316" y="1766642"/>
                <a:ext cx="438747" cy="4387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C0D19811-64F1-45B6-B791-386C73E634E0}"/>
                  </a:ext>
                </a:extLst>
              </p:cNvPr>
              <p:cNvSpPr txBox="1"/>
              <p:nvPr/>
            </p:nvSpPr>
            <p:spPr>
              <a:xfrm>
                <a:off x="3949475" y="1801349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2.4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2" name="내용 개체 틀 17">
              <a:extLst>
                <a:ext uri="{FF2B5EF4-FFF2-40B4-BE49-F238E27FC236}">
                  <a16:creationId xmlns:a16="http://schemas.microsoft.com/office/drawing/2014/main" id="{BC79A694-F7CF-4DAB-A5EF-62C8D6FA9BB3}"/>
                </a:ext>
              </a:extLst>
            </p:cNvPr>
            <p:cNvSpPr txBox="1">
              <a:spLocks/>
            </p:cNvSpPr>
            <p:nvPr/>
          </p:nvSpPr>
          <p:spPr>
            <a:xfrm>
              <a:off x="4530893" y="5702611"/>
              <a:ext cx="2776912" cy="27103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이상치 제거 전 최종후보모형 결정</a:t>
              </a:r>
              <a:endParaRPr lang="ko-KR" altLang="en-US" sz="1300" b="1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E52DD070-E4FD-43BC-A009-36F311DCBD67}"/>
                </a:ext>
              </a:extLst>
            </p:cNvPr>
            <p:cNvGrpSpPr/>
            <p:nvPr/>
          </p:nvGrpSpPr>
          <p:grpSpPr>
            <a:xfrm>
              <a:off x="3949475" y="5618754"/>
              <a:ext cx="484428" cy="438747"/>
              <a:chOff x="3949475" y="1766642"/>
              <a:chExt cx="484428" cy="438747"/>
            </a:xfrm>
          </p:grpSpPr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E3DEC054-A6FF-4B43-AA58-C32666541B90}"/>
                  </a:ext>
                </a:extLst>
              </p:cNvPr>
              <p:cNvSpPr/>
              <p:nvPr/>
            </p:nvSpPr>
            <p:spPr>
              <a:xfrm>
                <a:off x="3972316" y="1766642"/>
                <a:ext cx="438747" cy="4387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E4494572-5111-4D44-9FD5-EBC5145CC5C2}"/>
                  </a:ext>
                </a:extLst>
              </p:cNvPr>
              <p:cNvSpPr txBox="1"/>
              <p:nvPr/>
            </p:nvSpPr>
            <p:spPr>
              <a:xfrm>
                <a:off x="3949475" y="1801349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2.5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71" name="내용 개체 틀 17">
              <a:extLst>
                <a:ext uri="{FF2B5EF4-FFF2-40B4-BE49-F238E27FC236}">
                  <a16:creationId xmlns:a16="http://schemas.microsoft.com/office/drawing/2014/main" id="{95C28F07-7455-426B-8AC0-2F3ACE642DD0}"/>
                </a:ext>
              </a:extLst>
            </p:cNvPr>
            <p:cNvSpPr txBox="1">
              <a:spLocks/>
            </p:cNvSpPr>
            <p:nvPr/>
          </p:nvSpPr>
          <p:spPr>
            <a:xfrm>
              <a:off x="4530893" y="6362520"/>
              <a:ext cx="2488743" cy="27103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bg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이상치 제거 후 최종모형 결정</a:t>
              </a:r>
              <a:endParaRPr lang="ko-KR" altLang="en-US" sz="1300" b="1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grpSp>
          <p:nvGrpSpPr>
            <p:cNvPr id="172" name="그룹 171">
              <a:extLst>
                <a:ext uri="{FF2B5EF4-FFF2-40B4-BE49-F238E27FC236}">
                  <a16:creationId xmlns:a16="http://schemas.microsoft.com/office/drawing/2014/main" id="{187109AC-F210-42D8-8159-A6A1D2CAAD6A}"/>
                </a:ext>
              </a:extLst>
            </p:cNvPr>
            <p:cNvGrpSpPr/>
            <p:nvPr/>
          </p:nvGrpSpPr>
          <p:grpSpPr>
            <a:xfrm>
              <a:off x="3949475" y="6278663"/>
              <a:ext cx="484428" cy="438747"/>
              <a:chOff x="3949475" y="1766642"/>
              <a:chExt cx="484428" cy="438747"/>
            </a:xfrm>
          </p:grpSpPr>
          <p:sp>
            <p:nvSpPr>
              <p:cNvPr id="173" name="타원 172">
                <a:extLst>
                  <a:ext uri="{FF2B5EF4-FFF2-40B4-BE49-F238E27FC236}">
                    <a16:creationId xmlns:a16="http://schemas.microsoft.com/office/drawing/2014/main" id="{149D0388-87F1-44C3-93B0-60F474B0B151}"/>
                  </a:ext>
                </a:extLst>
              </p:cNvPr>
              <p:cNvSpPr/>
              <p:nvPr/>
            </p:nvSpPr>
            <p:spPr>
              <a:xfrm>
                <a:off x="3972316" y="1766642"/>
                <a:ext cx="438747" cy="4387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97F07B3D-CDB8-43DE-BBA7-3661EC7A44EC}"/>
                  </a:ext>
                </a:extLst>
              </p:cNvPr>
              <p:cNvSpPr txBox="1"/>
              <p:nvPr/>
            </p:nvSpPr>
            <p:spPr>
              <a:xfrm>
                <a:off x="3949475" y="1801349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solidFill>
                      <a:schemeClr val="bg1"/>
                    </a:solidFill>
                  </a:rPr>
                  <a:t>2.6</a:t>
                </a:r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97" name="제목 3">
            <a:extLst>
              <a:ext uri="{FF2B5EF4-FFF2-40B4-BE49-F238E27FC236}">
                <a16:creationId xmlns:a16="http://schemas.microsoft.com/office/drawing/2014/main" id="{D5D65D8D-6433-4057-A2ED-7D3594A2506F}"/>
              </a:ext>
            </a:extLst>
          </p:cNvPr>
          <p:cNvSpPr txBox="1">
            <a:spLocks/>
          </p:cNvSpPr>
          <p:nvPr/>
        </p:nvSpPr>
        <p:spPr>
          <a:xfrm>
            <a:off x="8022433" y="4995407"/>
            <a:ext cx="4169567" cy="44010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97500"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800" b="1" kern="1200" noProof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altLang="ko-KR" sz="2000"/>
              <a:t>4. </a:t>
            </a:r>
            <a:r>
              <a:rPr lang="ko-KR" altLang="en-US" sz="2000">
                <a:cs typeface="Segoe UI" panose="020B0502040204020203" pitchFamily="34" charset="0"/>
              </a:rPr>
              <a:t>최종모형식 및 예측값 산출</a:t>
            </a:r>
            <a:endParaRPr lang="ko-KR" altLang="en-US" sz="200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2D1C914-50C5-4462-8457-78EAE7AD4266}"/>
              </a:ext>
            </a:extLst>
          </p:cNvPr>
          <p:cNvGrpSpPr/>
          <p:nvPr/>
        </p:nvGrpSpPr>
        <p:grpSpPr>
          <a:xfrm>
            <a:off x="8382930" y="5625840"/>
            <a:ext cx="3230464" cy="613516"/>
            <a:chOff x="8472009" y="5625840"/>
            <a:chExt cx="3230464" cy="613516"/>
          </a:xfrm>
        </p:grpSpPr>
        <p:sp>
          <p:nvSpPr>
            <p:cNvPr id="99" name="내용 개체 틀 17">
              <a:extLst>
                <a:ext uri="{FF2B5EF4-FFF2-40B4-BE49-F238E27FC236}">
                  <a16:creationId xmlns:a16="http://schemas.microsoft.com/office/drawing/2014/main" id="{A100DC19-F24C-4066-B3C2-33A6A2D0D3A6}"/>
                </a:ext>
              </a:extLst>
            </p:cNvPr>
            <p:cNvSpPr txBox="1">
              <a:spLocks/>
            </p:cNvSpPr>
            <p:nvPr/>
          </p:nvSpPr>
          <p:spPr>
            <a:xfrm>
              <a:off x="9069359" y="5625840"/>
              <a:ext cx="2633114" cy="6135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ts val="1800"/>
                </a:lnSpc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Aft>
                  <a:spcPts val="600"/>
                </a:spcAft>
                <a:buNone/>
                <a:defRPr/>
              </a:pP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예측값 산출 및 </a:t>
              </a:r>
              <a: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Gap* </a:t>
              </a:r>
              <a:r>
                <a:rPr lang="ko-KR" altLang="en-US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차이 분석</a:t>
              </a:r>
              <a:br>
                <a:rPr lang="en-US" altLang="ko-KR" sz="13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</a:br>
              <a:r>
                <a:rPr lang="en-US" altLang="ko-KR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(*Gap = Y_</a:t>
              </a:r>
              <a:r>
                <a:rPr lang="ko-KR" altLang="en-US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실제값 </a:t>
              </a:r>
              <a:r>
                <a:rPr lang="en-US" altLang="ko-KR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– Y^_</a:t>
              </a:r>
              <a:r>
                <a:rPr lang="ko-KR" altLang="en-US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예측값</a:t>
              </a:r>
              <a:r>
                <a:rPr lang="en-US" altLang="ko-KR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/>
                </a:rPr>
                <a:t>)</a:t>
              </a:r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endParaRPr>
            </a:p>
          </p:txBody>
        </p:sp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78FBCCDD-9F74-471B-93B6-072645A0187F}"/>
                </a:ext>
              </a:extLst>
            </p:cNvPr>
            <p:cNvSpPr/>
            <p:nvPr/>
          </p:nvSpPr>
          <p:spPr>
            <a:xfrm>
              <a:off x="8494850" y="5713225"/>
              <a:ext cx="438747" cy="438747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7EFBD238-E806-4793-94BE-AE587024B8BA}"/>
                </a:ext>
              </a:extLst>
            </p:cNvPr>
            <p:cNvSpPr txBox="1"/>
            <p:nvPr/>
          </p:nvSpPr>
          <p:spPr>
            <a:xfrm>
              <a:off x="8472009" y="5747932"/>
              <a:ext cx="4844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solidFill>
                    <a:schemeClr val="bg1"/>
                  </a:solidFill>
                </a:rPr>
                <a:t>4.1</a:t>
              </a:r>
              <a:endParaRPr lang="ko-KR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E5E5A378-2E7C-478D-9266-8650AA59C4F2}"/>
              </a:ext>
            </a:extLst>
          </p:cNvPr>
          <p:cNvSpPr/>
          <p:nvPr/>
        </p:nvSpPr>
        <p:spPr>
          <a:xfrm>
            <a:off x="8124131" y="4940599"/>
            <a:ext cx="3890393" cy="157845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9609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7E063CAA-5295-4193-9991-73578D917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75" y="2279794"/>
            <a:ext cx="5497024" cy="413015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5975C96-EB78-4E35-B5C7-FAC379BE9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594" y="448055"/>
            <a:ext cx="12017829" cy="640080"/>
          </a:xfrm>
        </p:spPr>
        <p:txBody>
          <a:bodyPr>
            <a:noAutofit/>
          </a:bodyPr>
          <a:lstStyle/>
          <a:p>
            <a:r>
              <a:rPr lang="en-US" altLang="ko-KR" sz="2400"/>
              <a:t>4. </a:t>
            </a:r>
            <a:r>
              <a:rPr lang="ko-KR" altLang="en-US" sz="2400"/>
              <a:t>최종다중회귀분석 예측모형 결과 </a:t>
            </a:r>
            <a:r>
              <a:rPr lang="en-US" altLang="ko-KR" sz="2400"/>
              <a:t>: </a:t>
            </a:r>
            <a:r>
              <a:rPr lang="ko-KR" altLang="en-US" sz="2400"/>
              <a:t>실제값과 예측값 차이 비교 </a:t>
            </a:r>
            <a:r>
              <a:rPr lang="en-US" altLang="ko-KR" sz="2400"/>
              <a:t>(1/2) </a:t>
            </a:r>
            <a:br>
              <a:rPr lang="en-US" altLang="ko-KR" sz="2400"/>
            </a:br>
            <a:r>
              <a:rPr lang="ko-KR" altLang="en-US" sz="2400"/>
              <a:t> </a:t>
            </a:r>
            <a:r>
              <a:rPr lang="en-US" altLang="ko-KR" sz="2400" b="1"/>
              <a:t>Alabama</a:t>
            </a:r>
            <a:r>
              <a:rPr lang="ko-KR" altLang="en-US" sz="2400" b="1"/>
              <a:t>의 예시 </a:t>
            </a:r>
            <a:r>
              <a:rPr lang="en-US" altLang="ko-KR" sz="2400" b="1"/>
              <a:t>: </a:t>
            </a:r>
            <a:r>
              <a:rPr lang="en-US" altLang="ko-KR" sz="2400"/>
              <a:t>(1)[</a:t>
            </a:r>
            <a:r>
              <a:rPr lang="ko-KR" altLang="en-US" sz="2400"/>
              <a:t>실제값</a:t>
            </a:r>
            <a:r>
              <a:rPr lang="en-US" altLang="ko-KR" sz="1400"/>
              <a:t>(y_</a:t>
            </a:r>
            <a:r>
              <a:rPr lang="ko-KR" altLang="en-US" sz="1400"/>
              <a:t>실제값</a:t>
            </a:r>
            <a:r>
              <a:rPr lang="en-US" altLang="ko-KR" sz="1400"/>
              <a:t>)</a:t>
            </a:r>
            <a:r>
              <a:rPr lang="en-US" altLang="ko-KR" sz="2000"/>
              <a:t>]  -  (2)[</a:t>
            </a:r>
            <a:r>
              <a:rPr lang="ko-KR" altLang="en-US" sz="2400"/>
              <a:t>예측값</a:t>
            </a:r>
            <a:r>
              <a:rPr lang="en-US" altLang="ko-KR" sz="1400"/>
              <a:t>(y_</a:t>
            </a:r>
            <a:r>
              <a:rPr lang="ko-KR" altLang="en-US" sz="1400"/>
              <a:t>예측값</a:t>
            </a:r>
            <a:r>
              <a:rPr lang="en-US" altLang="ko-KR" sz="1400"/>
              <a:t>)</a:t>
            </a:r>
            <a:r>
              <a:rPr lang="en-US" altLang="ko-KR" sz="2400"/>
              <a:t>]  -  (3)[</a:t>
            </a:r>
            <a:r>
              <a:rPr lang="ko-KR" altLang="en-US" sz="2400"/>
              <a:t>잔차값</a:t>
            </a:r>
            <a:r>
              <a:rPr lang="en-US" altLang="ko-KR" sz="1600"/>
              <a:t>(</a:t>
            </a:r>
            <a:r>
              <a:rPr lang="ko-KR" altLang="en-US" sz="1600"/>
              <a:t>오차예측값</a:t>
            </a:r>
            <a:r>
              <a:rPr lang="en-US" altLang="ko-KR" sz="1600"/>
              <a:t>)</a:t>
            </a:r>
            <a:r>
              <a:rPr lang="en-US" altLang="ko-KR" sz="2400"/>
              <a:t>]</a:t>
            </a:r>
            <a:endParaRPr lang="ko-KR" altLang="en-US" sz="24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2D75EF6-274D-4C5A-B698-DA8A07FE1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509" y="2279794"/>
            <a:ext cx="5250530" cy="4130150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E3B0131-50EE-4055-89C5-0BEDD4C4DA7F}"/>
              </a:ext>
            </a:extLst>
          </p:cNvPr>
          <p:cNvSpPr txBox="1">
            <a:spLocks/>
          </p:cNvSpPr>
          <p:nvPr/>
        </p:nvSpPr>
        <p:spPr>
          <a:xfrm>
            <a:off x="510346" y="1270176"/>
            <a:ext cx="11037220" cy="8514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1600" b="1"/>
              <a:t>잔차값</a:t>
            </a:r>
            <a:r>
              <a:rPr lang="en-US" altLang="ko-KR" sz="1600" b="1"/>
              <a:t>(</a:t>
            </a:r>
            <a:r>
              <a:rPr lang="ko-KR" altLang="en-US" sz="1600" b="1"/>
              <a:t>오차값</a:t>
            </a:r>
            <a:r>
              <a:rPr lang="en-US" altLang="ko-KR" sz="1600" b="1"/>
              <a:t>_ Alabama) =   y(</a:t>
            </a:r>
            <a:r>
              <a:rPr lang="ko-KR" altLang="en-US" sz="1600" b="1"/>
              <a:t>실제값</a:t>
            </a:r>
            <a:r>
              <a:rPr lang="en-US" altLang="ko-KR" sz="1600" b="1"/>
              <a:t> (Alabama_Murder))  - y^(</a:t>
            </a:r>
            <a:r>
              <a:rPr lang="ko-KR" altLang="en-US" sz="1600" b="1"/>
              <a:t>예측값 </a:t>
            </a:r>
            <a:r>
              <a:rPr lang="en-US" altLang="ko-KR" sz="1600" b="1"/>
              <a:t>(Alabama_ Murder_forecast))</a:t>
            </a:r>
            <a:br>
              <a:rPr lang="en-US" altLang="ko-KR" sz="1600" b="1"/>
            </a:br>
            <a:r>
              <a:rPr lang="en-US" altLang="ko-KR" sz="1600" b="1"/>
              <a:t>e1_hat 		         =   state.x77_df$Murder[1]         - y1_forecasts    </a:t>
            </a:r>
            <a:br>
              <a:rPr lang="en-US" altLang="ko-KR" sz="1600" b="1"/>
            </a:br>
            <a:r>
              <a:rPr lang="en-US" altLang="ko-KR" sz="1600" b="1"/>
              <a:t>e1_hat                          =   15.1                                   - </a:t>
            </a:r>
            <a:r>
              <a:rPr lang="en-US" altLang="ko-KR" sz="1600" b="1" u="sng">
                <a:solidFill>
                  <a:srgbClr val="FF0000"/>
                </a:solidFill>
              </a:rPr>
              <a:t>11.44653</a:t>
            </a:r>
            <a:r>
              <a:rPr lang="en-US" altLang="ko-KR" sz="1600" b="1"/>
              <a:t>   =   3.653466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556BAC-3C01-4F92-BFB9-C31D31410FBE}"/>
              </a:ext>
            </a:extLst>
          </p:cNvPr>
          <p:cNvSpPr txBox="1"/>
          <p:nvPr/>
        </p:nvSpPr>
        <p:spPr>
          <a:xfrm>
            <a:off x="4127914" y="5779001"/>
            <a:ext cx="1802624" cy="6309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/>
              <a:t>잔차값</a:t>
            </a:r>
            <a:r>
              <a:rPr lang="en-US" altLang="ko-KR" sz="1200" b="1"/>
              <a:t>(</a:t>
            </a:r>
            <a:r>
              <a:rPr lang="ko-KR" altLang="en-US" sz="1200" b="1"/>
              <a:t>오차 예측값</a:t>
            </a:r>
            <a:r>
              <a:rPr lang="en-US" altLang="ko-KR" sz="1200" b="1"/>
              <a:t>)_ Alabama</a:t>
            </a:r>
          </a:p>
          <a:p>
            <a:pPr algn="ctr"/>
            <a:r>
              <a:rPr lang="en-US" altLang="ko-KR" sz="1100" b="1"/>
              <a:t>3.653466</a:t>
            </a:r>
            <a:endParaRPr lang="ko-KR" altLang="en-US" sz="11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8F5320-FEC2-41B0-8AAB-3073DA84EC96}"/>
              </a:ext>
            </a:extLst>
          </p:cNvPr>
          <p:cNvSpPr txBox="1"/>
          <p:nvPr/>
        </p:nvSpPr>
        <p:spPr>
          <a:xfrm>
            <a:off x="9744942" y="2376842"/>
            <a:ext cx="1802624" cy="6309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/>
              <a:t>잔차값</a:t>
            </a:r>
            <a:r>
              <a:rPr lang="en-US" altLang="ko-KR" sz="1200" b="1"/>
              <a:t>(</a:t>
            </a:r>
            <a:r>
              <a:rPr lang="ko-KR" altLang="en-US" sz="1200" b="1"/>
              <a:t>오차 예측값</a:t>
            </a:r>
            <a:r>
              <a:rPr lang="en-US" altLang="ko-KR" sz="1200" b="1"/>
              <a:t>)_ Alabama</a:t>
            </a:r>
          </a:p>
          <a:p>
            <a:pPr algn="ctr"/>
            <a:r>
              <a:rPr lang="en-US" altLang="ko-KR" sz="1100" b="1"/>
              <a:t>3.653466</a:t>
            </a:r>
            <a:endParaRPr lang="ko-KR" altLang="en-US" sz="1100" b="1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7BE0791-B826-4BB1-A138-53E1E7213981}"/>
              </a:ext>
            </a:extLst>
          </p:cNvPr>
          <p:cNvSpPr/>
          <p:nvPr/>
        </p:nvSpPr>
        <p:spPr>
          <a:xfrm>
            <a:off x="9927871" y="2993058"/>
            <a:ext cx="269967" cy="269967"/>
          </a:xfrm>
          <a:prstGeom prst="ellipse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28CCEE4-477A-4CE3-ABC1-7959EDE6016D}"/>
              </a:ext>
            </a:extLst>
          </p:cNvPr>
          <p:cNvSpPr/>
          <p:nvPr/>
        </p:nvSpPr>
        <p:spPr>
          <a:xfrm>
            <a:off x="6409509" y="3850848"/>
            <a:ext cx="191588" cy="87790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6849185-D918-41A2-B8A3-7F7569C944EB}"/>
              </a:ext>
            </a:extLst>
          </p:cNvPr>
          <p:cNvSpPr/>
          <p:nvPr/>
        </p:nvSpPr>
        <p:spPr>
          <a:xfrm>
            <a:off x="432685" y="4437881"/>
            <a:ext cx="4653121" cy="630943"/>
          </a:xfrm>
          <a:prstGeom prst="rect">
            <a:avLst/>
          </a:prstGeom>
          <a:noFill/>
          <a:ln w="28575">
            <a:solidFill>
              <a:srgbClr val="DD46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7C34CC0-3BB5-45AF-BDAE-D04C0A35FA88}"/>
              </a:ext>
            </a:extLst>
          </p:cNvPr>
          <p:cNvGrpSpPr/>
          <p:nvPr/>
        </p:nvGrpSpPr>
        <p:grpSpPr>
          <a:xfrm>
            <a:off x="5085806" y="1950720"/>
            <a:ext cx="1193074" cy="2802633"/>
            <a:chOff x="5085806" y="1950720"/>
            <a:chExt cx="1193074" cy="2802633"/>
          </a:xfrm>
        </p:grpSpPr>
        <p:cxnSp>
          <p:nvCxnSpPr>
            <p:cNvPr id="16" name="연결선: 꺾임 15">
              <a:extLst>
                <a:ext uri="{FF2B5EF4-FFF2-40B4-BE49-F238E27FC236}">
                  <a16:creationId xmlns:a16="http://schemas.microsoft.com/office/drawing/2014/main" id="{295F0F84-9B05-4CB0-AE2E-6E2D437194AC}"/>
                </a:ext>
              </a:extLst>
            </p:cNvPr>
            <p:cNvCxnSpPr>
              <a:cxnSpLocks/>
              <a:stCxn id="3" idx="3"/>
            </p:cNvCxnSpPr>
            <p:nvPr/>
          </p:nvCxnSpPr>
          <p:spPr>
            <a:xfrm flipV="1">
              <a:off x="5085806" y="1950720"/>
              <a:ext cx="505097" cy="2802633"/>
            </a:xfrm>
            <a:prstGeom prst="bentConnector2">
              <a:avLst/>
            </a:prstGeom>
            <a:ln w="28575">
              <a:solidFill>
                <a:srgbClr val="DD46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E55AF38A-1FED-4D1A-9E82-C01ADC94CF8B}"/>
                </a:ext>
              </a:extLst>
            </p:cNvPr>
            <p:cNvCxnSpPr>
              <a:cxnSpLocks/>
            </p:cNvCxnSpPr>
            <p:nvPr/>
          </p:nvCxnSpPr>
          <p:spPr>
            <a:xfrm>
              <a:off x="5590903" y="1950720"/>
              <a:ext cx="687977" cy="0"/>
            </a:xfrm>
            <a:prstGeom prst="line">
              <a:avLst/>
            </a:prstGeom>
            <a:ln w="28575">
              <a:solidFill>
                <a:srgbClr val="DD46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036503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내용 개체 틀 12">
            <a:extLst>
              <a:ext uri="{FF2B5EF4-FFF2-40B4-BE49-F238E27FC236}">
                <a16:creationId xmlns:a16="http://schemas.microsoft.com/office/drawing/2014/main" id="{4D9682E6-BBE8-4FEE-9F5B-41A57C8D3761}"/>
              </a:ext>
            </a:extLst>
          </p:cNvPr>
          <p:cNvGraphicFramePr>
            <a:graphicFrameLocks noGrp="1"/>
          </p:cNvGraphicFramePr>
          <p:nvPr>
            <p:ph sz="quarter" idx="10"/>
          </p:nvPr>
        </p:nvGraphicFramePr>
        <p:xfrm>
          <a:off x="799881" y="1419497"/>
          <a:ext cx="4862117" cy="4990456"/>
        </p:xfrm>
        <a:graphic>
          <a:graphicData uri="http://schemas.openxmlformats.org/drawingml/2006/table">
            <a:tbl>
              <a:tblPr/>
              <a:tblGrid>
                <a:gridCol w="1156890">
                  <a:extLst>
                    <a:ext uri="{9D8B030D-6E8A-4147-A177-3AD203B41FA5}">
                      <a16:colId xmlns:a16="http://schemas.microsoft.com/office/drawing/2014/main" val="3210793405"/>
                    </a:ext>
                  </a:extLst>
                </a:gridCol>
                <a:gridCol w="1088028">
                  <a:extLst>
                    <a:ext uri="{9D8B030D-6E8A-4147-A177-3AD203B41FA5}">
                      <a16:colId xmlns:a16="http://schemas.microsoft.com/office/drawing/2014/main" val="2438426933"/>
                    </a:ext>
                  </a:extLst>
                </a:gridCol>
                <a:gridCol w="1088028">
                  <a:extLst>
                    <a:ext uri="{9D8B030D-6E8A-4147-A177-3AD203B41FA5}">
                      <a16:colId xmlns:a16="http://schemas.microsoft.com/office/drawing/2014/main" val="147639567"/>
                    </a:ext>
                  </a:extLst>
                </a:gridCol>
                <a:gridCol w="1529171">
                  <a:extLst>
                    <a:ext uri="{9D8B030D-6E8A-4147-A177-3AD203B41FA5}">
                      <a16:colId xmlns:a16="http://schemas.microsoft.com/office/drawing/2014/main" val="143364046"/>
                    </a:ext>
                  </a:extLst>
                </a:gridCol>
              </a:tblGrid>
              <a:tr h="20831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 이름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y_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실제값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y_</a:t>
                      </a:r>
                      <a:r>
                        <a:rPr lang="ko-KR" altLang="en-US" sz="1050" b="1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예측값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잔차값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오차예측값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98977"/>
                  </a:ext>
                </a:extLst>
              </a:tr>
              <a:tr h="199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Alabama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15.1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11.44653372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3.653466277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698300"/>
                  </a:ext>
                </a:extLst>
              </a:tr>
              <a:tr h="199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Alaska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11.3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7.543993586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3.756006414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208680"/>
                  </a:ext>
                </a:extLst>
              </a:tr>
              <a:tr h="199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Arizona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7.8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9.558555304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-1.758555304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352503"/>
                  </a:ext>
                </a:extLst>
              </a:tr>
              <a:tr h="199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Arkansas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10.1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10.02547089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0.074529111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5618272"/>
                  </a:ext>
                </a:extLst>
              </a:tr>
              <a:tr h="199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California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10.3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11.49944809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-1.199448093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642481"/>
                  </a:ext>
                </a:extLst>
              </a:tr>
              <a:tr h="199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Colorado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6.8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4.196401528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2.603598472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2380139"/>
                  </a:ext>
                </a:extLst>
              </a:tr>
              <a:tr h="199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Connecticut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3.1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6.339753172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-3.239753172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995411"/>
                  </a:ext>
                </a:extLst>
              </a:tr>
              <a:tr h="199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Delaware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6.2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4.629031259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1.570968741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5422120"/>
                  </a:ext>
                </a:extLst>
              </a:tr>
              <a:tr h="199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Florida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10.7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8.8076941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1.8923059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957537"/>
                  </a:ext>
                </a:extLst>
              </a:tr>
              <a:tr h="199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Georgia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13.9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11.32572653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2.574273474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1116108"/>
                  </a:ext>
                </a:extLst>
              </a:tr>
              <a:tr h="199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Hawaii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6.2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9.671379769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-3.471379769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344585"/>
                  </a:ext>
                </a:extLst>
              </a:tr>
              <a:tr h="199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Idaho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5.3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3.20775748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2.09224252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6497083"/>
                  </a:ext>
                </a:extLst>
              </a:tr>
              <a:tr h="199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Illinois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10.3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7.656196728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2.643803272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164108"/>
                  </a:ext>
                </a:extLst>
              </a:tr>
              <a:tr h="199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Indiana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7.1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4.986691854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2.113308146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2941463"/>
                  </a:ext>
                </a:extLst>
              </a:tr>
              <a:tr h="199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Iowa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2.3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3.295641669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-0.995641669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827341"/>
                  </a:ext>
                </a:extLst>
              </a:tr>
              <a:tr h="199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Kansas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4.5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3.625995542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0.874004458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526773"/>
                  </a:ext>
                </a:extLst>
              </a:tr>
              <a:tr h="199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Kentucky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10.6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8.901553824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1.698446176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218470"/>
                  </a:ext>
                </a:extLst>
              </a:tr>
              <a:tr h="199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Louisiana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13.2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14.97295608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-1.772956078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1777801"/>
                  </a:ext>
                </a:extLst>
              </a:tr>
              <a:tr h="199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Maine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2.7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3.773601905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-1.073601905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504645"/>
                  </a:ext>
                </a:extLst>
              </a:tr>
              <a:tr h="199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Maryland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8.5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5.639131773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2.860868227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0298963"/>
                  </a:ext>
                </a:extLst>
              </a:tr>
              <a:tr h="199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Massachusetts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7.113507842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-3.813507842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719703"/>
                  </a:ext>
                </a:extLst>
              </a:tr>
              <a:tr h="199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Michigan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11.1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7.061483301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4.038516699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7251129"/>
                  </a:ext>
                </a:extLst>
              </a:tr>
              <a:tr h="199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Minnesota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2.3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4.093840573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-1.793840573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71825"/>
                  </a:ext>
                </a:extLst>
              </a:tr>
              <a:tr h="199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Mississippi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12.5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12.57130608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-0.07130608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61807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81A5AD51-72BD-4F6B-B7B5-9A58249C6016}"/>
              </a:ext>
            </a:extLst>
          </p:cNvPr>
          <p:cNvGraphicFramePr>
            <a:graphicFrameLocks noGrp="1"/>
          </p:cNvGraphicFramePr>
          <p:nvPr/>
        </p:nvGraphicFramePr>
        <p:xfrm>
          <a:off x="6530004" y="1419497"/>
          <a:ext cx="4862117" cy="4990443"/>
        </p:xfrm>
        <a:graphic>
          <a:graphicData uri="http://schemas.openxmlformats.org/drawingml/2006/table">
            <a:tbl>
              <a:tblPr/>
              <a:tblGrid>
                <a:gridCol w="1349782">
                  <a:extLst>
                    <a:ext uri="{9D8B030D-6E8A-4147-A177-3AD203B41FA5}">
                      <a16:colId xmlns:a16="http://schemas.microsoft.com/office/drawing/2014/main" val="459572206"/>
                    </a:ext>
                  </a:extLst>
                </a:gridCol>
                <a:gridCol w="798258">
                  <a:extLst>
                    <a:ext uri="{9D8B030D-6E8A-4147-A177-3AD203B41FA5}">
                      <a16:colId xmlns:a16="http://schemas.microsoft.com/office/drawing/2014/main" val="673012926"/>
                    </a:ext>
                  </a:extLst>
                </a:gridCol>
                <a:gridCol w="1117560">
                  <a:extLst>
                    <a:ext uri="{9D8B030D-6E8A-4147-A177-3AD203B41FA5}">
                      <a16:colId xmlns:a16="http://schemas.microsoft.com/office/drawing/2014/main" val="2914966816"/>
                    </a:ext>
                  </a:extLst>
                </a:gridCol>
                <a:gridCol w="1596517">
                  <a:extLst>
                    <a:ext uri="{9D8B030D-6E8A-4147-A177-3AD203B41FA5}">
                      <a16:colId xmlns:a16="http://schemas.microsoft.com/office/drawing/2014/main" val="2739557898"/>
                    </a:ext>
                  </a:extLst>
                </a:gridCol>
              </a:tblGrid>
              <a:tr h="2006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 이름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y_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실제값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y_</a:t>
                      </a:r>
                      <a:r>
                        <a:rPr lang="ko-KR" alt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예측값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잔차값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오차예측값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8792608"/>
                  </a:ext>
                </a:extLst>
              </a:tr>
              <a:tr h="199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Montana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3.188655946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1.811344054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4851890"/>
                  </a:ext>
                </a:extLst>
              </a:tr>
              <a:tr h="199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Nebraska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2.9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3.416163767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-0.516163767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663741"/>
                  </a:ext>
                </a:extLst>
              </a:tr>
              <a:tr h="199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New Hampshire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3.703467915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-0.403467915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3785796"/>
                  </a:ext>
                </a:extLst>
              </a:tr>
              <a:tr h="199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New Jersey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5.2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7.546570975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-2.346570975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530002"/>
                  </a:ext>
                </a:extLst>
              </a:tr>
              <a:tr h="199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New Mexico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9.7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11.23805328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-1.538053283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0263198"/>
                  </a:ext>
                </a:extLst>
              </a:tr>
              <a:tr h="199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New York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10.9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12.09736023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-1.197360233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621737"/>
                  </a:ext>
                </a:extLst>
              </a:tr>
              <a:tr h="199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North Carolina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11.1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10.4791352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0.620864804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485611"/>
                  </a:ext>
                </a:extLst>
              </a:tr>
              <a:tr h="199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North Dakota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1.4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4.149571382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-2.749571382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884329"/>
                  </a:ext>
                </a:extLst>
              </a:tr>
              <a:tr h="199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Ohio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7.4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7.028486141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0.371513859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4936238"/>
                  </a:ext>
                </a:extLst>
              </a:tr>
              <a:tr h="199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Oklahoma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6.4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6.229990627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0.170009373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225213"/>
                  </a:ext>
                </a:extLst>
              </a:tr>
              <a:tr h="199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Oregon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4.2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3.627135932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0.572864068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7897319"/>
                  </a:ext>
                </a:extLst>
              </a:tr>
              <a:tr h="199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Pennsylvania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6.1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8.341211917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-2.241211917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663717"/>
                  </a:ext>
                </a:extLst>
              </a:tr>
              <a:tr h="199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Rhode Island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2.4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6.713367717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-4.313367717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611522"/>
                  </a:ext>
                </a:extLst>
              </a:tr>
              <a:tr h="199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South Carolina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11.6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12.21073187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-0.610731869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276559"/>
                  </a:ext>
                </a:extLst>
              </a:tr>
              <a:tr h="199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South Dakota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1.7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2.674129075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-0.974129075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5304944"/>
                  </a:ext>
                </a:extLst>
              </a:tr>
              <a:tr h="199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Tennessee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9.621636008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1.378363992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119371"/>
                  </a:ext>
                </a:extLst>
              </a:tr>
              <a:tr h="199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Texas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12.2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14.40064007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-2.200640074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1339548"/>
                  </a:ext>
                </a:extLst>
              </a:tr>
              <a:tr h="199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Utah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4.5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3.318945513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1.181054487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396612"/>
                  </a:ext>
                </a:extLst>
              </a:tr>
              <a:tr h="199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Vermont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5.5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3.110539226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2.389460774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5398956"/>
                  </a:ext>
                </a:extLst>
              </a:tr>
              <a:tr h="199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Virginia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9.5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8.364008206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1.135991794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323578"/>
                  </a:ext>
                </a:extLst>
              </a:tr>
              <a:tr h="199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Washington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4.3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3.990635271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0.309364729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3752244"/>
                  </a:ext>
                </a:extLst>
              </a:tr>
              <a:tr h="199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West Virginia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6.7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7.456827897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-0.756827897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955830"/>
                  </a:ext>
                </a:extLst>
              </a:tr>
              <a:tr h="199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Wisconsin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4.780281249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-1.780281249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68276"/>
                  </a:ext>
                </a:extLst>
              </a:tr>
              <a:tr h="199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Wyoming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6.9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3.083169864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3.816830136</a:t>
                      </a:r>
                    </a:p>
                  </a:txBody>
                  <a:tcPr marL="7220" marR="7220" marT="722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968865"/>
                  </a:ext>
                </a:extLst>
              </a:tr>
            </a:tbl>
          </a:graphicData>
        </a:graphic>
      </p:graphicFrame>
      <p:sp>
        <p:nvSpPr>
          <p:cNvPr id="17" name="제목 1">
            <a:extLst>
              <a:ext uri="{FF2B5EF4-FFF2-40B4-BE49-F238E27FC236}">
                <a16:creationId xmlns:a16="http://schemas.microsoft.com/office/drawing/2014/main" id="{B9196B3A-8411-4DD6-A7C9-63E8F4FEE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594" y="448055"/>
            <a:ext cx="12017829" cy="640080"/>
          </a:xfrm>
        </p:spPr>
        <p:txBody>
          <a:bodyPr>
            <a:noAutofit/>
          </a:bodyPr>
          <a:lstStyle/>
          <a:p>
            <a:r>
              <a:rPr lang="en-US" altLang="ko-KR" sz="2400"/>
              <a:t>4. </a:t>
            </a:r>
            <a:r>
              <a:rPr lang="ko-KR" altLang="en-US" sz="2400"/>
              <a:t>최종다중회귀분석 예측모형 결과 </a:t>
            </a:r>
            <a:r>
              <a:rPr lang="en-US" altLang="ko-KR" sz="2400"/>
              <a:t>: </a:t>
            </a:r>
            <a:r>
              <a:rPr lang="ko-KR" altLang="en-US" sz="2400"/>
              <a:t>실제값과 예측값 차이 비교 </a:t>
            </a:r>
            <a:r>
              <a:rPr lang="en-US" altLang="ko-KR" sz="2400"/>
              <a:t>(2/2) </a:t>
            </a:r>
            <a:br>
              <a:rPr lang="en-US" altLang="ko-KR" sz="2400"/>
            </a:br>
            <a:r>
              <a:rPr lang="ko-KR" altLang="en-US" sz="2400"/>
              <a:t> </a:t>
            </a:r>
            <a:r>
              <a:rPr lang="en-US" altLang="ko-KR" sz="2400" b="1"/>
              <a:t>Alabama</a:t>
            </a:r>
            <a:r>
              <a:rPr lang="ko-KR" altLang="en-US" sz="2400" b="1"/>
              <a:t>외 기타 </a:t>
            </a:r>
            <a:r>
              <a:rPr lang="en-US" altLang="ko-KR" sz="2400" b="1"/>
              <a:t>: </a:t>
            </a:r>
            <a:r>
              <a:rPr lang="en-US" altLang="ko-KR" sz="2400"/>
              <a:t>(1)[</a:t>
            </a:r>
            <a:r>
              <a:rPr lang="ko-KR" altLang="en-US" sz="2400"/>
              <a:t>실제값</a:t>
            </a:r>
            <a:r>
              <a:rPr lang="en-US" altLang="ko-KR" sz="1400"/>
              <a:t>(y_</a:t>
            </a:r>
            <a:r>
              <a:rPr lang="ko-KR" altLang="en-US" sz="1400"/>
              <a:t>실제값</a:t>
            </a:r>
            <a:r>
              <a:rPr lang="en-US" altLang="ko-KR" sz="1400"/>
              <a:t>)</a:t>
            </a:r>
            <a:r>
              <a:rPr lang="en-US" altLang="ko-KR" sz="2000"/>
              <a:t>]  -  (2)[</a:t>
            </a:r>
            <a:r>
              <a:rPr lang="ko-KR" altLang="en-US" sz="2400"/>
              <a:t>예측값</a:t>
            </a:r>
            <a:r>
              <a:rPr lang="en-US" altLang="ko-KR" sz="1400"/>
              <a:t>(y_</a:t>
            </a:r>
            <a:r>
              <a:rPr lang="ko-KR" altLang="en-US" sz="1400"/>
              <a:t>예측값</a:t>
            </a:r>
            <a:r>
              <a:rPr lang="en-US" altLang="ko-KR" sz="1400"/>
              <a:t>)</a:t>
            </a:r>
            <a:r>
              <a:rPr lang="en-US" altLang="ko-KR" sz="2400"/>
              <a:t>]  -  (3)[</a:t>
            </a:r>
            <a:r>
              <a:rPr lang="ko-KR" altLang="en-US" sz="2400"/>
              <a:t>잔차값</a:t>
            </a:r>
            <a:r>
              <a:rPr lang="en-US" altLang="ko-KR" sz="1600"/>
              <a:t>(</a:t>
            </a:r>
            <a:r>
              <a:rPr lang="ko-KR" altLang="en-US" sz="1600"/>
              <a:t>오차예측값</a:t>
            </a:r>
            <a:r>
              <a:rPr lang="en-US" altLang="ko-KR" sz="1600"/>
              <a:t>)</a:t>
            </a:r>
            <a:r>
              <a:rPr lang="en-US" altLang="ko-KR" sz="2400"/>
              <a:t>]</a:t>
            </a:r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6367521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algn="ctr"/>
            <a:r>
              <a:rPr lang="en-US" altLang="ko-KR" sz="4800">
                <a:solidFill>
                  <a:schemeClr val="bg1"/>
                </a:solidFill>
              </a:rPr>
              <a:t>[</a:t>
            </a:r>
            <a:r>
              <a:rPr lang="ko-KR" altLang="en-US" sz="4800">
                <a:solidFill>
                  <a:schemeClr val="bg1"/>
                </a:solidFill>
              </a:rPr>
              <a:t>별첨</a:t>
            </a:r>
            <a:r>
              <a:rPr lang="en-US" altLang="ko-KR" sz="4800">
                <a:solidFill>
                  <a:schemeClr val="bg1"/>
                </a:solidFill>
              </a:rPr>
              <a:t>] 3</a:t>
            </a:r>
            <a:r>
              <a:rPr lang="ko-KR" altLang="en-US" sz="4800">
                <a:solidFill>
                  <a:schemeClr val="bg1"/>
                </a:solidFill>
              </a:rPr>
              <a:t>개 변수선택기법</a:t>
            </a:r>
            <a:r>
              <a:rPr lang="en-US" altLang="ko-KR" sz="4800">
                <a:solidFill>
                  <a:schemeClr val="bg1"/>
                </a:solidFill>
              </a:rPr>
              <a:t>*</a:t>
            </a:r>
            <a:r>
              <a:rPr lang="ko-KR" altLang="en-US" sz="4800">
                <a:solidFill>
                  <a:schemeClr val="bg1"/>
                </a:solidFill>
              </a:rPr>
              <a:t>간 비교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3" name="부제 2"/>
          <p:cNvSpPr>
            <a:spLocks noGrp="1"/>
          </p:cNvSpPr>
          <p:nvPr>
            <p:ph type="subTitle" idx="4294967295"/>
          </p:nvPr>
        </p:nvSpPr>
        <p:spPr>
          <a:xfrm>
            <a:off x="1439095" y="2933105"/>
            <a:ext cx="9582736" cy="2622964"/>
          </a:xfrm>
        </p:spPr>
        <p:txBody>
          <a:bodyPr rtlCol="0">
            <a:noAutofit/>
          </a:bodyPr>
          <a:lstStyle/>
          <a:p>
            <a:pPr marL="457200" lvl="2" indent="0">
              <a:buNone/>
            </a:pPr>
            <a:r>
              <a:rPr lang="en-US" altLang="ko-KR" sz="2800">
                <a:solidFill>
                  <a:schemeClr val="bg1"/>
                </a:solidFill>
              </a:rPr>
              <a:t>1. </a:t>
            </a:r>
            <a:r>
              <a:rPr lang="ko-KR" altLang="en-US" sz="2800">
                <a:solidFill>
                  <a:schemeClr val="bg1"/>
                </a:solidFill>
              </a:rPr>
              <a:t>전진선택법 </a:t>
            </a:r>
            <a:r>
              <a:rPr lang="en-US" altLang="ko-KR" sz="2800">
                <a:solidFill>
                  <a:schemeClr val="bg1"/>
                </a:solidFill>
              </a:rPr>
              <a:t>- </a:t>
            </a:r>
            <a:r>
              <a:rPr lang="ko-KR" altLang="en-US" sz="2800">
                <a:solidFill>
                  <a:schemeClr val="bg1"/>
                </a:solidFill>
              </a:rPr>
              <a:t>후진소거법</a:t>
            </a:r>
            <a:r>
              <a:rPr lang="en-US" altLang="ko-KR" sz="2800">
                <a:solidFill>
                  <a:schemeClr val="bg1"/>
                </a:solidFill>
              </a:rPr>
              <a:t> - </a:t>
            </a:r>
            <a:r>
              <a:rPr lang="ko-KR" altLang="en-US" sz="2800">
                <a:solidFill>
                  <a:schemeClr val="bg1"/>
                </a:solidFill>
              </a:rPr>
              <a:t>단계적 변수선택기법</a:t>
            </a:r>
            <a:br>
              <a:rPr lang="en-US" altLang="ko-KR" sz="2800">
                <a:solidFill>
                  <a:schemeClr val="bg1"/>
                </a:solidFill>
              </a:rPr>
            </a:br>
            <a:r>
              <a:rPr lang="en-US" altLang="ko-KR" sz="2800">
                <a:solidFill>
                  <a:schemeClr val="bg1"/>
                </a:solidFill>
              </a:rPr>
              <a:t>2. </a:t>
            </a:r>
            <a:r>
              <a:rPr lang="ko-KR" altLang="en-US" sz="2800">
                <a:solidFill>
                  <a:schemeClr val="bg1"/>
                </a:solidFill>
              </a:rPr>
              <a:t>결론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8686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CCF3A7-A9D9-4FDC-A088-9ADD8C36D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다중회귀분석 </a:t>
            </a:r>
            <a:r>
              <a:rPr lang="en-US" altLang="ko-KR"/>
              <a:t>3</a:t>
            </a:r>
            <a:r>
              <a:rPr lang="ko-KR" altLang="en-US"/>
              <a:t>개 변수선택기법*간 비교 </a:t>
            </a:r>
            <a:r>
              <a:rPr lang="en-US" altLang="ko-KR"/>
              <a:t>: (1</a:t>
            </a:r>
            <a:r>
              <a:rPr lang="ko-KR" altLang="en-US"/>
              <a:t>단계</a:t>
            </a:r>
            <a:r>
              <a:rPr lang="en-US" altLang="ko-KR"/>
              <a:t>) 1</a:t>
            </a:r>
            <a:r>
              <a:rPr lang="ko-KR" altLang="en-US"/>
              <a:t>차 모형식도출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D618BCDD-BE82-4896-A06A-1188AEB0D949}"/>
              </a:ext>
            </a:extLst>
          </p:cNvPr>
          <p:cNvSpPr txBox="1">
            <a:spLocks/>
          </p:cNvSpPr>
          <p:nvPr/>
        </p:nvSpPr>
        <p:spPr>
          <a:xfrm>
            <a:off x="510346" y="1270177"/>
            <a:ext cx="11037220" cy="529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400" b="1"/>
              <a:t>[1] </a:t>
            </a:r>
            <a:r>
              <a:rPr lang="ko-KR" altLang="en-US" sz="1400" b="1"/>
              <a:t>모든 변수를 투입하여 완전모형을 생성한다</a:t>
            </a:r>
            <a:r>
              <a:rPr lang="en-US" altLang="ko-KR" sz="1400" b="1"/>
              <a:t>.</a:t>
            </a:r>
            <a:br>
              <a:rPr lang="en-US" altLang="ko-KR" sz="1400" b="1"/>
            </a:br>
            <a:r>
              <a:rPr lang="en-US" altLang="ko-KR" sz="1400" b="1"/>
              <a:t>[2] </a:t>
            </a:r>
            <a:r>
              <a:rPr lang="ko-KR" altLang="en-US" sz="1400" b="1"/>
              <a:t>절편항만 추가하여 만든 모형과 완전모형을 이용하여 </a:t>
            </a:r>
            <a:r>
              <a:rPr lang="en-US" altLang="ko-KR" sz="1400" b="1"/>
              <a:t>1</a:t>
            </a:r>
            <a:r>
              <a:rPr lang="ko-KR" altLang="en-US" sz="1400" b="1"/>
              <a:t>차 모형화한다</a:t>
            </a:r>
            <a:r>
              <a:rPr lang="en-US" altLang="ko-KR" sz="1400" b="1"/>
              <a:t>.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D94B70F2-9F11-47D8-B25B-C91EE6F64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64" y="2103690"/>
            <a:ext cx="5095821" cy="2954246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422DEC90-B193-4EF1-B531-54FCBCD94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585" y="2101705"/>
            <a:ext cx="5095821" cy="2956231"/>
          </a:xfrm>
          <a:prstGeom prst="rect">
            <a:avLst/>
          </a:prstGeom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392D4C3A-0F1A-4D65-9F3B-D09FDEC43047}"/>
              </a:ext>
            </a:extLst>
          </p:cNvPr>
          <p:cNvSpPr/>
          <p:nvPr/>
        </p:nvSpPr>
        <p:spPr>
          <a:xfrm>
            <a:off x="6305165" y="2101705"/>
            <a:ext cx="389391" cy="3825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2BFD062-5A46-4BED-8654-8F2131FA6C89}"/>
              </a:ext>
            </a:extLst>
          </p:cNvPr>
          <p:cNvSpPr/>
          <p:nvPr/>
        </p:nvSpPr>
        <p:spPr>
          <a:xfrm>
            <a:off x="443173" y="2101705"/>
            <a:ext cx="389391" cy="3825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62465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CCF3A7-A9D9-4FDC-A088-9ADD8C36D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다중회귀분석 </a:t>
            </a:r>
            <a:r>
              <a:rPr lang="en-US" altLang="ko-KR"/>
              <a:t>3</a:t>
            </a:r>
            <a:r>
              <a:rPr lang="ko-KR" altLang="en-US"/>
              <a:t>개 변수선택기법*간 비교 </a:t>
            </a:r>
            <a:r>
              <a:rPr lang="en-US" altLang="ko-KR"/>
              <a:t>: (2</a:t>
            </a:r>
            <a:r>
              <a:rPr lang="ko-KR" altLang="en-US"/>
              <a:t>단계</a:t>
            </a:r>
            <a:r>
              <a:rPr lang="en-US" altLang="ko-KR"/>
              <a:t>) </a:t>
            </a:r>
            <a:r>
              <a:rPr lang="ko-KR" altLang="en-US"/>
              <a:t>변수선택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D618BCDD-BE82-4896-A06A-1188AEB0D949}"/>
              </a:ext>
            </a:extLst>
          </p:cNvPr>
          <p:cNvSpPr txBox="1">
            <a:spLocks/>
          </p:cNvSpPr>
          <p:nvPr/>
        </p:nvSpPr>
        <p:spPr>
          <a:xfrm>
            <a:off x="510345" y="1270177"/>
            <a:ext cx="11255149" cy="529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1400" b="1"/>
              <a:t>변수선택기법을 선정하고 적용하여 유효변수를 선택하기위한 분석 결과</a:t>
            </a:r>
            <a:r>
              <a:rPr lang="en-US" altLang="ko-KR" sz="1400" b="1"/>
              <a:t>, 3</a:t>
            </a:r>
            <a:r>
              <a:rPr lang="ko-KR" altLang="en-US" sz="1400" b="1"/>
              <a:t>가지 모두 </a:t>
            </a:r>
            <a:r>
              <a:rPr lang="en-US" altLang="ko-KR" sz="1400" b="1"/>
              <a:t>AIC=80</a:t>
            </a:r>
            <a:r>
              <a:rPr lang="ko-KR" altLang="en-US" sz="1400" b="1"/>
              <a:t>이고</a:t>
            </a:r>
            <a:r>
              <a:rPr lang="en-US" altLang="ko-KR" sz="1400" b="1"/>
              <a:t>, </a:t>
            </a:r>
            <a:r>
              <a:rPr lang="ko-KR" altLang="en-US" sz="1400" b="1"/>
              <a:t>동일한 </a:t>
            </a:r>
            <a:r>
              <a:rPr lang="en-US" altLang="ko-KR" sz="1400" b="1"/>
              <a:t>5</a:t>
            </a:r>
            <a:r>
              <a:rPr lang="ko-KR" altLang="en-US" sz="1400" b="1"/>
              <a:t>개의 변수 </a:t>
            </a:r>
            <a:r>
              <a:rPr lang="en-US" altLang="ko-KR" b="1"/>
              <a:t>(Population, Illiteracy, Life Exp, HS Grad, Area)</a:t>
            </a:r>
            <a:r>
              <a:rPr lang="ko-KR" altLang="en-US" sz="1400" b="1"/>
              <a:t>가 선택되었다</a:t>
            </a:r>
            <a:r>
              <a:rPr lang="en-US" altLang="ko-KR" sz="1400" b="1"/>
              <a:t>.</a:t>
            </a: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64EA2AA8-8613-4A9D-980D-E2569A95FFA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2300872"/>
            <a:ext cx="3545081" cy="419753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1029BA6-1261-4E45-865D-16103340B18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369892" y="2300870"/>
            <a:ext cx="3546000" cy="41976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38BDB74-8E3A-4852-AEEC-A982958EBF4E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219495" y="2300870"/>
            <a:ext cx="3546000" cy="4197532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EBC0A991-8312-4F1B-9F83-0843C411938F}"/>
              </a:ext>
            </a:extLst>
          </p:cNvPr>
          <p:cNvGrpSpPr/>
          <p:nvPr/>
        </p:nvGrpSpPr>
        <p:grpSpPr>
          <a:xfrm>
            <a:off x="521207" y="1833995"/>
            <a:ext cx="3545081" cy="382500"/>
            <a:chOff x="691925" y="1875582"/>
            <a:chExt cx="3482348" cy="38250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5B194C4-288F-4D08-A8DC-F27AF21476E1}"/>
                </a:ext>
              </a:extLst>
            </p:cNvPr>
            <p:cNvSpPr/>
            <p:nvPr/>
          </p:nvSpPr>
          <p:spPr>
            <a:xfrm>
              <a:off x="691925" y="1875582"/>
              <a:ext cx="382500" cy="3825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1</a:t>
              </a:r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F69D8EE-9174-4804-81D2-0FBA441F1B09}"/>
                </a:ext>
              </a:extLst>
            </p:cNvPr>
            <p:cNvSpPr txBox="1"/>
            <p:nvPr/>
          </p:nvSpPr>
          <p:spPr>
            <a:xfrm>
              <a:off x="1074424" y="1882166"/>
              <a:ext cx="3099849" cy="369332"/>
            </a:xfrm>
            <a:prstGeom prst="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전진선택기법 </a:t>
              </a:r>
              <a:r>
                <a:rPr lang="en-US" altLang="ko-KR"/>
                <a:t>(AIC = 80)</a:t>
              </a:r>
              <a:endParaRPr lang="ko-KR" altLang="en-US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5D3C8CD7-9EFC-4143-9499-4C86ACAF8160}"/>
              </a:ext>
            </a:extLst>
          </p:cNvPr>
          <p:cNvGrpSpPr/>
          <p:nvPr/>
        </p:nvGrpSpPr>
        <p:grpSpPr>
          <a:xfrm>
            <a:off x="4370811" y="1833995"/>
            <a:ext cx="3545081" cy="382500"/>
            <a:chOff x="691925" y="1875582"/>
            <a:chExt cx="3482348" cy="382500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774CB878-5477-4F53-872D-D96CDE374E2D}"/>
                </a:ext>
              </a:extLst>
            </p:cNvPr>
            <p:cNvSpPr/>
            <p:nvPr/>
          </p:nvSpPr>
          <p:spPr>
            <a:xfrm>
              <a:off x="691925" y="1875582"/>
              <a:ext cx="382500" cy="3825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2</a:t>
              </a:r>
              <a:endParaRPr lang="ko-KR" alt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14FC743-A7D8-4D93-84E1-DA5A5BF087CA}"/>
                </a:ext>
              </a:extLst>
            </p:cNvPr>
            <p:cNvSpPr txBox="1"/>
            <p:nvPr/>
          </p:nvSpPr>
          <p:spPr>
            <a:xfrm>
              <a:off x="1074424" y="1882166"/>
              <a:ext cx="3099849" cy="369332"/>
            </a:xfrm>
            <a:prstGeom prst="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후진선택기법 </a:t>
              </a:r>
              <a:r>
                <a:rPr lang="en-US" altLang="ko-KR"/>
                <a:t>(AIC = 80)</a:t>
              </a:r>
              <a:endParaRPr lang="ko-KR" altLang="en-US"/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DBBEBD5D-9FDB-4600-8E23-7B1F89F7D3C8}"/>
              </a:ext>
            </a:extLst>
          </p:cNvPr>
          <p:cNvGrpSpPr/>
          <p:nvPr/>
        </p:nvGrpSpPr>
        <p:grpSpPr>
          <a:xfrm>
            <a:off x="8220414" y="1833995"/>
            <a:ext cx="3545081" cy="382500"/>
            <a:chOff x="691925" y="1875582"/>
            <a:chExt cx="3482348" cy="382500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1825C687-09E2-49AE-9ADC-3E96DBC2B622}"/>
                </a:ext>
              </a:extLst>
            </p:cNvPr>
            <p:cNvSpPr/>
            <p:nvPr/>
          </p:nvSpPr>
          <p:spPr>
            <a:xfrm>
              <a:off x="691925" y="1875582"/>
              <a:ext cx="382500" cy="3825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3</a:t>
              </a:r>
              <a:endParaRPr lang="ko-KR" alt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2CC9FE4-3CDF-40EC-B019-CDDA0CE0D5F1}"/>
                </a:ext>
              </a:extLst>
            </p:cNvPr>
            <p:cNvSpPr txBox="1"/>
            <p:nvPr/>
          </p:nvSpPr>
          <p:spPr>
            <a:xfrm>
              <a:off x="1074424" y="1882166"/>
              <a:ext cx="3099849" cy="369332"/>
            </a:xfrm>
            <a:prstGeom prst="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단계적선택기법 </a:t>
              </a:r>
              <a:r>
                <a:rPr lang="en-US" altLang="ko-KR"/>
                <a:t>(AIC = 80)</a:t>
              </a:r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503913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6FF1F3F6-B8D4-478E-9DA4-DF2AAEE3306C}"/>
              </a:ext>
            </a:extLst>
          </p:cNvPr>
          <p:cNvSpPr/>
          <p:nvPr/>
        </p:nvSpPr>
        <p:spPr>
          <a:xfrm>
            <a:off x="434342" y="4879919"/>
            <a:ext cx="3643466" cy="1530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다중공선성 문제는 해결하였으나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 b="1">
                <a:solidFill>
                  <a:schemeClr val="tx1"/>
                </a:solidFill>
              </a:rPr>
              <a:t>유효변수가 아니라고 판단</a:t>
            </a:r>
            <a:r>
              <a:rPr lang="ko-KR" altLang="en-US">
                <a:solidFill>
                  <a:schemeClr val="tx1"/>
                </a:solidFill>
              </a:rPr>
              <a:t>하여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en-US" altLang="ko-KR" b="1">
                <a:solidFill>
                  <a:schemeClr val="tx1"/>
                </a:solidFill>
              </a:rPr>
              <a:t>HS Grad</a:t>
            </a:r>
            <a:r>
              <a:rPr lang="ko-KR" altLang="en-US">
                <a:solidFill>
                  <a:schemeClr val="tx1"/>
                </a:solidFill>
              </a:rPr>
              <a:t>를 제외하고 재모형화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68EE6DA-7BEF-4263-BB45-8662EC26F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다중회귀분석 모델링 </a:t>
            </a:r>
            <a:r>
              <a:rPr lang="en-US" altLang="ko-KR"/>
              <a:t>: (3</a:t>
            </a:r>
            <a:r>
              <a:rPr lang="ko-KR" altLang="en-US"/>
              <a:t>단계</a:t>
            </a:r>
            <a:r>
              <a:rPr lang="en-US" altLang="ko-KR"/>
              <a:t>) x</a:t>
            </a:r>
            <a:r>
              <a:rPr lang="ko-KR" altLang="en-US"/>
              <a:t>변수간 다중공선성 해결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0C926B2-E40E-4F17-A52C-FADDAA7D1918}"/>
              </a:ext>
            </a:extLst>
          </p:cNvPr>
          <p:cNvSpPr txBox="1">
            <a:spLocks/>
          </p:cNvSpPr>
          <p:nvPr/>
        </p:nvSpPr>
        <p:spPr>
          <a:xfrm>
            <a:off x="510346" y="1270176"/>
            <a:ext cx="11037220" cy="7305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400" b="1"/>
              <a:t>[1] 2</a:t>
            </a:r>
            <a:r>
              <a:rPr lang="ko-KR" altLang="en-US" sz="1400" b="1"/>
              <a:t>단계 분석 후</a:t>
            </a:r>
            <a:r>
              <a:rPr lang="en-US" altLang="ko-KR" sz="1400" b="1"/>
              <a:t>, </a:t>
            </a:r>
            <a:r>
              <a:rPr lang="ko-KR" altLang="en-US" sz="1400" b="1"/>
              <a:t>다중공선성 체크에서 제거할 변수가 다시 발생하여 제거</a:t>
            </a:r>
            <a:br>
              <a:rPr lang="en-US" altLang="ko-KR" sz="1400" b="1"/>
            </a:br>
            <a:r>
              <a:rPr lang="en-US" altLang="ko-KR" sz="1400" b="1"/>
              <a:t>[2] </a:t>
            </a:r>
            <a:r>
              <a:rPr lang="ko-KR" altLang="en-US" sz="1400" b="1"/>
              <a:t>유효하지 않다고 판단되는 </a:t>
            </a:r>
            <a:r>
              <a:rPr lang="en-US" altLang="ko-KR" sz="1400" b="1"/>
              <a:t>HS Grad </a:t>
            </a:r>
            <a:r>
              <a:rPr lang="ko-KR" altLang="en-US" sz="1400" b="1"/>
              <a:t>제거</a:t>
            </a:r>
            <a:br>
              <a:rPr lang="en-US" altLang="ko-KR" sz="1400" b="1"/>
            </a:br>
            <a:r>
              <a:rPr lang="en-US" altLang="ko-KR" sz="1400" b="1"/>
              <a:t>[3] </a:t>
            </a:r>
            <a:r>
              <a:rPr lang="ko-KR" altLang="en-US" sz="1400" b="1"/>
              <a:t>다중공선성과 유효성 검증완료</a:t>
            </a:r>
            <a:endParaRPr lang="en-US" altLang="ko-KR" sz="1400" b="1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E7A7A10-A009-4739-AE77-A57AA9D55BA3}"/>
              </a:ext>
            </a:extLst>
          </p:cNvPr>
          <p:cNvGrpSpPr/>
          <p:nvPr/>
        </p:nvGrpSpPr>
        <p:grpSpPr>
          <a:xfrm>
            <a:off x="434341" y="2507547"/>
            <a:ext cx="3545475" cy="2230725"/>
            <a:chOff x="434341" y="1932460"/>
            <a:chExt cx="4047966" cy="2541150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328DD8A6-6C38-41B2-979A-93C800750A2B}"/>
                </a:ext>
              </a:extLst>
            </p:cNvPr>
            <p:cNvGrpSpPr/>
            <p:nvPr/>
          </p:nvGrpSpPr>
          <p:grpSpPr>
            <a:xfrm>
              <a:off x="434341" y="1932460"/>
              <a:ext cx="4047966" cy="1956375"/>
              <a:chOff x="434341" y="1932461"/>
              <a:chExt cx="5260452" cy="1371600"/>
            </a:xfrm>
          </p:grpSpPr>
          <p:pic>
            <p:nvPicPr>
              <p:cNvPr id="14" name="그림 13">
                <a:extLst>
                  <a:ext uri="{FF2B5EF4-FFF2-40B4-BE49-F238E27FC236}">
                    <a16:creationId xmlns:a16="http://schemas.microsoft.com/office/drawing/2014/main" id="{173B3C8B-66CF-470B-969F-ECF2124894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34341" y="1932461"/>
                <a:ext cx="5260452" cy="1371600"/>
              </a:xfrm>
              <a:prstGeom prst="rect">
                <a:avLst/>
              </a:prstGeom>
            </p:spPr>
          </p:pic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058C83AF-829F-46C5-B184-2A9166A507E2}"/>
                  </a:ext>
                </a:extLst>
              </p:cNvPr>
              <p:cNvSpPr/>
              <p:nvPr/>
            </p:nvSpPr>
            <p:spPr>
              <a:xfrm>
                <a:off x="2677886" y="2290354"/>
                <a:ext cx="918754" cy="914399"/>
              </a:xfrm>
              <a:prstGeom prst="rect">
                <a:avLst/>
              </a:prstGeom>
              <a:noFill/>
              <a:ln w="2857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8D93514-E2BD-428D-BB32-810D2ACBC7AC}"/>
                </a:ext>
              </a:extLst>
            </p:cNvPr>
            <p:cNvSpPr txBox="1"/>
            <p:nvPr/>
          </p:nvSpPr>
          <p:spPr>
            <a:xfrm>
              <a:off x="434342" y="3888835"/>
              <a:ext cx="4047965" cy="58477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600" b="1"/>
                <a:t>Life Exp</a:t>
              </a:r>
              <a:r>
                <a:rPr lang="ko-KR" altLang="en-US" sz="1600"/>
                <a:t>의 다중공선성이 </a:t>
              </a:r>
              <a:r>
                <a:rPr lang="en-US" altLang="ko-KR" sz="1600" b="1"/>
                <a:t>159.758</a:t>
              </a:r>
              <a:r>
                <a:rPr lang="ko-KR" altLang="en-US" sz="1600"/>
                <a:t>로 </a:t>
              </a:r>
              <a:endParaRPr lang="en-US" altLang="ko-KR" sz="1600"/>
            </a:p>
            <a:p>
              <a:r>
                <a:rPr lang="ko-KR" altLang="en-US" sz="1600"/>
                <a:t>가장 높기 때문에 제외 후 재모형화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2146CE8B-C47C-4C8B-A5F5-2DD6628976FF}"/>
              </a:ext>
            </a:extLst>
          </p:cNvPr>
          <p:cNvGrpSpPr/>
          <p:nvPr/>
        </p:nvGrpSpPr>
        <p:grpSpPr>
          <a:xfrm>
            <a:off x="4077808" y="2507547"/>
            <a:ext cx="3925952" cy="3902397"/>
            <a:chOff x="4077808" y="2197123"/>
            <a:chExt cx="3925952" cy="4212821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3DC4CD50-F7ED-4196-8E2A-9A15003511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77808" y="2197123"/>
              <a:ext cx="3925952" cy="4212821"/>
            </a:xfrm>
            <a:prstGeom prst="rect">
              <a:avLst/>
            </a:prstGeom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11E13982-7959-4054-9200-0BBDD6D8BFEE}"/>
                </a:ext>
              </a:extLst>
            </p:cNvPr>
            <p:cNvSpPr/>
            <p:nvPr/>
          </p:nvSpPr>
          <p:spPr>
            <a:xfrm>
              <a:off x="7357129" y="4598936"/>
              <a:ext cx="532837" cy="202893"/>
            </a:xfrm>
            <a:prstGeom prst="rect">
              <a:avLst/>
            </a:prstGeom>
            <a:noFill/>
            <a:ln w="38100">
              <a:solidFill>
                <a:srgbClr val="FF79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1" name="그림 30">
            <a:extLst>
              <a:ext uri="{FF2B5EF4-FFF2-40B4-BE49-F238E27FC236}">
                <a16:creationId xmlns:a16="http://schemas.microsoft.com/office/drawing/2014/main" id="{D62A9EF9-5484-4B7C-9ACF-BCFD01D79D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6254" y="2507545"/>
            <a:ext cx="3558829" cy="3902397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DB34EE58-6423-4B79-A049-55C768AA08C6}"/>
              </a:ext>
            </a:extLst>
          </p:cNvPr>
          <p:cNvSpPr/>
          <p:nvPr/>
        </p:nvSpPr>
        <p:spPr>
          <a:xfrm>
            <a:off x="434340" y="2125048"/>
            <a:ext cx="382499" cy="38249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54A7BAF-657D-4DEA-89F9-8D6A99BB27CD}"/>
              </a:ext>
            </a:extLst>
          </p:cNvPr>
          <p:cNvSpPr/>
          <p:nvPr/>
        </p:nvSpPr>
        <p:spPr>
          <a:xfrm>
            <a:off x="4077808" y="2128987"/>
            <a:ext cx="382499" cy="38249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009E817-9EF7-4090-BC05-10ED9167A1FF}"/>
              </a:ext>
            </a:extLst>
          </p:cNvPr>
          <p:cNvSpPr/>
          <p:nvPr/>
        </p:nvSpPr>
        <p:spPr>
          <a:xfrm>
            <a:off x="8206254" y="2125048"/>
            <a:ext cx="382499" cy="38249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3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2040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612B7D-1A5B-40E7-8282-C133F5959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다중회귀분석 모델링 </a:t>
            </a:r>
            <a:r>
              <a:rPr lang="en-US" altLang="ko-KR"/>
              <a:t>: (4</a:t>
            </a:r>
            <a:r>
              <a:rPr lang="ko-KR" altLang="en-US"/>
              <a:t>단계</a:t>
            </a:r>
            <a:r>
              <a:rPr lang="en-US" altLang="ko-KR"/>
              <a:t>) y</a:t>
            </a:r>
            <a:r>
              <a:rPr lang="ko-KR" altLang="en-US"/>
              <a:t>변수와의 상관관계 검증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D72C0D0-3C95-414C-A972-9B2ACA915D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740"/>
          <a:stretch/>
        </p:blipFill>
        <p:spPr>
          <a:xfrm>
            <a:off x="543475" y="1839005"/>
            <a:ext cx="5239016" cy="158999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AB1A31E-F869-4885-BC56-30CDAC3684B1}"/>
              </a:ext>
            </a:extLst>
          </p:cNvPr>
          <p:cNvSpPr/>
          <p:nvPr/>
        </p:nvSpPr>
        <p:spPr>
          <a:xfrm>
            <a:off x="3248298" y="2952206"/>
            <a:ext cx="2534193" cy="476794"/>
          </a:xfrm>
          <a:prstGeom prst="rect">
            <a:avLst/>
          </a:prstGeom>
          <a:noFill/>
          <a:ln w="38100">
            <a:solidFill>
              <a:srgbClr val="FF79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DE495DE-9F1E-4AF8-B375-218115C0B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314" y="1839005"/>
            <a:ext cx="4725211" cy="4380411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76CA345-A03C-4872-8ABF-A41685E11326}"/>
              </a:ext>
            </a:extLst>
          </p:cNvPr>
          <p:cNvSpPr/>
          <p:nvPr/>
        </p:nvSpPr>
        <p:spPr>
          <a:xfrm>
            <a:off x="6217920" y="1839005"/>
            <a:ext cx="705394" cy="67927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최종</a:t>
            </a:r>
            <a:endParaRPr lang="en-US" altLang="ko-KR"/>
          </a:p>
          <a:p>
            <a:pPr algn="ctr"/>
            <a:r>
              <a:rPr lang="ko-KR" altLang="en-US"/>
              <a:t>모형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746CD142-54CD-4EB5-9905-8870241AACCB}"/>
              </a:ext>
            </a:extLst>
          </p:cNvPr>
          <p:cNvSpPr txBox="1">
            <a:spLocks/>
          </p:cNvSpPr>
          <p:nvPr/>
        </p:nvSpPr>
        <p:spPr>
          <a:xfrm>
            <a:off x="510346" y="1270176"/>
            <a:ext cx="11037220" cy="5150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1400" b="1"/>
              <a:t>상관관계가 없다고 판단되는 </a:t>
            </a:r>
            <a:r>
              <a:rPr lang="en-US" altLang="ko-KR" sz="1400" b="1"/>
              <a:t>Area</a:t>
            </a:r>
            <a:r>
              <a:rPr lang="ko-KR" altLang="en-US" sz="1400" b="1"/>
              <a:t>변수를 제거</a:t>
            </a:r>
            <a:endParaRPr lang="en-US" altLang="ko-KR" sz="1400" b="1"/>
          </a:p>
        </p:txBody>
      </p:sp>
    </p:spTree>
    <p:extLst>
      <p:ext uri="{BB962C8B-B14F-4D97-AF65-F5344CB8AC3E}">
        <p14:creationId xmlns:p14="http://schemas.microsoft.com/office/powerpoint/2010/main" val="3367440259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715147_TF10001108.potx" id="{3F4D466F-2E95-485C-97A8-7A840C6B88CE}" vid="{A086733F-FFD1-4E69-9A0E-40414DC78DC6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8a52e8c320b9a064ae3583ae3861c9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8020cb39231a0945110f9cd888b521a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D7FC771-7DFE-49DA-B577-71181BFBCB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E8C63A-4744-4DE4-BB49-0FF0B5375C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50072C5-DDE0-4258-BA7A-4D4B80DFA63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{08CDC71C-91DB-4CE8-A675-1763EB4AF08F}tf10001108_win32</Template>
  <TotalTime>2095</TotalTime>
  <Words>5421</Words>
  <Application>Microsoft Office PowerPoint</Application>
  <PresentationFormat>와이드스크린</PresentationFormat>
  <Paragraphs>778</Paragraphs>
  <Slides>32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8" baseType="lpstr">
      <vt:lpstr>Apple SD Gothic Neo</vt:lpstr>
      <vt:lpstr>Malgun Gothic Semilight</vt:lpstr>
      <vt:lpstr>맑은 고딕</vt:lpstr>
      <vt:lpstr>Arial</vt:lpstr>
      <vt:lpstr>Segoe UI</vt:lpstr>
      <vt:lpstr>WelcomeDoc</vt:lpstr>
      <vt:lpstr>머신러닝을 활용한 다중회귀분석</vt:lpstr>
      <vt:lpstr>1. 탐색적 데이터 분석                   2. 다중회귀분석 모델링 순서                 3. 오차항에 관한 4가지 가정 검증</vt:lpstr>
      <vt:lpstr>1. 탐색적 데이터 분석                   2. 다중회귀분석 모델링 순서                 3. 오차항에 관한 4가지 가정 검증</vt:lpstr>
      <vt:lpstr>1.1. 탐색적 데이터 분석 (EDA : Exploratory data analysis)  – I  : 시각화(1)</vt:lpstr>
      <vt:lpstr>1.1. 탐색적 데이터 분석 (EDA : Exploratory data analysis)  – I  : 시각화(2)</vt:lpstr>
      <vt:lpstr>1.2. 탐색적 데이터 분석 (EDA : Exploratory data analysis)  – II  : 상관관계분석</vt:lpstr>
      <vt:lpstr>1.3. 탐색적 데이터 분석 (EDA : Exploratory data analysis)  – III  : Y종속변수분석</vt:lpstr>
      <vt:lpstr>1. 탐색적 데이터 분석                   2. 다중회귀분석 모델링 순서                 3. 오차항에 관한 4가지 가정 검증</vt:lpstr>
      <vt:lpstr>2.1. 다중회귀분석 : 후보모형간 비교 :  [절편항 포함_완전모형], [절편항 제거_완전모형] 비교 후   수정결정계수*(Adjusted R-squared)기준 모형설명력 높은 [절편항 제거된 완전모형] 채택</vt:lpstr>
      <vt:lpstr>2.1. 다중회귀분석 : 모형정확도 개선 : 수정모형2, 수정모형3 비교 모형설명력Adjusted R-squared = 91.22%로 더 높은 정확도 보유한 [수정모형3] 채택</vt:lpstr>
      <vt:lpstr>2.2. 다중회귀분석 : 다중공선성 확인</vt:lpstr>
      <vt:lpstr>PowerPoint 프레젠테이션</vt:lpstr>
      <vt:lpstr>PowerPoint 프레젠테이션</vt:lpstr>
      <vt:lpstr>PowerPoint 프레젠테이션</vt:lpstr>
      <vt:lpstr>PowerPoint 프레젠테이션</vt:lpstr>
      <vt:lpstr>2.6 이상치 여부 체크 : car::outlierTest(fit모형식)</vt:lpstr>
      <vt:lpstr>2.6 모형성능개선 :    이상치 제거 후 +2.08% 모형설명력 개선(다중공선성 문제없음)</vt:lpstr>
      <vt:lpstr>2.6 다중회귀분석 최종 예측 모형식 </vt:lpstr>
      <vt:lpstr>1. 탐색적 데이터 분석                   2. 다중회귀분석 모델링 순서                 3. 오차항에 관한 4가지 가정 검증</vt:lpstr>
      <vt:lpstr>다중회귀진단 : 오차항에 관한 4가지 가정 검증</vt:lpstr>
      <vt:lpstr>PowerPoint 프레젠테이션</vt:lpstr>
      <vt:lpstr>PowerPoint 프레젠테이션</vt:lpstr>
      <vt:lpstr>PowerPoint 프레젠테이션</vt:lpstr>
      <vt:lpstr>[최종결론]  다중회귀분석 최종 예측 모형식 </vt:lpstr>
      <vt:lpstr>1. 탐색적 데이터 분석                   2. 다중회귀분석 모델링 순서                 3. 오차항에 관한 4가지 가정 검증</vt:lpstr>
      <vt:lpstr>4. 최종다중회귀분석 예측모형 결과 : 실제값과 예측값 차이 비교 (1/2)   Alabama의 예시 : (1)[실제값(y_실제값)]  -  (2)[예측값(y_예측값)]  -  (3)[잔차값(오차예측값)]</vt:lpstr>
      <vt:lpstr>4. 최종다중회귀분석 예측모형 결과 : 실제값과 예측값 차이 비교 (2/2)   Alabama외 기타 : (1)[실제값(y_실제값)]  -  (2)[예측값(y_예측값)]  -  (3)[잔차값(오차예측값)]</vt:lpstr>
      <vt:lpstr>[별첨] 3개 변수선택기법*간 비교</vt:lpstr>
      <vt:lpstr>다중회귀분석 3개 변수선택기법*간 비교 : (1단계) 1차 모형식도출</vt:lpstr>
      <vt:lpstr>다중회귀분석 3개 변수선택기법*간 비교 : (2단계) 변수선택</vt:lpstr>
      <vt:lpstr>다중회귀분석 모델링 : (3단계) x변수간 다중공선성 해결</vt:lpstr>
      <vt:lpstr>다중회귀분석 모델링 : (4단계) y변수와의 상관관계 검증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시작</dc:title>
  <dc:creator>김 시현</dc:creator>
  <cp:keywords/>
  <cp:lastModifiedBy>김 시현</cp:lastModifiedBy>
  <cp:revision>106</cp:revision>
  <dcterms:created xsi:type="dcterms:W3CDTF">2021-09-23T12:49:05Z</dcterms:created>
  <dcterms:modified xsi:type="dcterms:W3CDTF">2021-10-16T04:10:31Z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